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7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393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72774-FCEF-950E-3FE6-710492DEE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D3B42-2B50-AE86-974D-90B77A6D4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F0B4D0-5FE3-BBC7-5781-02BDFBBDD0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07FC4E-C7CB-08B1-1859-507E5FAEEE2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37952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mailto:Messilawan2008@gmail.co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www.linkedin.com/in/mercy-lawan-mba-81a04827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Shape 1"/>
          <p:cNvSpPr/>
          <p:nvPr/>
        </p:nvSpPr>
        <p:spPr>
          <a:xfrm>
            <a:off x="8961120" y="-1097280"/>
            <a:ext cx="5029200" cy="5029200"/>
          </a:xfrm>
          <a:prstGeom prst="ellipse">
            <a:avLst/>
          </a:prstGeom>
          <a:solidFill>
            <a:srgbClr val="0D1830"/>
          </a:solidFill>
          <a:ln w="12700">
            <a:solidFill>
              <a:srgbClr val="0D1830"/>
            </a:solidFill>
            <a:prstDash val="solid"/>
          </a:ln>
        </p:spPr>
        <p:txBody>
          <a:bodyPr/>
          <a:lstStyle/>
          <a:p>
            <a:endParaRPr lang="en-US"/>
          </a:p>
        </p:txBody>
      </p:sp>
      <p:sp>
        <p:nvSpPr>
          <p:cNvPr id="4" name="Shape 2"/>
          <p:cNvSpPr/>
          <p:nvPr/>
        </p:nvSpPr>
        <p:spPr>
          <a:xfrm>
            <a:off x="9509760" y="-548640"/>
            <a:ext cx="3840480" cy="3840480"/>
          </a:xfrm>
          <a:prstGeom prst="ellipse">
            <a:avLst/>
          </a:prstGeom>
          <a:solidFill>
            <a:srgbClr val="0F1F3A"/>
          </a:solidFill>
          <a:ln w="12700">
            <a:solidFill>
              <a:srgbClr val="0F1F3A"/>
            </a:solidFill>
            <a:prstDash val="solid"/>
          </a:ln>
        </p:spPr>
        <p:txBody>
          <a:bodyPr/>
          <a:lstStyle/>
          <a:p>
            <a:endParaRPr lang="en-US"/>
          </a:p>
        </p:txBody>
      </p:sp>
      <p:sp>
        <p:nvSpPr>
          <p:cNvPr id="5" name="Shape 3"/>
          <p:cNvSpPr/>
          <p:nvPr/>
        </p:nvSpPr>
        <p:spPr>
          <a:xfrm>
            <a:off x="457200" y="1463040"/>
            <a:ext cx="3108960" cy="347472"/>
          </a:xfrm>
          <a:prstGeom prst="roundRect">
            <a:avLst>
              <a:gd name="adj" fmla="val 13158"/>
            </a:avLst>
          </a:prstGeom>
          <a:solidFill>
            <a:srgbClr val="0D2A3A"/>
          </a:solidFill>
          <a:ln w="10160">
            <a:solidFill>
              <a:srgbClr val="00C9FF"/>
            </a:solidFill>
            <a:prstDash val="solid"/>
          </a:ln>
        </p:spPr>
        <p:txBody>
          <a:bodyPr/>
          <a:lstStyle/>
          <a:p>
            <a:endParaRPr lang="en-US"/>
          </a:p>
        </p:txBody>
      </p:sp>
      <p:sp>
        <p:nvSpPr>
          <p:cNvPr id="6" name="Text 4"/>
          <p:cNvSpPr/>
          <p:nvPr/>
        </p:nvSpPr>
        <p:spPr>
          <a:xfrm>
            <a:off x="457200" y="1481328"/>
            <a:ext cx="3108960" cy="310896"/>
          </a:xfrm>
          <a:prstGeom prst="rect">
            <a:avLst/>
          </a:prstGeom>
          <a:noFill/>
          <a:ln/>
        </p:spPr>
        <p:txBody>
          <a:bodyPr wrap="square" rtlCol="0" anchor="ctr"/>
          <a:lstStyle/>
          <a:p>
            <a:pPr marL="0" indent="0" algn="ctr">
              <a:buNone/>
            </a:pPr>
            <a:r>
              <a:rPr lang="en-US" sz="750" b="1" dirty="0">
                <a:solidFill>
                  <a:srgbClr val="00C9FF"/>
                </a:solidFill>
                <a:latin typeface="Calibri" pitchFamily="34" charset="0"/>
                <a:ea typeface="Calibri" pitchFamily="34" charset="-122"/>
                <a:cs typeface="Calibri" pitchFamily="34" charset="-120"/>
              </a:rPr>
              <a:t>FRAUD DETECTION  ·  GRAPH NEURAL NETWORKS</a:t>
            </a:r>
            <a:endParaRPr lang="en-US" sz="750" dirty="0"/>
          </a:p>
        </p:txBody>
      </p:sp>
      <p:sp>
        <p:nvSpPr>
          <p:cNvPr id="7" name="Text 5"/>
          <p:cNvSpPr/>
          <p:nvPr/>
        </p:nvSpPr>
        <p:spPr>
          <a:xfrm>
            <a:off x="457200" y="1920240"/>
            <a:ext cx="82296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Bitcoin Transaction</a:t>
            </a:r>
            <a:endParaRPr lang="en-US" sz="4400" dirty="0"/>
          </a:p>
        </p:txBody>
      </p:sp>
      <p:sp>
        <p:nvSpPr>
          <p:cNvPr id="8" name="Text 6"/>
          <p:cNvSpPr/>
          <p:nvPr/>
        </p:nvSpPr>
        <p:spPr>
          <a:xfrm>
            <a:off x="457200" y="2697480"/>
            <a:ext cx="8229600" cy="822960"/>
          </a:xfrm>
          <a:prstGeom prst="rect">
            <a:avLst/>
          </a:prstGeom>
          <a:noFill/>
          <a:ln/>
        </p:spPr>
        <p:txBody>
          <a:bodyPr wrap="square" rtlCol="0" anchor="ctr"/>
          <a:lstStyle/>
          <a:p>
            <a:pPr marL="0" indent="0">
              <a:buNone/>
            </a:pPr>
            <a:r>
              <a:rPr lang="en-US" sz="4400" b="1" dirty="0">
                <a:solidFill>
                  <a:srgbClr val="00C9FF"/>
                </a:solidFill>
                <a:latin typeface="Calibri" pitchFamily="34" charset="0"/>
                <a:ea typeface="Calibri" pitchFamily="34" charset="-122"/>
                <a:cs typeface="Calibri" pitchFamily="34" charset="-120"/>
              </a:rPr>
              <a:t>Network Analysis</a:t>
            </a:r>
            <a:endParaRPr lang="en-US" sz="4400" dirty="0"/>
          </a:p>
        </p:txBody>
      </p:sp>
      <p:sp>
        <p:nvSpPr>
          <p:cNvPr id="9" name="Text 7"/>
          <p:cNvSpPr/>
          <p:nvPr/>
        </p:nvSpPr>
        <p:spPr>
          <a:xfrm>
            <a:off x="457200" y="3611880"/>
            <a:ext cx="8229600" cy="640080"/>
          </a:xfrm>
          <a:prstGeom prst="rect">
            <a:avLst/>
          </a:prstGeom>
          <a:noFill/>
          <a:ln/>
        </p:spPr>
        <p:txBody>
          <a:bodyPr wrap="square" rtlCol="0" anchor="ctr"/>
          <a:lstStyle/>
          <a:p>
            <a:pPr marL="0" indent="0">
              <a:buNone/>
            </a:pPr>
            <a:r>
              <a:rPr lang="en-US" sz="1400" dirty="0">
                <a:solidFill>
                  <a:srgbClr val="8B949E"/>
                </a:solidFill>
                <a:latin typeface="Calibri" pitchFamily="34" charset="0"/>
                <a:ea typeface="Calibri" pitchFamily="34" charset="-122"/>
                <a:cs typeface="Calibri" pitchFamily="34" charset="-120"/>
              </a:rPr>
              <a:t>Detecting Illicit Activity with GraphSAGE, Temporal Burst Analysis</a:t>
            </a:r>
            <a:endParaRPr lang="en-US" sz="1400" dirty="0"/>
          </a:p>
          <a:p>
            <a:pPr marL="0" indent="0">
              <a:buNone/>
            </a:pPr>
            <a:r>
              <a:rPr lang="en-US" sz="1400" dirty="0">
                <a:solidFill>
                  <a:srgbClr val="8B949E"/>
                </a:solidFill>
                <a:latin typeface="Calibri" pitchFamily="34" charset="0"/>
                <a:ea typeface="Calibri" pitchFamily="34" charset="-122"/>
                <a:cs typeface="Calibri" pitchFamily="34" charset="-120"/>
              </a:rPr>
              <a:t>and Graph-Aware Feature Engineering</a:t>
            </a:r>
            <a:endParaRPr lang="en-US" sz="1400" dirty="0"/>
          </a:p>
        </p:txBody>
      </p:sp>
      <p:sp>
        <p:nvSpPr>
          <p:cNvPr id="10" name="Shape 8"/>
          <p:cNvSpPr/>
          <p:nvPr/>
        </p:nvSpPr>
        <p:spPr>
          <a:xfrm>
            <a:off x="457200" y="4663440"/>
            <a:ext cx="256032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1" name="Text 9"/>
          <p:cNvSpPr/>
          <p:nvPr/>
        </p:nvSpPr>
        <p:spPr>
          <a:xfrm>
            <a:off x="457200" y="4773168"/>
            <a:ext cx="2560320" cy="640080"/>
          </a:xfrm>
          <a:prstGeom prst="rect">
            <a:avLst/>
          </a:prstGeom>
          <a:noFill/>
          <a:ln/>
        </p:spPr>
        <p:txBody>
          <a:bodyPr wrap="square" rtlCol="0" anchor="ctr"/>
          <a:lstStyle/>
          <a:p>
            <a:pPr marL="0" indent="0" algn="ctr">
              <a:buNone/>
            </a:pPr>
            <a:r>
              <a:rPr lang="en-US" sz="2400" b="1" dirty="0">
                <a:solidFill>
                  <a:srgbClr val="00C9FF"/>
                </a:solidFill>
                <a:latin typeface="Calibri" pitchFamily="34" charset="0"/>
                <a:ea typeface="Calibri" pitchFamily="34" charset="-122"/>
                <a:cs typeface="Calibri" pitchFamily="34" charset="-120"/>
              </a:rPr>
              <a:t>203,769</a:t>
            </a:r>
            <a:endParaRPr lang="en-US" sz="2400" dirty="0"/>
          </a:p>
        </p:txBody>
      </p:sp>
      <p:sp>
        <p:nvSpPr>
          <p:cNvPr id="12" name="Text 10"/>
          <p:cNvSpPr/>
          <p:nvPr/>
        </p:nvSpPr>
        <p:spPr>
          <a:xfrm>
            <a:off x="457200" y="5413248"/>
            <a:ext cx="2560320" cy="329184"/>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Wallets Analysed</a:t>
            </a:r>
            <a:endParaRPr lang="en-US" sz="1000" dirty="0"/>
          </a:p>
        </p:txBody>
      </p:sp>
      <p:sp>
        <p:nvSpPr>
          <p:cNvPr id="13" name="Shape 11"/>
          <p:cNvSpPr/>
          <p:nvPr/>
        </p:nvSpPr>
        <p:spPr>
          <a:xfrm>
            <a:off x="3246120" y="4663440"/>
            <a:ext cx="256032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4" name="Text 12"/>
          <p:cNvSpPr/>
          <p:nvPr/>
        </p:nvSpPr>
        <p:spPr>
          <a:xfrm>
            <a:off x="3246120" y="4773168"/>
            <a:ext cx="2560320" cy="640080"/>
          </a:xfrm>
          <a:prstGeom prst="rect">
            <a:avLst/>
          </a:prstGeom>
          <a:noFill/>
          <a:ln/>
        </p:spPr>
        <p:txBody>
          <a:bodyPr wrap="square" rtlCol="0" anchor="ctr"/>
          <a:lstStyle/>
          <a:p>
            <a:pPr marL="0" indent="0" algn="ctr">
              <a:buNone/>
            </a:pPr>
            <a:r>
              <a:rPr lang="en-US" sz="2400" b="1" dirty="0">
                <a:solidFill>
                  <a:srgbClr val="00C9FF"/>
                </a:solidFill>
                <a:latin typeface="Calibri" pitchFamily="34" charset="0"/>
                <a:ea typeface="Calibri" pitchFamily="34" charset="-122"/>
                <a:cs typeface="Calibri" pitchFamily="34" charset="-120"/>
              </a:rPr>
              <a:t>234,355</a:t>
            </a:r>
            <a:endParaRPr lang="en-US" sz="2400" dirty="0"/>
          </a:p>
        </p:txBody>
      </p:sp>
      <p:sp>
        <p:nvSpPr>
          <p:cNvPr id="15" name="Text 13"/>
          <p:cNvSpPr/>
          <p:nvPr/>
        </p:nvSpPr>
        <p:spPr>
          <a:xfrm>
            <a:off x="3246120" y="5413248"/>
            <a:ext cx="2560320" cy="329184"/>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Payment Flows</a:t>
            </a:r>
            <a:endParaRPr lang="en-US" sz="1000" dirty="0"/>
          </a:p>
        </p:txBody>
      </p:sp>
      <p:sp>
        <p:nvSpPr>
          <p:cNvPr id="16" name="Shape 14"/>
          <p:cNvSpPr/>
          <p:nvPr/>
        </p:nvSpPr>
        <p:spPr>
          <a:xfrm>
            <a:off x="6035040" y="4663440"/>
            <a:ext cx="256032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7" name="Text 15"/>
          <p:cNvSpPr/>
          <p:nvPr/>
        </p:nvSpPr>
        <p:spPr>
          <a:xfrm>
            <a:off x="6035040" y="4773168"/>
            <a:ext cx="2560320" cy="640080"/>
          </a:xfrm>
          <a:prstGeom prst="rect">
            <a:avLst/>
          </a:prstGeom>
          <a:noFill/>
          <a:ln/>
        </p:spPr>
        <p:txBody>
          <a:bodyPr wrap="square" rtlCol="0" anchor="ctr"/>
          <a:lstStyle/>
          <a:p>
            <a:pPr marL="0" indent="0" algn="ctr">
              <a:buNone/>
            </a:pPr>
            <a:r>
              <a:rPr lang="en-US" sz="2400" b="1" dirty="0">
                <a:solidFill>
                  <a:srgbClr val="FF4444"/>
                </a:solidFill>
                <a:latin typeface="Calibri" pitchFamily="34" charset="0"/>
                <a:ea typeface="Calibri" pitchFamily="34" charset="-122"/>
                <a:cs typeface="Calibri" pitchFamily="34" charset="-120"/>
              </a:rPr>
              <a:t>1,971%</a:t>
            </a:r>
            <a:endParaRPr lang="en-US" sz="2400" dirty="0"/>
          </a:p>
        </p:txBody>
      </p:sp>
      <p:sp>
        <p:nvSpPr>
          <p:cNvPr id="18" name="Text 16"/>
          <p:cNvSpPr/>
          <p:nvPr/>
        </p:nvSpPr>
        <p:spPr>
          <a:xfrm>
            <a:off x="6035040" y="5413248"/>
            <a:ext cx="2560320" cy="329184"/>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Detection Increase</a:t>
            </a:r>
            <a:endParaRPr lang="en-US" sz="1000" dirty="0"/>
          </a:p>
        </p:txBody>
      </p:sp>
      <p:sp>
        <p:nvSpPr>
          <p:cNvPr id="19" name="Shape 17"/>
          <p:cNvSpPr/>
          <p:nvPr/>
        </p:nvSpPr>
        <p:spPr>
          <a:xfrm>
            <a:off x="8823960" y="4663440"/>
            <a:ext cx="256032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20" name="Text 18"/>
          <p:cNvSpPr/>
          <p:nvPr/>
        </p:nvSpPr>
        <p:spPr>
          <a:xfrm>
            <a:off x="8823960" y="4773168"/>
            <a:ext cx="2560320" cy="640080"/>
          </a:xfrm>
          <a:prstGeom prst="rect">
            <a:avLst/>
          </a:prstGeom>
          <a:noFill/>
          <a:ln/>
        </p:spPr>
        <p:txBody>
          <a:bodyPr wrap="square" rtlCol="0" anchor="ctr"/>
          <a:lstStyle/>
          <a:p>
            <a:pPr marL="0" indent="0" algn="ctr">
              <a:buNone/>
            </a:pPr>
            <a:r>
              <a:rPr lang="en-US" sz="2400" b="1" dirty="0">
                <a:solidFill>
                  <a:srgbClr val="00C9A7"/>
                </a:solidFill>
                <a:latin typeface="Calibri" pitchFamily="34" charset="0"/>
                <a:ea typeface="Calibri" pitchFamily="34" charset="-122"/>
                <a:cs typeface="Calibri" pitchFamily="34" charset="-120"/>
              </a:rPr>
              <a:t>0.957</a:t>
            </a:r>
            <a:endParaRPr lang="en-US" sz="2400" dirty="0"/>
          </a:p>
        </p:txBody>
      </p:sp>
      <p:sp>
        <p:nvSpPr>
          <p:cNvPr id="21" name="Text 19"/>
          <p:cNvSpPr/>
          <p:nvPr/>
        </p:nvSpPr>
        <p:spPr>
          <a:xfrm>
            <a:off x="8823960" y="5413248"/>
            <a:ext cx="2560320" cy="329184"/>
          </a:xfrm>
          <a:prstGeom prst="rect">
            <a:avLst/>
          </a:prstGeom>
          <a:noFill/>
          <a:ln/>
        </p:spPr>
        <p:txBody>
          <a:bodyPr wrap="square"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AUC-ROC Score</a:t>
            </a:r>
            <a:endParaRPr lang="en-US" sz="1000" dirty="0"/>
          </a:p>
        </p:txBody>
      </p:sp>
      <p:sp>
        <p:nvSpPr>
          <p:cNvPr id="22" name="Text 20"/>
          <p:cNvSpPr/>
          <p:nvPr/>
        </p:nvSpPr>
        <p:spPr>
          <a:xfrm>
            <a:off x="457200" y="6035040"/>
            <a:ext cx="5486400" cy="274320"/>
          </a:xfrm>
          <a:prstGeom prst="rect">
            <a:avLst/>
          </a:prstGeom>
          <a:noFill/>
          <a:ln/>
        </p:spPr>
        <p:txBody>
          <a:bodyPr wrap="square" rtlCol="0" anchor="ctr"/>
          <a:lstStyle/>
          <a:p>
            <a:pPr marL="0" indent="0">
              <a:buNone/>
            </a:pPr>
            <a:r>
              <a:rPr lang="en-US" sz="1100" dirty="0">
                <a:solidFill>
                  <a:srgbClr val="8B949E"/>
                </a:solidFill>
                <a:latin typeface="Calibri" pitchFamily="34" charset="0"/>
                <a:ea typeface="Calibri" pitchFamily="34" charset="-122"/>
                <a:cs typeface="Calibri" pitchFamily="34" charset="-120"/>
              </a:rPr>
              <a:t>Opeyemi Mercy Lawan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Project Overview</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5623560" cy="2377440"/>
          </a:xfrm>
          <a:prstGeom prst="roundRect">
            <a:avLst>
              <a:gd name="adj" fmla="val 3077"/>
            </a:avLst>
          </a:prstGeom>
          <a:solidFill>
            <a:srgbClr val="1A2235"/>
          </a:solidFill>
          <a:ln w="6350">
            <a:solidFill>
              <a:srgbClr val="1E293B"/>
            </a:solidFill>
            <a:prstDash val="solid"/>
          </a:ln>
        </p:spPr>
        <p:txBody>
          <a:bodyPr/>
          <a:lstStyle/>
          <a:p>
            <a:endParaRPr lang="en-US"/>
          </a:p>
        </p:txBody>
      </p:sp>
      <p:sp>
        <p:nvSpPr>
          <p:cNvPr id="7" name="Shape 5"/>
          <p:cNvSpPr/>
          <p:nvPr/>
        </p:nvSpPr>
        <p:spPr>
          <a:xfrm>
            <a:off x="658368" y="1124712"/>
            <a:ext cx="502920" cy="502920"/>
          </a:xfrm>
          <a:prstGeom prst="ellipse">
            <a:avLst/>
          </a:prstGeom>
          <a:solidFill>
            <a:srgbClr val="FF4444"/>
          </a:solidFill>
          <a:ln w="12700">
            <a:solidFill>
              <a:srgbClr val="FF4444"/>
            </a:solidFill>
            <a:prstDash val="solid"/>
          </a:ln>
        </p:spPr>
        <p:txBody>
          <a:bodyPr/>
          <a:lstStyle/>
          <a:p>
            <a:endParaRPr lang="en-US"/>
          </a:p>
        </p:txBody>
      </p:sp>
      <p:sp>
        <p:nvSpPr>
          <p:cNvPr id="8" name="Text 6"/>
          <p:cNvSpPr/>
          <p:nvPr/>
        </p:nvSpPr>
        <p:spPr>
          <a:xfrm>
            <a:off x="658368" y="1124712"/>
            <a:ext cx="502920" cy="50292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280160" y="1143000"/>
            <a:ext cx="4572000" cy="411480"/>
          </a:xfrm>
          <a:prstGeom prst="rect">
            <a:avLst/>
          </a:prstGeom>
          <a:noFill/>
          <a:ln/>
        </p:spPr>
        <p:txBody>
          <a:bodyPr wrap="square" rtlCol="0" anchor="ctr"/>
          <a:lstStyle/>
          <a:p>
            <a:pPr marL="0" indent="0">
              <a:buNone/>
            </a:pPr>
            <a:r>
              <a:rPr lang="en-US" sz="1400" b="1" dirty="0">
                <a:solidFill>
                  <a:srgbClr val="FF4444"/>
                </a:solidFill>
                <a:latin typeface="Calibri" pitchFamily="34" charset="0"/>
                <a:ea typeface="Calibri" pitchFamily="34" charset="-122"/>
                <a:cs typeface="Calibri" pitchFamily="34" charset="-120"/>
              </a:rPr>
              <a:t>The Problem</a:t>
            </a:r>
            <a:endParaRPr lang="en-US" sz="1400" dirty="0"/>
          </a:p>
        </p:txBody>
      </p:sp>
      <p:sp>
        <p:nvSpPr>
          <p:cNvPr id="10" name="Text 8"/>
          <p:cNvSpPr/>
          <p:nvPr/>
        </p:nvSpPr>
        <p:spPr>
          <a:xfrm>
            <a:off x="658368" y="1673352"/>
            <a:ext cx="5212080" cy="150876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Bitcoin fraud is hard to detect, 77% of wallets in the most widely-used research dataset carry no fraud label. Classical ML ignores graph structure entirely, missing the most powerful fraud signals.</a:t>
            </a:r>
            <a:endParaRPr lang="en-US" sz="1150" dirty="0"/>
          </a:p>
        </p:txBody>
      </p:sp>
      <p:sp>
        <p:nvSpPr>
          <p:cNvPr id="11" name="Shape 9"/>
          <p:cNvSpPr/>
          <p:nvPr/>
        </p:nvSpPr>
        <p:spPr>
          <a:xfrm>
            <a:off x="6355080" y="960120"/>
            <a:ext cx="5623560" cy="2377440"/>
          </a:xfrm>
          <a:prstGeom prst="roundRect">
            <a:avLst>
              <a:gd name="adj" fmla="val 3077"/>
            </a:avLst>
          </a:prstGeom>
          <a:solidFill>
            <a:srgbClr val="1A2235"/>
          </a:solidFill>
          <a:ln w="6350">
            <a:solidFill>
              <a:srgbClr val="1E293B"/>
            </a:solidFill>
            <a:prstDash val="solid"/>
          </a:ln>
        </p:spPr>
        <p:txBody>
          <a:bodyPr/>
          <a:lstStyle/>
          <a:p>
            <a:endParaRPr lang="en-US"/>
          </a:p>
        </p:txBody>
      </p:sp>
      <p:sp>
        <p:nvSpPr>
          <p:cNvPr id="12" name="Shape 10"/>
          <p:cNvSpPr/>
          <p:nvPr/>
        </p:nvSpPr>
        <p:spPr>
          <a:xfrm>
            <a:off x="6556248" y="1124712"/>
            <a:ext cx="502920" cy="502920"/>
          </a:xfrm>
          <a:prstGeom prst="ellipse">
            <a:avLst/>
          </a:prstGeom>
          <a:solidFill>
            <a:srgbClr val="00C9FF"/>
          </a:solidFill>
          <a:ln w="12700">
            <a:solidFill>
              <a:srgbClr val="00C9FF"/>
            </a:solidFill>
            <a:prstDash val="solid"/>
          </a:ln>
        </p:spPr>
        <p:txBody>
          <a:bodyPr/>
          <a:lstStyle/>
          <a:p>
            <a:endParaRPr lang="en-US"/>
          </a:p>
        </p:txBody>
      </p:sp>
      <p:sp>
        <p:nvSpPr>
          <p:cNvPr id="13" name="Text 11"/>
          <p:cNvSpPr/>
          <p:nvPr/>
        </p:nvSpPr>
        <p:spPr>
          <a:xfrm>
            <a:off x="6556248" y="1124712"/>
            <a:ext cx="502920" cy="50292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7178040" y="1143000"/>
            <a:ext cx="4572000" cy="411480"/>
          </a:xfrm>
          <a:prstGeom prst="rect">
            <a:avLst/>
          </a:prstGeom>
          <a:noFill/>
          <a:ln/>
        </p:spPr>
        <p:txBody>
          <a:bodyPr wrap="square" rtlCol="0" anchor="ctr"/>
          <a:lstStyle/>
          <a:p>
            <a:pPr marL="0" indent="0">
              <a:buNone/>
            </a:pPr>
            <a:r>
              <a:rPr lang="en-US" sz="1400" b="1" dirty="0">
                <a:solidFill>
                  <a:srgbClr val="00C9FF"/>
                </a:solidFill>
                <a:latin typeface="Calibri" pitchFamily="34" charset="0"/>
                <a:ea typeface="Calibri" pitchFamily="34" charset="-122"/>
                <a:cs typeface="Calibri" pitchFamily="34" charset="-120"/>
              </a:rPr>
              <a:t>The Dataset</a:t>
            </a:r>
            <a:endParaRPr lang="en-US" sz="1400" dirty="0"/>
          </a:p>
        </p:txBody>
      </p:sp>
      <p:sp>
        <p:nvSpPr>
          <p:cNvPr id="15" name="Text 13"/>
          <p:cNvSpPr/>
          <p:nvPr/>
        </p:nvSpPr>
        <p:spPr>
          <a:xfrm>
            <a:off x="6556248" y="1673352"/>
            <a:ext cx="5212080" cy="150876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Elliptic Bitcoin Dataset: 203,769 transaction nodes, 234,355 directed payment edges, 49-time steps (2013–2014). One of the few public fraud graph datasets with ground-truth labels.</a:t>
            </a:r>
            <a:endParaRPr lang="en-US" sz="1150" dirty="0"/>
          </a:p>
        </p:txBody>
      </p:sp>
      <p:sp>
        <p:nvSpPr>
          <p:cNvPr id="16" name="Shape 14"/>
          <p:cNvSpPr/>
          <p:nvPr/>
        </p:nvSpPr>
        <p:spPr>
          <a:xfrm>
            <a:off x="457200" y="3566160"/>
            <a:ext cx="5623560" cy="2377440"/>
          </a:xfrm>
          <a:prstGeom prst="roundRect">
            <a:avLst>
              <a:gd name="adj" fmla="val 3077"/>
            </a:avLst>
          </a:prstGeom>
          <a:solidFill>
            <a:srgbClr val="1A2235"/>
          </a:solidFill>
          <a:ln w="6350">
            <a:solidFill>
              <a:srgbClr val="1E293B"/>
            </a:solidFill>
            <a:prstDash val="solid"/>
          </a:ln>
        </p:spPr>
        <p:txBody>
          <a:bodyPr/>
          <a:lstStyle/>
          <a:p>
            <a:endParaRPr lang="en-US"/>
          </a:p>
        </p:txBody>
      </p:sp>
      <p:sp>
        <p:nvSpPr>
          <p:cNvPr id="17" name="Shape 15"/>
          <p:cNvSpPr/>
          <p:nvPr/>
        </p:nvSpPr>
        <p:spPr>
          <a:xfrm>
            <a:off x="658368" y="3730752"/>
            <a:ext cx="502920" cy="502920"/>
          </a:xfrm>
          <a:prstGeom prst="ellipse">
            <a:avLst/>
          </a:prstGeom>
          <a:solidFill>
            <a:srgbClr val="FFD700"/>
          </a:solidFill>
          <a:ln w="12700">
            <a:solidFill>
              <a:srgbClr val="FFD700"/>
            </a:solidFill>
            <a:prstDash val="solid"/>
          </a:ln>
        </p:spPr>
        <p:txBody>
          <a:bodyPr/>
          <a:lstStyle/>
          <a:p>
            <a:endParaRPr lang="en-US"/>
          </a:p>
        </p:txBody>
      </p:sp>
      <p:sp>
        <p:nvSpPr>
          <p:cNvPr id="18" name="Text 16"/>
          <p:cNvSpPr/>
          <p:nvPr/>
        </p:nvSpPr>
        <p:spPr>
          <a:xfrm>
            <a:off x="658368" y="3730752"/>
            <a:ext cx="502920" cy="50292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1280160" y="3749040"/>
            <a:ext cx="4572000" cy="411480"/>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The Approach</a:t>
            </a:r>
            <a:endParaRPr lang="en-US" sz="1400" dirty="0"/>
          </a:p>
        </p:txBody>
      </p:sp>
      <p:sp>
        <p:nvSpPr>
          <p:cNvPr id="20" name="Text 18"/>
          <p:cNvSpPr/>
          <p:nvPr/>
        </p:nvSpPr>
        <p:spPr>
          <a:xfrm>
            <a:off x="658368" y="4279392"/>
            <a:ext cx="5212080" cy="1508760"/>
          </a:xfrm>
          <a:prstGeom prst="rect">
            <a:avLst/>
          </a:prstGeom>
          <a:noFill/>
          <a:ln/>
        </p:spPr>
        <p:txBody>
          <a:bodyPr wrap="square" rtlCol="0" anchor="t"/>
          <a:lstStyle/>
          <a:p>
            <a:pPr marL="0" indent="0">
              <a:buNone/>
            </a:pPr>
            <a:r>
              <a:rPr lang="en-US" sz="1150" dirty="0" err="1">
                <a:solidFill>
                  <a:srgbClr val="FFFFFF"/>
                </a:solidFill>
                <a:latin typeface="Calibri" pitchFamily="34" charset="0"/>
                <a:ea typeface="Calibri" pitchFamily="34" charset="-122"/>
                <a:cs typeface="Calibri" pitchFamily="34" charset="-120"/>
              </a:rPr>
              <a:t>GraphSAGE</a:t>
            </a:r>
            <a:r>
              <a:rPr lang="en-US" sz="1150" dirty="0">
                <a:solidFill>
                  <a:srgbClr val="FFFFFF"/>
                </a:solidFill>
                <a:latin typeface="Calibri" pitchFamily="34" charset="0"/>
                <a:ea typeface="Calibri" pitchFamily="34" charset="-122"/>
                <a:cs typeface="Calibri" pitchFamily="34" charset="-120"/>
              </a:rPr>
              <a:t>: an inductive Graph Neural Network trained on labelled nodes and applied to all 157,205 unlabelled wallets. Augmented with 16 hand-engineered graph features across three families.</a:t>
            </a:r>
            <a:endParaRPr lang="en-US" sz="1150" dirty="0"/>
          </a:p>
        </p:txBody>
      </p:sp>
      <p:sp>
        <p:nvSpPr>
          <p:cNvPr id="21" name="Shape 19"/>
          <p:cNvSpPr/>
          <p:nvPr/>
        </p:nvSpPr>
        <p:spPr>
          <a:xfrm>
            <a:off x="6355080" y="3566160"/>
            <a:ext cx="5623560" cy="2377440"/>
          </a:xfrm>
          <a:prstGeom prst="roundRect">
            <a:avLst>
              <a:gd name="adj" fmla="val 3077"/>
            </a:avLst>
          </a:prstGeom>
          <a:solidFill>
            <a:srgbClr val="1A2235"/>
          </a:solidFill>
          <a:ln w="6350">
            <a:solidFill>
              <a:srgbClr val="1E293B"/>
            </a:solidFill>
            <a:prstDash val="solid"/>
          </a:ln>
        </p:spPr>
        <p:txBody>
          <a:bodyPr/>
          <a:lstStyle/>
          <a:p>
            <a:endParaRPr lang="en-US"/>
          </a:p>
        </p:txBody>
      </p:sp>
      <p:sp>
        <p:nvSpPr>
          <p:cNvPr id="22" name="Shape 20"/>
          <p:cNvSpPr/>
          <p:nvPr/>
        </p:nvSpPr>
        <p:spPr>
          <a:xfrm>
            <a:off x="6556248" y="3730752"/>
            <a:ext cx="502920" cy="502920"/>
          </a:xfrm>
          <a:prstGeom prst="ellipse">
            <a:avLst/>
          </a:prstGeom>
          <a:solidFill>
            <a:srgbClr val="00C9A7"/>
          </a:solidFill>
          <a:ln w="12700">
            <a:solidFill>
              <a:srgbClr val="00C9A7"/>
            </a:solidFill>
            <a:prstDash val="solid"/>
          </a:ln>
        </p:spPr>
        <p:txBody>
          <a:bodyPr/>
          <a:lstStyle/>
          <a:p>
            <a:endParaRPr lang="en-US"/>
          </a:p>
        </p:txBody>
      </p:sp>
      <p:sp>
        <p:nvSpPr>
          <p:cNvPr id="23" name="Text 21"/>
          <p:cNvSpPr/>
          <p:nvPr/>
        </p:nvSpPr>
        <p:spPr>
          <a:xfrm>
            <a:off x="6556248" y="3730752"/>
            <a:ext cx="502920" cy="502920"/>
          </a:xfrm>
          <a:prstGeom prst="rect">
            <a:avLst/>
          </a:prstGeom>
          <a:noFill/>
          <a:ln/>
        </p:spPr>
        <p:txBody>
          <a:bodyPr wrap="square" rtlCol="0" anchor="ctr"/>
          <a:lstStyle/>
          <a:p>
            <a:pPr marL="0" indent="0" algn="ctr">
              <a:buNone/>
            </a:pPr>
            <a:r>
              <a:rPr lang="en-US" sz="1300" b="1" dirty="0">
                <a:solidFill>
                  <a:srgbClr val="0A0E1A"/>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7178040" y="3749040"/>
            <a:ext cx="4572000" cy="411480"/>
          </a:xfrm>
          <a:prstGeom prst="rect">
            <a:avLst/>
          </a:prstGeom>
          <a:noFill/>
          <a:ln/>
        </p:spPr>
        <p:txBody>
          <a:bodyPr wrap="square" rtlCol="0" anchor="ctr"/>
          <a:lstStyle/>
          <a:p>
            <a:pPr marL="0" indent="0">
              <a:buNone/>
            </a:pPr>
            <a:r>
              <a:rPr lang="en-US" sz="1400" b="1" dirty="0">
                <a:solidFill>
                  <a:srgbClr val="00C9A7"/>
                </a:solidFill>
                <a:latin typeface="Calibri" pitchFamily="34" charset="0"/>
                <a:ea typeface="Calibri" pitchFamily="34" charset="-122"/>
                <a:cs typeface="Calibri" pitchFamily="34" charset="-120"/>
              </a:rPr>
              <a:t>The Outcome</a:t>
            </a:r>
            <a:endParaRPr lang="en-US" sz="1400" dirty="0"/>
          </a:p>
        </p:txBody>
      </p:sp>
      <p:sp>
        <p:nvSpPr>
          <p:cNvPr id="25" name="Text 23"/>
          <p:cNvSpPr/>
          <p:nvPr/>
        </p:nvSpPr>
        <p:spPr>
          <a:xfrm>
            <a:off x="6556248" y="4279392"/>
            <a:ext cx="5212080" cy="150876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88,234 previously-unknown high-risk wallets identified. 1,971% increase in detectable suspicious activity. Temporal burst and propagation analysis as original research contributions.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Dataset — Elliptic Bitcoin Network</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2025</a:t>
            </a:r>
            <a:endParaRPr lang="en-US" sz="800" dirty="0"/>
          </a:p>
        </p:txBody>
      </p:sp>
      <p:sp>
        <p:nvSpPr>
          <p:cNvPr id="6" name="Shape 4"/>
          <p:cNvSpPr/>
          <p:nvPr/>
        </p:nvSpPr>
        <p:spPr>
          <a:xfrm>
            <a:off x="457200" y="960120"/>
            <a:ext cx="5303520" cy="5120640"/>
          </a:xfrm>
          <a:prstGeom prst="roundRect">
            <a:avLst>
              <a:gd name="adj" fmla="val 1429"/>
            </a:avLst>
          </a:prstGeom>
          <a:solidFill>
            <a:srgbClr val="1A2235"/>
          </a:solidFill>
          <a:ln w="6350">
            <a:solidFill>
              <a:srgbClr val="1E293B"/>
            </a:solidFill>
            <a:prstDash val="solid"/>
          </a:ln>
        </p:spPr>
        <p:txBody>
          <a:bodyPr/>
          <a:lstStyle/>
          <a:p>
            <a:endParaRPr lang="en-US"/>
          </a:p>
        </p:txBody>
      </p:sp>
      <p:sp>
        <p:nvSpPr>
          <p:cNvPr id="7" name="Text 5"/>
          <p:cNvSpPr/>
          <p:nvPr/>
        </p:nvSpPr>
        <p:spPr>
          <a:xfrm>
            <a:off x="640080" y="1051560"/>
            <a:ext cx="4937760" cy="365760"/>
          </a:xfrm>
          <a:prstGeom prst="rect">
            <a:avLst/>
          </a:prstGeom>
          <a:noFill/>
          <a:ln/>
        </p:spPr>
        <p:txBody>
          <a:bodyPr wrap="square" rtlCol="0" anchor="ctr"/>
          <a:lstStyle/>
          <a:p>
            <a:pPr marL="0" indent="0">
              <a:buNone/>
            </a:pPr>
            <a:r>
              <a:rPr lang="en-US" sz="1500" b="1" dirty="0">
                <a:solidFill>
                  <a:srgbClr val="00C9FF"/>
                </a:solidFill>
                <a:latin typeface="Calibri" pitchFamily="34" charset="0"/>
                <a:ea typeface="Calibri" pitchFamily="34" charset="-122"/>
                <a:cs typeface="Calibri" pitchFamily="34" charset="-120"/>
              </a:rPr>
              <a:t>Dataset Facts</a:t>
            </a:r>
            <a:endParaRPr lang="en-US" sz="1500" dirty="0"/>
          </a:p>
        </p:txBody>
      </p:sp>
      <p:sp>
        <p:nvSpPr>
          <p:cNvPr id="8" name="Shape 6"/>
          <p:cNvSpPr/>
          <p:nvPr/>
        </p:nvSpPr>
        <p:spPr>
          <a:xfrm>
            <a:off x="640080" y="1536192"/>
            <a:ext cx="4937760" cy="530352"/>
          </a:xfrm>
          <a:prstGeom prst="rect">
            <a:avLst/>
          </a:prstGeom>
          <a:solidFill>
            <a:srgbClr val="141E30"/>
          </a:solidFill>
          <a:ln w="3810">
            <a:solidFill>
              <a:srgbClr val="1E293B"/>
            </a:solidFill>
            <a:prstDash val="solid"/>
          </a:ln>
        </p:spPr>
        <p:txBody>
          <a:bodyPr/>
          <a:lstStyle/>
          <a:p>
            <a:endParaRPr lang="en-US"/>
          </a:p>
        </p:txBody>
      </p:sp>
      <p:sp>
        <p:nvSpPr>
          <p:cNvPr id="9" name="Text 7"/>
          <p:cNvSpPr/>
          <p:nvPr/>
        </p:nvSpPr>
        <p:spPr>
          <a:xfrm>
            <a:off x="685800" y="1609344"/>
            <a:ext cx="1371600" cy="384048"/>
          </a:xfrm>
          <a:prstGeom prst="rect">
            <a:avLst/>
          </a:prstGeom>
          <a:noFill/>
          <a:ln/>
        </p:spPr>
        <p:txBody>
          <a:bodyPr wrap="square" rtlCol="0" anchor="ctr"/>
          <a:lstStyle/>
          <a:p>
            <a:pPr marL="0" indent="0" algn="r">
              <a:buNone/>
            </a:pPr>
            <a:r>
              <a:rPr lang="en-US" sz="1500" b="1" dirty="0">
                <a:solidFill>
                  <a:srgbClr val="00C9FF"/>
                </a:solidFill>
                <a:latin typeface="Calibri" pitchFamily="34" charset="0"/>
                <a:ea typeface="Calibri" pitchFamily="34" charset="-122"/>
                <a:cs typeface="Calibri" pitchFamily="34" charset="-120"/>
              </a:rPr>
              <a:t>203,769</a:t>
            </a:r>
            <a:endParaRPr lang="en-US" sz="1500" dirty="0"/>
          </a:p>
        </p:txBody>
      </p:sp>
      <p:sp>
        <p:nvSpPr>
          <p:cNvPr id="10" name="Text 8"/>
          <p:cNvSpPr/>
          <p:nvPr/>
        </p:nvSpPr>
        <p:spPr>
          <a:xfrm>
            <a:off x="2148840" y="1627632"/>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Bitcoin transaction nodes</a:t>
            </a:r>
            <a:endParaRPr lang="en-US" sz="1100" dirty="0"/>
          </a:p>
        </p:txBody>
      </p:sp>
      <p:sp>
        <p:nvSpPr>
          <p:cNvPr id="11" name="Shape 9"/>
          <p:cNvSpPr/>
          <p:nvPr/>
        </p:nvSpPr>
        <p:spPr>
          <a:xfrm>
            <a:off x="640080" y="2157984"/>
            <a:ext cx="4937760" cy="530352"/>
          </a:xfrm>
          <a:prstGeom prst="rect">
            <a:avLst/>
          </a:prstGeom>
          <a:solidFill>
            <a:srgbClr val="0F1825"/>
          </a:solidFill>
          <a:ln w="3810">
            <a:solidFill>
              <a:srgbClr val="1E293B"/>
            </a:solidFill>
            <a:prstDash val="solid"/>
          </a:ln>
        </p:spPr>
        <p:txBody>
          <a:bodyPr/>
          <a:lstStyle/>
          <a:p>
            <a:endParaRPr lang="en-US"/>
          </a:p>
        </p:txBody>
      </p:sp>
      <p:sp>
        <p:nvSpPr>
          <p:cNvPr id="12" name="Text 10"/>
          <p:cNvSpPr/>
          <p:nvPr/>
        </p:nvSpPr>
        <p:spPr>
          <a:xfrm>
            <a:off x="685800" y="2231136"/>
            <a:ext cx="1371600" cy="384048"/>
          </a:xfrm>
          <a:prstGeom prst="rect">
            <a:avLst/>
          </a:prstGeom>
          <a:noFill/>
          <a:ln/>
        </p:spPr>
        <p:txBody>
          <a:bodyPr wrap="square" rtlCol="0" anchor="ctr"/>
          <a:lstStyle/>
          <a:p>
            <a:pPr marL="0" indent="0" algn="r">
              <a:buNone/>
            </a:pPr>
            <a:r>
              <a:rPr lang="en-US" sz="1500" b="1" dirty="0">
                <a:solidFill>
                  <a:srgbClr val="00C9FF"/>
                </a:solidFill>
                <a:latin typeface="Calibri" pitchFamily="34" charset="0"/>
                <a:ea typeface="Calibri" pitchFamily="34" charset="-122"/>
                <a:cs typeface="Calibri" pitchFamily="34" charset="-120"/>
              </a:rPr>
              <a:t>234,355</a:t>
            </a:r>
            <a:endParaRPr lang="en-US" sz="1500" dirty="0"/>
          </a:p>
        </p:txBody>
      </p:sp>
      <p:sp>
        <p:nvSpPr>
          <p:cNvPr id="13" name="Text 11"/>
          <p:cNvSpPr/>
          <p:nvPr/>
        </p:nvSpPr>
        <p:spPr>
          <a:xfrm>
            <a:off x="2148840" y="2249424"/>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Directed payment flows</a:t>
            </a:r>
            <a:endParaRPr lang="en-US" sz="1100" dirty="0"/>
          </a:p>
        </p:txBody>
      </p:sp>
      <p:sp>
        <p:nvSpPr>
          <p:cNvPr id="14" name="Shape 12"/>
          <p:cNvSpPr/>
          <p:nvPr/>
        </p:nvSpPr>
        <p:spPr>
          <a:xfrm>
            <a:off x="640080" y="2779776"/>
            <a:ext cx="4937760" cy="530352"/>
          </a:xfrm>
          <a:prstGeom prst="rect">
            <a:avLst/>
          </a:prstGeom>
          <a:solidFill>
            <a:srgbClr val="141E30"/>
          </a:solidFill>
          <a:ln w="3810">
            <a:solidFill>
              <a:srgbClr val="1E293B"/>
            </a:solidFill>
            <a:prstDash val="solid"/>
          </a:ln>
        </p:spPr>
        <p:txBody>
          <a:bodyPr/>
          <a:lstStyle/>
          <a:p>
            <a:endParaRPr lang="en-US"/>
          </a:p>
        </p:txBody>
      </p:sp>
      <p:sp>
        <p:nvSpPr>
          <p:cNvPr id="15" name="Text 13"/>
          <p:cNvSpPr/>
          <p:nvPr/>
        </p:nvSpPr>
        <p:spPr>
          <a:xfrm>
            <a:off x="685800" y="2852928"/>
            <a:ext cx="1371600" cy="384048"/>
          </a:xfrm>
          <a:prstGeom prst="rect">
            <a:avLst/>
          </a:prstGeom>
          <a:noFill/>
          <a:ln/>
        </p:spPr>
        <p:txBody>
          <a:bodyPr wrap="square" rtlCol="0" anchor="ctr"/>
          <a:lstStyle/>
          <a:p>
            <a:pPr marL="0" indent="0" algn="r">
              <a:buNone/>
            </a:pPr>
            <a:r>
              <a:rPr lang="en-US" sz="1500" b="1" dirty="0">
                <a:solidFill>
                  <a:srgbClr val="00C9FF"/>
                </a:solidFill>
                <a:latin typeface="Calibri" pitchFamily="34" charset="0"/>
                <a:ea typeface="Calibri" pitchFamily="34" charset="-122"/>
                <a:cs typeface="Calibri" pitchFamily="34" charset="-120"/>
              </a:rPr>
              <a:t>49</a:t>
            </a:r>
            <a:endParaRPr lang="en-US" sz="1500" dirty="0"/>
          </a:p>
        </p:txBody>
      </p:sp>
      <p:sp>
        <p:nvSpPr>
          <p:cNvPr id="16" name="Text 14"/>
          <p:cNvSpPr/>
          <p:nvPr/>
        </p:nvSpPr>
        <p:spPr>
          <a:xfrm>
            <a:off x="2148840" y="2871216"/>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 steps (2-week periods 2013–2014)</a:t>
            </a:r>
            <a:endParaRPr lang="en-US" sz="1100" dirty="0"/>
          </a:p>
        </p:txBody>
      </p:sp>
      <p:sp>
        <p:nvSpPr>
          <p:cNvPr id="17" name="Shape 15"/>
          <p:cNvSpPr/>
          <p:nvPr/>
        </p:nvSpPr>
        <p:spPr>
          <a:xfrm>
            <a:off x="640080" y="3401568"/>
            <a:ext cx="4937760" cy="530352"/>
          </a:xfrm>
          <a:prstGeom prst="rect">
            <a:avLst/>
          </a:prstGeom>
          <a:solidFill>
            <a:srgbClr val="0F1825"/>
          </a:solidFill>
          <a:ln w="3810">
            <a:solidFill>
              <a:srgbClr val="1E293B"/>
            </a:solidFill>
            <a:prstDash val="solid"/>
          </a:ln>
        </p:spPr>
        <p:txBody>
          <a:bodyPr/>
          <a:lstStyle/>
          <a:p>
            <a:endParaRPr lang="en-US"/>
          </a:p>
        </p:txBody>
      </p:sp>
      <p:sp>
        <p:nvSpPr>
          <p:cNvPr id="18" name="Text 16"/>
          <p:cNvSpPr/>
          <p:nvPr/>
        </p:nvSpPr>
        <p:spPr>
          <a:xfrm>
            <a:off x="685800" y="3474720"/>
            <a:ext cx="1371600" cy="384048"/>
          </a:xfrm>
          <a:prstGeom prst="rect">
            <a:avLst/>
          </a:prstGeom>
          <a:noFill/>
          <a:ln/>
        </p:spPr>
        <p:txBody>
          <a:bodyPr wrap="square" rtlCol="0" anchor="ctr"/>
          <a:lstStyle/>
          <a:p>
            <a:pPr marL="0" indent="0" algn="r">
              <a:buNone/>
            </a:pPr>
            <a:r>
              <a:rPr lang="en-US" sz="1500" b="1" dirty="0">
                <a:solidFill>
                  <a:srgbClr val="00C9FF"/>
                </a:solidFill>
                <a:latin typeface="Calibri" pitchFamily="34" charset="0"/>
                <a:ea typeface="Calibri" pitchFamily="34" charset="-122"/>
                <a:cs typeface="Calibri" pitchFamily="34" charset="-120"/>
              </a:rPr>
              <a:t>166</a:t>
            </a:r>
            <a:endParaRPr lang="en-US" sz="1500" dirty="0"/>
          </a:p>
        </p:txBody>
      </p:sp>
      <p:sp>
        <p:nvSpPr>
          <p:cNvPr id="19" name="Text 17"/>
          <p:cNvSpPr/>
          <p:nvPr/>
        </p:nvSpPr>
        <p:spPr>
          <a:xfrm>
            <a:off x="2148840" y="3493008"/>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Node features per transaction</a:t>
            </a:r>
            <a:endParaRPr lang="en-US" sz="1100" dirty="0"/>
          </a:p>
        </p:txBody>
      </p:sp>
      <p:sp>
        <p:nvSpPr>
          <p:cNvPr id="20" name="Shape 18"/>
          <p:cNvSpPr/>
          <p:nvPr/>
        </p:nvSpPr>
        <p:spPr>
          <a:xfrm>
            <a:off x="640080" y="4023360"/>
            <a:ext cx="4937760" cy="530352"/>
          </a:xfrm>
          <a:prstGeom prst="rect">
            <a:avLst/>
          </a:prstGeom>
          <a:solidFill>
            <a:srgbClr val="141E30"/>
          </a:solidFill>
          <a:ln w="3810">
            <a:solidFill>
              <a:srgbClr val="1E293B"/>
            </a:solidFill>
            <a:prstDash val="solid"/>
          </a:ln>
        </p:spPr>
        <p:txBody>
          <a:bodyPr/>
          <a:lstStyle/>
          <a:p>
            <a:endParaRPr lang="en-US"/>
          </a:p>
        </p:txBody>
      </p:sp>
      <p:sp>
        <p:nvSpPr>
          <p:cNvPr id="21" name="Text 19"/>
          <p:cNvSpPr/>
          <p:nvPr/>
        </p:nvSpPr>
        <p:spPr>
          <a:xfrm>
            <a:off x="685800" y="4096512"/>
            <a:ext cx="1371600" cy="384048"/>
          </a:xfrm>
          <a:prstGeom prst="rect">
            <a:avLst/>
          </a:prstGeom>
          <a:noFill/>
          <a:ln/>
        </p:spPr>
        <p:txBody>
          <a:bodyPr wrap="square" rtlCol="0" anchor="ctr"/>
          <a:lstStyle/>
          <a:p>
            <a:pPr marL="0" indent="0" algn="r">
              <a:buNone/>
            </a:pPr>
            <a:r>
              <a:rPr lang="en-US" sz="1500" b="1" dirty="0">
                <a:solidFill>
                  <a:srgbClr val="FF4444"/>
                </a:solidFill>
                <a:latin typeface="Calibri" pitchFamily="34" charset="0"/>
                <a:ea typeface="Calibri" pitchFamily="34" charset="-122"/>
                <a:cs typeface="Calibri" pitchFamily="34" charset="-120"/>
              </a:rPr>
              <a:t>4,545</a:t>
            </a:r>
            <a:endParaRPr lang="en-US" sz="1500" dirty="0"/>
          </a:p>
        </p:txBody>
      </p:sp>
      <p:sp>
        <p:nvSpPr>
          <p:cNvPr id="22" name="Text 20"/>
          <p:cNvSpPr/>
          <p:nvPr/>
        </p:nvSpPr>
        <p:spPr>
          <a:xfrm>
            <a:off x="2148840" y="4114800"/>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Confirmed illicit transactions</a:t>
            </a:r>
            <a:endParaRPr lang="en-US" sz="1100" dirty="0"/>
          </a:p>
        </p:txBody>
      </p:sp>
      <p:sp>
        <p:nvSpPr>
          <p:cNvPr id="23" name="Shape 21"/>
          <p:cNvSpPr/>
          <p:nvPr/>
        </p:nvSpPr>
        <p:spPr>
          <a:xfrm>
            <a:off x="640080" y="4645152"/>
            <a:ext cx="4937760" cy="530352"/>
          </a:xfrm>
          <a:prstGeom prst="rect">
            <a:avLst/>
          </a:prstGeom>
          <a:solidFill>
            <a:srgbClr val="0F1825"/>
          </a:solidFill>
          <a:ln w="3810">
            <a:solidFill>
              <a:srgbClr val="1E293B"/>
            </a:solidFill>
            <a:prstDash val="solid"/>
          </a:ln>
        </p:spPr>
        <p:txBody>
          <a:bodyPr/>
          <a:lstStyle/>
          <a:p>
            <a:endParaRPr lang="en-US"/>
          </a:p>
        </p:txBody>
      </p:sp>
      <p:sp>
        <p:nvSpPr>
          <p:cNvPr id="24" name="Text 22"/>
          <p:cNvSpPr/>
          <p:nvPr/>
        </p:nvSpPr>
        <p:spPr>
          <a:xfrm>
            <a:off x="685800" y="4718304"/>
            <a:ext cx="1371600" cy="384048"/>
          </a:xfrm>
          <a:prstGeom prst="rect">
            <a:avLst/>
          </a:prstGeom>
          <a:noFill/>
          <a:ln/>
        </p:spPr>
        <p:txBody>
          <a:bodyPr wrap="square" rtlCol="0" anchor="ctr"/>
          <a:lstStyle/>
          <a:p>
            <a:pPr marL="0" indent="0" algn="r">
              <a:buNone/>
            </a:pPr>
            <a:r>
              <a:rPr lang="en-US" sz="1500" b="1" dirty="0">
                <a:solidFill>
                  <a:srgbClr val="00C9A7"/>
                </a:solidFill>
                <a:latin typeface="Calibri" pitchFamily="34" charset="0"/>
                <a:ea typeface="Calibri" pitchFamily="34" charset="-122"/>
                <a:cs typeface="Calibri" pitchFamily="34" charset="-120"/>
              </a:rPr>
              <a:t>42,019</a:t>
            </a:r>
            <a:endParaRPr lang="en-US" sz="1500" dirty="0"/>
          </a:p>
        </p:txBody>
      </p:sp>
      <p:sp>
        <p:nvSpPr>
          <p:cNvPr id="25" name="Text 23"/>
          <p:cNvSpPr/>
          <p:nvPr/>
        </p:nvSpPr>
        <p:spPr>
          <a:xfrm>
            <a:off x="2148840" y="4736592"/>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Confirmed licit transactions</a:t>
            </a:r>
            <a:endParaRPr lang="en-US" sz="1100" dirty="0"/>
          </a:p>
        </p:txBody>
      </p:sp>
      <p:sp>
        <p:nvSpPr>
          <p:cNvPr id="26" name="Shape 24"/>
          <p:cNvSpPr/>
          <p:nvPr/>
        </p:nvSpPr>
        <p:spPr>
          <a:xfrm>
            <a:off x="640080" y="5266944"/>
            <a:ext cx="4937760" cy="530352"/>
          </a:xfrm>
          <a:prstGeom prst="rect">
            <a:avLst/>
          </a:prstGeom>
          <a:solidFill>
            <a:srgbClr val="141E30"/>
          </a:solidFill>
          <a:ln w="3810">
            <a:solidFill>
              <a:srgbClr val="1E293B"/>
            </a:solidFill>
            <a:prstDash val="solid"/>
          </a:ln>
        </p:spPr>
        <p:txBody>
          <a:bodyPr/>
          <a:lstStyle/>
          <a:p>
            <a:endParaRPr lang="en-US"/>
          </a:p>
        </p:txBody>
      </p:sp>
      <p:sp>
        <p:nvSpPr>
          <p:cNvPr id="27" name="Text 25"/>
          <p:cNvSpPr/>
          <p:nvPr/>
        </p:nvSpPr>
        <p:spPr>
          <a:xfrm>
            <a:off x="685800" y="5340096"/>
            <a:ext cx="1371600" cy="384048"/>
          </a:xfrm>
          <a:prstGeom prst="rect">
            <a:avLst/>
          </a:prstGeom>
          <a:noFill/>
          <a:ln/>
        </p:spPr>
        <p:txBody>
          <a:bodyPr wrap="square" rtlCol="0" anchor="ctr"/>
          <a:lstStyle/>
          <a:p>
            <a:pPr marL="0" indent="0" algn="r">
              <a:buNone/>
            </a:pPr>
            <a:r>
              <a:rPr lang="en-US" sz="1500" b="1" dirty="0">
                <a:solidFill>
                  <a:srgbClr val="8B949E"/>
                </a:solidFill>
                <a:latin typeface="Calibri" pitchFamily="34" charset="0"/>
                <a:ea typeface="Calibri" pitchFamily="34" charset="-122"/>
                <a:cs typeface="Calibri" pitchFamily="34" charset="-120"/>
              </a:rPr>
              <a:t>157,205</a:t>
            </a:r>
            <a:endParaRPr lang="en-US" sz="1500" dirty="0"/>
          </a:p>
        </p:txBody>
      </p:sp>
      <p:sp>
        <p:nvSpPr>
          <p:cNvPr id="28" name="Text 26"/>
          <p:cNvSpPr/>
          <p:nvPr/>
        </p:nvSpPr>
        <p:spPr>
          <a:xfrm>
            <a:off x="2148840" y="5358384"/>
            <a:ext cx="3291840" cy="34747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Unlabelled transactions (77%)</a:t>
            </a:r>
            <a:endParaRPr lang="en-US" sz="1100" dirty="0"/>
          </a:p>
        </p:txBody>
      </p:sp>
      <p:sp>
        <p:nvSpPr>
          <p:cNvPr id="29" name="Shape 27"/>
          <p:cNvSpPr/>
          <p:nvPr/>
        </p:nvSpPr>
        <p:spPr>
          <a:xfrm>
            <a:off x="6035040" y="960120"/>
            <a:ext cx="5669280" cy="5120640"/>
          </a:xfrm>
          <a:prstGeom prst="roundRect">
            <a:avLst>
              <a:gd name="adj" fmla="val 1429"/>
            </a:avLst>
          </a:prstGeom>
          <a:solidFill>
            <a:srgbClr val="1A2235"/>
          </a:solidFill>
          <a:ln w="6350">
            <a:solidFill>
              <a:srgbClr val="1E293B"/>
            </a:solidFill>
            <a:prstDash val="solid"/>
          </a:ln>
        </p:spPr>
        <p:txBody>
          <a:bodyPr/>
          <a:lstStyle/>
          <a:p>
            <a:endParaRPr lang="en-US"/>
          </a:p>
        </p:txBody>
      </p:sp>
      <p:sp>
        <p:nvSpPr>
          <p:cNvPr id="30" name="Text 28"/>
          <p:cNvSpPr/>
          <p:nvPr/>
        </p:nvSpPr>
        <p:spPr>
          <a:xfrm>
            <a:off x="6217920" y="1051560"/>
            <a:ext cx="5303520" cy="365760"/>
          </a:xfrm>
          <a:prstGeom prst="rect">
            <a:avLst/>
          </a:prstGeom>
          <a:noFill/>
          <a:ln/>
        </p:spPr>
        <p:txBody>
          <a:bodyPr wrap="square" rtlCol="0" anchor="ctr"/>
          <a:lstStyle/>
          <a:p>
            <a:pPr marL="0" indent="0">
              <a:buNone/>
            </a:pPr>
            <a:r>
              <a:rPr lang="en-US" sz="1500" b="1" dirty="0">
                <a:solidFill>
                  <a:srgbClr val="00C9FF"/>
                </a:solidFill>
                <a:latin typeface="Calibri" pitchFamily="34" charset="0"/>
                <a:ea typeface="Calibri" pitchFamily="34" charset="-122"/>
                <a:cs typeface="Calibri" pitchFamily="34" charset="-120"/>
              </a:rPr>
              <a:t>Class Imbalance</a:t>
            </a:r>
            <a:endParaRPr lang="en-US" sz="1500" dirty="0"/>
          </a:p>
        </p:txBody>
      </p:sp>
      <p:sp>
        <p:nvSpPr>
          <p:cNvPr id="31" name="Text 29"/>
          <p:cNvSpPr/>
          <p:nvPr/>
        </p:nvSpPr>
        <p:spPr>
          <a:xfrm>
            <a:off x="6217920" y="1600200"/>
            <a:ext cx="1371600" cy="320040"/>
          </a:xfrm>
          <a:prstGeom prst="rect">
            <a:avLst/>
          </a:prstGeom>
          <a:noFill/>
          <a:ln/>
        </p:spPr>
        <p:txBody>
          <a:bodyPr wrap="square" rtlCol="0" anchor="ctr"/>
          <a:lstStyle/>
          <a:p>
            <a:pPr marL="0" indent="0">
              <a:buNone/>
            </a:pPr>
            <a:r>
              <a:rPr lang="en-US" sz="1200" b="1" dirty="0">
                <a:solidFill>
                  <a:srgbClr val="8B949E"/>
                </a:solidFill>
                <a:latin typeface="Calibri" pitchFamily="34" charset="0"/>
                <a:ea typeface="Calibri" pitchFamily="34" charset="-122"/>
                <a:cs typeface="Calibri" pitchFamily="34" charset="-120"/>
              </a:rPr>
              <a:t>Unknown</a:t>
            </a:r>
            <a:endParaRPr lang="en-US" sz="1200" dirty="0"/>
          </a:p>
        </p:txBody>
      </p:sp>
      <p:sp>
        <p:nvSpPr>
          <p:cNvPr id="32" name="Shape 30"/>
          <p:cNvSpPr/>
          <p:nvPr/>
        </p:nvSpPr>
        <p:spPr>
          <a:xfrm>
            <a:off x="6217920" y="1947672"/>
            <a:ext cx="4937760" cy="384048"/>
          </a:xfrm>
          <a:prstGeom prst="rect">
            <a:avLst/>
          </a:prstGeom>
          <a:solidFill>
            <a:srgbClr val="0F1825"/>
          </a:solidFill>
          <a:ln w="3810">
            <a:solidFill>
              <a:srgbClr val="1E293B"/>
            </a:solidFill>
            <a:prstDash val="solid"/>
          </a:ln>
        </p:spPr>
        <p:txBody>
          <a:bodyPr/>
          <a:lstStyle/>
          <a:p>
            <a:endParaRPr lang="en-US"/>
          </a:p>
        </p:txBody>
      </p:sp>
      <p:sp>
        <p:nvSpPr>
          <p:cNvPr id="33" name="Shape 31"/>
          <p:cNvSpPr/>
          <p:nvPr/>
        </p:nvSpPr>
        <p:spPr>
          <a:xfrm>
            <a:off x="6217920" y="1947672"/>
            <a:ext cx="3807013" cy="384048"/>
          </a:xfrm>
          <a:prstGeom prst="rect">
            <a:avLst/>
          </a:prstGeom>
          <a:solidFill>
            <a:srgbClr val="8B949E"/>
          </a:solidFill>
          <a:ln w="12700">
            <a:solidFill>
              <a:srgbClr val="8B949E"/>
            </a:solidFill>
            <a:prstDash val="solid"/>
          </a:ln>
        </p:spPr>
        <p:txBody>
          <a:bodyPr/>
          <a:lstStyle/>
          <a:p>
            <a:endParaRPr lang="en-US"/>
          </a:p>
        </p:txBody>
      </p:sp>
      <p:sp>
        <p:nvSpPr>
          <p:cNvPr id="34" name="Text 32"/>
          <p:cNvSpPr/>
          <p:nvPr/>
        </p:nvSpPr>
        <p:spPr>
          <a:xfrm>
            <a:off x="6217920" y="2368296"/>
            <a:ext cx="4937760" cy="27432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77.1%  ·  157,205 nodes</a:t>
            </a:r>
            <a:endParaRPr lang="en-US" sz="1000" dirty="0"/>
          </a:p>
        </p:txBody>
      </p:sp>
      <p:sp>
        <p:nvSpPr>
          <p:cNvPr id="35" name="Text 33"/>
          <p:cNvSpPr/>
          <p:nvPr/>
        </p:nvSpPr>
        <p:spPr>
          <a:xfrm>
            <a:off x="6217920" y="2971800"/>
            <a:ext cx="1371600" cy="320040"/>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Licit</a:t>
            </a:r>
            <a:endParaRPr lang="en-US" sz="1200" dirty="0"/>
          </a:p>
        </p:txBody>
      </p:sp>
      <p:sp>
        <p:nvSpPr>
          <p:cNvPr id="36" name="Shape 34"/>
          <p:cNvSpPr/>
          <p:nvPr/>
        </p:nvSpPr>
        <p:spPr>
          <a:xfrm>
            <a:off x="6217920" y="3319272"/>
            <a:ext cx="4937760" cy="384048"/>
          </a:xfrm>
          <a:prstGeom prst="rect">
            <a:avLst/>
          </a:prstGeom>
          <a:solidFill>
            <a:srgbClr val="0F1825"/>
          </a:solidFill>
          <a:ln w="3810">
            <a:solidFill>
              <a:srgbClr val="1E293B"/>
            </a:solidFill>
            <a:prstDash val="solid"/>
          </a:ln>
        </p:spPr>
        <p:txBody>
          <a:bodyPr/>
          <a:lstStyle/>
          <a:p>
            <a:endParaRPr lang="en-US"/>
          </a:p>
        </p:txBody>
      </p:sp>
      <p:sp>
        <p:nvSpPr>
          <p:cNvPr id="37" name="Shape 35"/>
          <p:cNvSpPr/>
          <p:nvPr/>
        </p:nvSpPr>
        <p:spPr>
          <a:xfrm>
            <a:off x="6217920" y="3319272"/>
            <a:ext cx="1017179" cy="384048"/>
          </a:xfrm>
          <a:prstGeom prst="rect">
            <a:avLst/>
          </a:prstGeom>
          <a:solidFill>
            <a:srgbClr val="00C9A7"/>
          </a:solidFill>
          <a:ln w="12700">
            <a:solidFill>
              <a:srgbClr val="00C9A7"/>
            </a:solidFill>
            <a:prstDash val="solid"/>
          </a:ln>
        </p:spPr>
        <p:txBody>
          <a:bodyPr/>
          <a:lstStyle/>
          <a:p>
            <a:endParaRPr lang="en-US"/>
          </a:p>
        </p:txBody>
      </p:sp>
      <p:sp>
        <p:nvSpPr>
          <p:cNvPr id="38" name="Text 36"/>
          <p:cNvSpPr/>
          <p:nvPr/>
        </p:nvSpPr>
        <p:spPr>
          <a:xfrm>
            <a:off x="6217920" y="3739896"/>
            <a:ext cx="4937760" cy="27432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20.6%  ·  42,019 nodes</a:t>
            </a:r>
            <a:endParaRPr lang="en-US" sz="1000" dirty="0"/>
          </a:p>
        </p:txBody>
      </p:sp>
      <p:sp>
        <p:nvSpPr>
          <p:cNvPr id="39" name="Text 37"/>
          <p:cNvSpPr/>
          <p:nvPr/>
        </p:nvSpPr>
        <p:spPr>
          <a:xfrm>
            <a:off x="6217920" y="4343400"/>
            <a:ext cx="1371600" cy="320040"/>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Illicit</a:t>
            </a:r>
            <a:endParaRPr lang="en-US" sz="1200" dirty="0"/>
          </a:p>
        </p:txBody>
      </p:sp>
      <p:sp>
        <p:nvSpPr>
          <p:cNvPr id="40" name="Shape 38"/>
          <p:cNvSpPr/>
          <p:nvPr/>
        </p:nvSpPr>
        <p:spPr>
          <a:xfrm>
            <a:off x="6217920" y="4690872"/>
            <a:ext cx="4937760" cy="384048"/>
          </a:xfrm>
          <a:prstGeom prst="rect">
            <a:avLst/>
          </a:prstGeom>
          <a:solidFill>
            <a:srgbClr val="0F1825"/>
          </a:solidFill>
          <a:ln w="3810">
            <a:solidFill>
              <a:srgbClr val="1E293B"/>
            </a:solidFill>
            <a:prstDash val="solid"/>
          </a:ln>
        </p:spPr>
        <p:txBody>
          <a:bodyPr/>
          <a:lstStyle/>
          <a:p>
            <a:endParaRPr lang="en-US"/>
          </a:p>
        </p:txBody>
      </p:sp>
      <p:sp>
        <p:nvSpPr>
          <p:cNvPr id="41" name="Shape 39"/>
          <p:cNvSpPr/>
          <p:nvPr/>
        </p:nvSpPr>
        <p:spPr>
          <a:xfrm>
            <a:off x="6217920" y="4690872"/>
            <a:ext cx="137160" cy="384048"/>
          </a:xfrm>
          <a:prstGeom prst="rect">
            <a:avLst/>
          </a:prstGeom>
          <a:solidFill>
            <a:srgbClr val="FF4444"/>
          </a:solidFill>
          <a:ln w="12700">
            <a:solidFill>
              <a:srgbClr val="FF4444"/>
            </a:solidFill>
            <a:prstDash val="solid"/>
          </a:ln>
        </p:spPr>
        <p:txBody>
          <a:bodyPr/>
          <a:lstStyle/>
          <a:p>
            <a:endParaRPr lang="en-US"/>
          </a:p>
        </p:txBody>
      </p:sp>
      <p:sp>
        <p:nvSpPr>
          <p:cNvPr id="42" name="Text 40"/>
          <p:cNvSpPr/>
          <p:nvPr/>
        </p:nvSpPr>
        <p:spPr>
          <a:xfrm>
            <a:off x="6217920" y="5111496"/>
            <a:ext cx="4937760" cy="274320"/>
          </a:xfrm>
          <a:prstGeom prst="rect">
            <a:avLst/>
          </a:prstGeom>
          <a:noFill/>
          <a:ln/>
        </p:spPr>
        <p:txBody>
          <a:bodyPr wrap="square" rtlCol="0" anchor="ctr"/>
          <a:lstStyle/>
          <a:p>
            <a:pPr marL="0" indent="0">
              <a:buNone/>
            </a:pPr>
            <a:r>
              <a:rPr lang="en-US" sz="1000" dirty="0">
                <a:solidFill>
                  <a:srgbClr val="8B949E"/>
                </a:solidFill>
                <a:latin typeface="Calibri" pitchFamily="34" charset="0"/>
                <a:ea typeface="Calibri" pitchFamily="34" charset="-122"/>
                <a:cs typeface="Calibri" pitchFamily="34" charset="-120"/>
              </a:rPr>
              <a:t>2.2%  ·  4,545 nodes</a:t>
            </a:r>
            <a:endParaRPr lang="en-US" sz="1000" dirty="0"/>
          </a:p>
        </p:txBody>
      </p:sp>
      <p:sp>
        <p:nvSpPr>
          <p:cNvPr id="43" name="Text 41"/>
          <p:cNvSpPr/>
          <p:nvPr/>
        </p:nvSpPr>
        <p:spPr>
          <a:xfrm>
            <a:off x="6217920" y="5394960"/>
            <a:ext cx="5303520" cy="548640"/>
          </a:xfrm>
          <a:prstGeom prst="rect">
            <a:avLst/>
          </a:prstGeom>
          <a:noFill/>
          <a:ln/>
        </p:spPr>
        <p:txBody>
          <a:bodyPr wrap="square"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Key insight: a model that labels everything as licit would be 90% accurate yet catch zero fraud. Accuracy is a meaningless metric here.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dirty="0"/>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Exploratory Data Analysis — Key Findings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7" name="Text 5"/>
          <p:cNvSpPr/>
          <p:nvPr/>
        </p:nvSpPr>
        <p:spPr>
          <a:xfrm>
            <a:off x="685800" y="1124712"/>
            <a:ext cx="5212080" cy="384048"/>
          </a:xfrm>
          <a:prstGeom prst="rect">
            <a:avLst/>
          </a:prstGeom>
          <a:noFill/>
          <a:ln/>
        </p:spPr>
        <p:txBody>
          <a:bodyPr wrap="square" rtlCol="0" anchor="ctr"/>
          <a:lstStyle/>
          <a:p>
            <a:pPr marL="0" indent="0">
              <a:buNone/>
            </a:pPr>
            <a:r>
              <a:rPr lang="en-US" sz="1400" b="1" dirty="0">
                <a:solidFill>
                  <a:srgbClr val="FF4444"/>
                </a:solidFill>
                <a:latin typeface="Calibri" pitchFamily="34" charset="0"/>
                <a:ea typeface="Calibri" pitchFamily="34" charset="-122"/>
                <a:cs typeface="Calibri" pitchFamily="34" charset="-120"/>
              </a:rPr>
              <a:t>Severe Class Imbalance</a:t>
            </a:r>
            <a:endParaRPr lang="en-US" sz="1400" dirty="0"/>
          </a:p>
        </p:txBody>
      </p:sp>
      <p:sp>
        <p:nvSpPr>
          <p:cNvPr id="8" name="Text 6"/>
          <p:cNvSpPr/>
          <p:nvPr/>
        </p:nvSpPr>
        <p:spPr>
          <a:xfrm>
            <a:off x="685800" y="1581912"/>
            <a:ext cx="5212080" cy="1664208"/>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Only 9.8% of labelled nodes are illicit. Accuracy is misleading; F1, AUC-ROC, and recall are used throughout. Class weighting of 7.63× applied to the illicit class during training.</a:t>
            </a:r>
            <a:endParaRPr lang="en-US" sz="1150" dirty="0"/>
          </a:p>
        </p:txBody>
      </p:sp>
      <p:sp>
        <p:nvSpPr>
          <p:cNvPr id="9" name="Shape 7"/>
          <p:cNvSpPr/>
          <p:nvPr/>
        </p:nvSpPr>
        <p:spPr>
          <a:xfrm>
            <a:off x="6355080" y="96012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0" name="Text 8"/>
          <p:cNvSpPr/>
          <p:nvPr/>
        </p:nvSpPr>
        <p:spPr>
          <a:xfrm>
            <a:off x="6583680" y="1124712"/>
            <a:ext cx="5212080" cy="384048"/>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Illicit Activity Bursts</a:t>
            </a:r>
            <a:endParaRPr lang="en-US" sz="1400" dirty="0"/>
          </a:p>
        </p:txBody>
      </p:sp>
      <p:sp>
        <p:nvSpPr>
          <p:cNvPr id="11" name="Text 9"/>
          <p:cNvSpPr/>
          <p:nvPr/>
        </p:nvSpPr>
        <p:spPr>
          <a:xfrm>
            <a:off x="6583680" y="1581912"/>
            <a:ext cx="5212080" cy="1664208"/>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Illicit transactions are NOT randomly distributed across time. They spike at specific periods; peak at step 32 with 342 illicit nodes. This directly motivates temporal feature engineering.</a:t>
            </a:r>
            <a:endParaRPr lang="en-US" sz="1150" dirty="0"/>
          </a:p>
        </p:txBody>
      </p:sp>
      <p:sp>
        <p:nvSpPr>
          <p:cNvPr id="12" name="Shape 10"/>
          <p:cNvSpPr/>
          <p:nvPr/>
        </p:nvSpPr>
        <p:spPr>
          <a:xfrm>
            <a:off x="457200" y="356616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3" name="Text 11"/>
          <p:cNvSpPr/>
          <p:nvPr/>
        </p:nvSpPr>
        <p:spPr>
          <a:xfrm>
            <a:off x="685800" y="3730752"/>
            <a:ext cx="5212080" cy="384048"/>
          </a:xfrm>
          <a:prstGeom prst="rect">
            <a:avLst/>
          </a:prstGeom>
          <a:noFill/>
          <a:ln/>
        </p:spPr>
        <p:txBody>
          <a:bodyPr wrap="square" rtlCol="0" anchor="ctr"/>
          <a:lstStyle/>
          <a:p>
            <a:pPr marL="0" indent="0">
              <a:buNone/>
            </a:pPr>
            <a:r>
              <a:rPr lang="en-US" sz="1400" b="1" dirty="0">
                <a:solidFill>
                  <a:srgbClr val="00C9FF"/>
                </a:solidFill>
                <a:latin typeface="Calibri" pitchFamily="34" charset="0"/>
                <a:ea typeface="Calibri" pitchFamily="34" charset="-122"/>
                <a:cs typeface="Calibri" pitchFamily="34" charset="-120"/>
              </a:rPr>
              <a:t>Organised Fraud Structure</a:t>
            </a:r>
            <a:endParaRPr lang="en-US" sz="1400" dirty="0"/>
          </a:p>
        </p:txBody>
      </p:sp>
      <p:sp>
        <p:nvSpPr>
          <p:cNvPr id="14" name="Text 12"/>
          <p:cNvSpPr/>
          <p:nvPr/>
        </p:nvSpPr>
        <p:spPr>
          <a:xfrm>
            <a:off x="685800" y="4187952"/>
            <a:ext cx="5212080" cy="1664208"/>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Illicit node features are near-perfectly correlated (deep red heatmap). Licit features are diverse. They are consistent with automated fraud scripts or coordinated money laundering, not random actors.</a:t>
            </a:r>
            <a:endParaRPr lang="en-US" sz="1150" dirty="0"/>
          </a:p>
        </p:txBody>
      </p:sp>
      <p:sp>
        <p:nvSpPr>
          <p:cNvPr id="15" name="Shape 13"/>
          <p:cNvSpPr/>
          <p:nvPr/>
        </p:nvSpPr>
        <p:spPr>
          <a:xfrm>
            <a:off x="6355080" y="356616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6" name="Text 14"/>
          <p:cNvSpPr/>
          <p:nvPr/>
        </p:nvSpPr>
        <p:spPr>
          <a:xfrm>
            <a:off x="6583680" y="3730752"/>
            <a:ext cx="5212080" cy="384048"/>
          </a:xfrm>
          <a:prstGeom prst="rect">
            <a:avLst/>
          </a:prstGeom>
          <a:noFill/>
          <a:ln/>
        </p:spPr>
        <p:txBody>
          <a:bodyPr wrap="square" rtlCol="0" anchor="ctr"/>
          <a:lstStyle/>
          <a:p>
            <a:pPr marL="0" indent="0">
              <a:buNone/>
            </a:pPr>
            <a:r>
              <a:rPr lang="en-US" sz="1400" b="1" dirty="0">
                <a:solidFill>
                  <a:srgbClr val="00C9A7"/>
                </a:solidFill>
                <a:latin typeface="Calibri" pitchFamily="34" charset="0"/>
                <a:ea typeface="Calibri" pitchFamily="34" charset="-122"/>
                <a:cs typeface="Calibri" pitchFamily="34" charset="-120"/>
              </a:rPr>
              <a:t>Scale-Free Network Topology</a:t>
            </a:r>
            <a:endParaRPr lang="en-US" sz="1400" dirty="0"/>
          </a:p>
        </p:txBody>
      </p:sp>
      <p:sp>
        <p:nvSpPr>
          <p:cNvPr id="17" name="Text 15"/>
          <p:cNvSpPr/>
          <p:nvPr/>
        </p:nvSpPr>
        <p:spPr>
          <a:xfrm>
            <a:off x="6583680" y="4187952"/>
            <a:ext cx="5212080" cy="1664208"/>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Power-law degree distribution is a small number of hub nodes dominate. Max in-degree: 284. Max out-degree: 472. These extreme hubs carry the highest structural risk.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Feature Engineering — Three New Feature Families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Text 4"/>
          <p:cNvSpPr/>
          <p:nvPr/>
        </p:nvSpPr>
        <p:spPr>
          <a:xfrm>
            <a:off x="457200" y="868680"/>
            <a:ext cx="11247120" cy="274320"/>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Original Elliptic features: 165   →   Enriched feature matrix: 181 features per node</a:t>
            </a:r>
            <a:endParaRPr lang="en-US" sz="1200" dirty="0"/>
          </a:p>
        </p:txBody>
      </p:sp>
      <p:sp>
        <p:nvSpPr>
          <p:cNvPr id="7" name="Shape 5"/>
          <p:cNvSpPr/>
          <p:nvPr/>
        </p:nvSpPr>
        <p:spPr>
          <a:xfrm>
            <a:off x="457200" y="1234440"/>
            <a:ext cx="3749040" cy="5166360"/>
          </a:xfrm>
          <a:prstGeom prst="roundRect">
            <a:avLst>
              <a:gd name="adj" fmla="val 1951"/>
            </a:avLst>
          </a:prstGeom>
          <a:solidFill>
            <a:srgbClr val="1A2235"/>
          </a:solidFill>
          <a:ln w="6350">
            <a:solidFill>
              <a:srgbClr val="1E293B"/>
            </a:solidFill>
            <a:prstDash val="solid"/>
          </a:ln>
        </p:spPr>
        <p:txBody>
          <a:bodyPr/>
          <a:lstStyle/>
          <a:p>
            <a:endParaRPr lang="en-US"/>
          </a:p>
        </p:txBody>
      </p:sp>
      <p:sp>
        <p:nvSpPr>
          <p:cNvPr id="8" name="Shape 6"/>
          <p:cNvSpPr/>
          <p:nvPr/>
        </p:nvSpPr>
        <p:spPr>
          <a:xfrm>
            <a:off x="457200" y="1234440"/>
            <a:ext cx="3749040" cy="502920"/>
          </a:xfrm>
          <a:prstGeom prst="rect">
            <a:avLst/>
          </a:prstGeom>
          <a:solidFill>
            <a:srgbClr val="00C9FF"/>
          </a:solidFill>
          <a:ln w="12700">
            <a:solidFill>
              <a:srgbClr val="00C9FF"/>
            </a:solidFill>
            <a:prstDash val="solid"/>
          </a:ln>
        </p:spPr>
        <p:txBody>
          <a:bodyPr/>
          <a:lstStyle/>
          <a:p>
            <a:endParaRPr lang="en-US"/>
          </a:p>
        </p:txBody>
      </p:sp>
      <p:sp>
        <p:nvSpPr>
          <p:cNvPr id="9" name="Text 7"/>
          <p:cNvSpPr/>
          <p:nvPr/>
        </p:nvSpPr>
        <p:spPr>
          <a:xfrm>
            <a:off x="548640" y="1252728"/>
            <a:ext cx="3566160" cy="256032"/>
          </a:xfrm>
          <a:prstGeom prst="rect">
            <a:avLst/>
          </a:prstGeom>
          <a:noFill/>
          <a:ln/>
        </p:spPr>
        <p:txBody>
          <a:bodyPr wrap="square" rtlCol="0" anchor="ctr"/>
          <a:lstStyle/>
          <a:p>
            <a:pPr marL="0" indent="0">
              <a:buNone/>
            </a:pPr>
            <a:r>
              <a:rPr lang="en-US" sz="1200" b="1" dirty="0">
                <a:solidFill>
                  <a:srgbClr val="0A0E1A"/>
                </a:solidFill>
                <a:latin typeface="Calibri" pitchFamily="34" charset="0"/>
                <a:ea typeface="Calibri" pitchFamily="34" charset="-122"/>
                <a:cs typeface="Calibri" pitchFamily="34" charset="-120"/>
              </a:rPr>
              <a:t>Structural Features</a:t>
            </a:r>
            <a:endParaRPr lang="en-US" sz="1200" dirty="0"/>
          </a:p>
        </p:txBody>
      </p:sp>
      <p:sp>
        <p:nvSpPr>
          <p:cNvPr id="10" name="Text 8"/>
          <p:cNvSpPr/>
          <p:nvPr/>
        </p:nvSpPr>
        <p:spPr>
          <a:xfrm>
            <a:off x="548640" y="1481328"/>
            <a:ext cx="3566160" cy="201168"/>
          </a:xfrm>
          <a:prstGeom prst="rect">
            <a:avLst/>
          </a:prstGeom>
          <a:noFill/>
          <a:ln/>
        </p:spPr>
        <p:txBody>
          <a:bodyPr wrap="square" rtlCol="0" anchor="ctr"/>
          <a:lstStyle/>
          <a:p>
            <a:pPr marL="0" indent="0">
              <a:buNone/>
            </a:pPr>
            <a:r>
              <a:rPr lang="en-US" sz="1000" dirty="0">
                <a:solidFill>
                  <a:srgbClr val="0A0E1A"/>
                </a:solidFill>
                <a:latin typeface="Calibri" pitchFamily="34" charset="0"/>
                <a:ea typeface="Calibri" pitchFamily="34" charset="-122"/>
                <a:cs typeface="Calibri" pitchFamily="34" charset="-120"/>
              </a:rPr>
              <a:t>8 features</a:t>
            </a:r>
            <a:endParaRPr lang="en-US" sz="1000" dirty="0"/>
          </a:p>
        </p:txBody>
      </p:sp>
      <p:sp>
        <p:nvSpPr>
          <p:cNvPr id="11" name="Text 9"/>
          <p:cNvSpPr/>
          <p:nvPr/>
        </p:nvSpPr>
        <p:spPr>
          <a:xfrm>
            <a:off x="594360" y="1828800"/>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In/out degree:  connectivity volume</a:t>
            </a:r>
            <a:endParaRPr lang="en-US" sz="1050" dirty="0"/>
          </a:p>
        </p:txBody>
      </p:sp>
      <p:sp>
        <p:nvSpPr>
          <p:cNvPr id="12" name="Text 10"/>
          <p:cNvSpPr/>
          <p:nvPr/>
        </p:nvSpPr>
        <p:spPr>
          <a:xfrm>
            <a:off x="594360" y="2487168"/>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Degree ratio: fan-in vs fan-out asymmetry</a:t>
            </a:r>
            <a:endParaRPr lang="en-US" sz="1050" dirty="0"/>
          </a:p>
        </p:txBody>
      </p:sp>
      <p:sp>
        <p:nvSpPr>
          <p:cNvPr id="13" name="Text 11"/>
          <p:cNvSpPr/>
          <p:nvPr/>
        </p:nvSpPr>
        <p:spPr>
          <a:xfrm>
            <a:off x="594360" y="3145536"/>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Betweenness centrality (k=500):  bridge importance</a:t>
            </a:r>
            <a:endParaRPr lang="en-US" sz="1050" dirty="0"/>
          </a:p>
        </p:txBody>
      </p:sp>
      <p:sp>
        <p:nvSpPr>
          <p:cNvPr id="14" name="Text 12"/>
          <p:cNvSpPr/>
          <p:nvPr/>
        </p:nvSpPr>
        <p:spPr>
          <a:xfrm>
            <a:off x="594360" y="3803904"/>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PageRank: receives funds from important sources</a:t>
            </a:r>
            <a:endParaRPr lang="en-US" sz="1050" dirty="0"/>
          </a:p>
        </p:txBody>
      </p:sp>
      <p:sp>
        <p:nvSpPr>
          <p:cNvPr id="15" name="Text 13"/>
          <p:cNvSpPr/>
          <p:nvPr/>
        </p:nvSpPr>
        <p:spPr>
          <a:xfrm>
            <a:off x="594360" y="4462272"/>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HITS hub score: points to high-authority nodes</a:t>
            </a:r>
            <a:endParaRPr lang="en-US" sz="1050" dirty="0"/>
          </a:p>
        </p:txBody>
      </p:sp>
      <p:sp>
        <p:nvSpPr>
          <p:cNvPr id="16" name="Text 14"/>
          <p:cNvSpPr/>
          <p:nvPr/>
        </p:nvSpPr>
        <p:spPr>
          <a:xfrm>
            <a:off x="594360" y="5120640"/>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HITS authority score: pointed to by hub nodes</a:t>
            </a:r>
            <a:endParaRPr lang="en-US" sz="1050" dirty="0"/>
          </a:p>
        </p:txBody>
      </p:sp>
      <p:sp>
        <p:nvSpPr>
          <p:cNvPr id="17" name="Shape 15"/>
          <p:cNvSpPr/>
          <p:nvPr/>
        </p:nvSpPr>
        <p:spPr>
          <a:xfrm>
            <a:off x="457200" y="5989320"/>
            <a:ext cx="3749040" cy="411480"/>
          </a:xfrm>
          <a:prstGeom prst="rect">
            <a:avLst/>
          </a:prstGeom>
          <a:solidFill>
            <a:srgbClr val="0F1825"/>
          </a:solidFill>
          <a:ln w="12700">
            <a:solidFill>
              <a:srgbClr val="0F1825"/>
            </a:solidFill>
            <a:prstDash val="solid"/>
          </a:ln>
        </p:spPr>
        <p:txBody>
          <a:bodyPr/>
          <a:lstStyle/>
          <a:p>
            <a:endParaRPr lang="en-US"/>
          </a:p>
        </p:txBody>
      </p:sp>
      <p:sp>
        <p:nvSpPr>
          <p:cNvPr id="18" name="Text 16"/>
          <p:cNvSpPr/>
          <p:nvPr/>
        </p:nvSpPr>
        <p:spPr>
          <a:xfrm>
            <a:off x="548640" y="6007608"/>
            <a:ext cx="3566160" cy="365760"/>
          </a:xfrm>
          <a:prstGeom prst="rect">
            <a:avLst/>
          </a:prstGeom>
          <a:noFill/>
          <a:ln/>
        </p:spPr>
        <p:txBody>
          <a:bodyPr wrap="square" rtlCol="0" anchor="ctr"/>
          <a:lstStyle/>
          <a:p>
            <a:pPr marL="0" indent="0">
              <a:buNone/>
            </a:pPr>
            <a:r>
              <a:rPr lang="en-US" sz="900" i="1" dirty="0">
                <a:solidFill>
                  <a:srgbClr val="00C9FF"/>
                </a:solidFill>
                <a:latin typeface="Calibri" pitchFamily="34" charset="0"/>
                <a:ea typeface="Calibri" pitchFamily="34" charset="-122"/>
                <a:cs typeface="Calibri" pitchFamily="34" charset="-120"/>
              </a:rPr>
              <a:t>Why: Network position reveals influence. Bridges and hubs are key fraud intermediaries.</a:t>
            </a:r>
            <a:endParaRPr lang="en-US" sz="900" dirty="0"/>
          </a:p>
        </p:txBody>
      </p:sp>
      <p:sp>
        <p:nvSpPr>
          <p:cNvPr id="19" name="Shape 17"/>
          <p:cNvSpPr/>
          <p:nvPr/>
        </p:nvSpPr>
        <p:spPr>
          <a:xfrm>
            <a:off x="4389120" y="1234440"/>
            <a:ext cx="3749040" cy="5166360"/>
          </a:xfrm>
          <a:prstGeom prst="roundRect">
            <a:avLst>
              <a:gd name="adj" fmla="val 1951"/>
            </a:avLst>
          </a:prstGeom>
          <a:solidFill>
            <a:srgbClr val="1A2235"/>
          </a:solidFill>
          <a:ln w="6350">
            <a:solidFill>
              <a:srgbClr val="1E293B"/>
            </a:solidFill>
            <a:prstDash val="solid"/>
          </a:ln>
        </p:spPr>
        <p:txBody>
          <a:bodyPr/>
          <a:lstStyle/>
          <a:p>
            <a:endParaRPr lang="en-US"/>
          </a:p>
        </p:txBody>
      </p:sp>
      <p:sp>
        <p:nvSpPr>
          <p:cNvPr id="20" name="Shape 18"/>
          <p:cNvSpPr/>
          <p:nvPr/>
        </p:nvSpPr>
        <p:spPr>
          <a:xfrm>
            <a:off x="4389120" y="1234440"/>
            <a:ext cx="3749040" cy="502920"/>
          </a:xfrm>
          <a:prstGeom prst="rect">
            <a:avLst/>
          </a:prstGeom>
          <a:solidFill>
            <a:srgbClr val="FFD700"/>
          </a:solidFill>
          <a:ln w="12700">
            <a:solidFill>
              <a:srgbClr val="FFD700"/>
            </a:solidFill>
            <a:prstDash val="solid"/>
          </a:ln>
        </p:spPr>
        <p:txBody>
          <a:bodyPr/>
          <a:lstStyle/>
          <a:p>
            <a:endParaRPr lang="en-US"/>
          </a:p>
        </p:txBody>
      </p:sp>
      <p:sp>
        <p:nvSpPr>
          <p:cNvPr id="21" name="Text 19"/>
          <p:cNvSpPr/>
          <p:nvPr/>
        </p:nvSpPr>
        <p:spPr>
          <a:xfrm>
            <a:off x="4480560" y="1252728"/>
            <a:ext cx="3566160" cy="256032"/>
          </a:xfrm>
          <a:prstGeom prst="rect">
            <a:avLst/>
          </a:prstGeom>
          <a:noFill/>
          <a:ln/>
        </p:spPr>
        <p:txBody>
          <a:bodyPr wrap="square" rtlCol="0" anchor="ctr"/>
          <a:lstStyle/>
          <a:p>
            <a:pPr marL="0" indent="0">
              <a:buNone/>
            </a:pPr>
            <a:r>
              <a:rPr lang="en-US" sz="1200" b="1" dirty="0">
                <a:solidFill>
                  <a:srgbClr val="0A0E1A"/>
                </a:solidFill>
                <a:latin typeface="Calibri" pitchFamily="34" charset="0"/>
                <a:ea typeface="Calibri" pitchFamily="34" charset="-122"/>
                <a:cs typeface="Calibri" pitchFamily="34" charset="-120"/>
              </a:rPr>
              <a:t>Temporal Features</a:t>
            </a:r>
            <a:endParaRPr lang="en-US" sz="1200" dirty="0"/>
          </a:p>
        </p:txBody>
      </p:sp>
      <p:sp>
        <p:nvSpPr>
          <p:cNvPr id="22" name="Text 20"/>
          <p:cNvSpPr/>
          <p:nvPr/>
        </p:nvSpPr>
        <p:spPr>
          <a:xfrm>
            <a:off x="4480560" y="1481328"/>
            <a:ext cx="3566160" cy="201168"/>
          </a:xfrm>
          <a:prstGeom prst="rect">
            <a:avLst/>
          </a:prstGeom>
          <a:noFill/>
          <a:ln/>
        </p:spPr>
        <p:txBody>
          <a:bodyPr wrap="square" rtlCol="0" anchor="ctr"/>
          <a:lstStyle/>
          <a:p>
            <a:pPr marL="0" indent="0">
              <a:buNone/>
            </a:pPr>
            <a:r>
              <a:rPr lang="en-US" sz="1000" dirty="0">
                <a:solidFill>
                  <a:srgbClr val="0A0E1A"/>
                </a:solidFill>
                <a:latin typeface="Calibri" pitchFamily="34" charset="0"/>
                <a:ea typeface="Calibri" pitchFamily="34" charset="-122"/>
                <a:cs typeface="Calibri" pitchFamily="34" charset="-120"/>
              </a:rPr>
              <a:t>3 features</a:t>
            </a:r>
            <a:endParaRPr lang="en-US" sz="1000" dirty="0"/>
          </a:p>
        </p:txBody>
      </p:sp>
      <p:sp>
        <p:nvSpPr>
          <p:cNvPr id="23" name="Text 21"/>
          <p:cNvSpPr/>
          <p:nvPr/>
        </p:nvSpPr>
        <p:spPr>
          <a:xfrm>
            <a:off x="4526280" y="1828800"/>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Time-step volume: how busy was this period</a:t>
            </a:r>
            <a:endParaRPr lang="en-US" sz="1050" dirty="0"/>
          </a:p>
        </p:txBody>
      </p:sp>
      <p:sp>
        <p:nvSpPr>
          <p:cNvPr id="24" name="Text 22"/>
          <p:cNvSpPr/>
          <p:nvPr/>
        </p:nvSpPr>
        <p:spPr>
          <a:xfrm>
            <a:off x="4526280" y="2487168"/>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Illicit rate at same time step: danger level of window</a:t>
            </a:r>
            <a:endParaRPr lang="en-US" sz="1050" dirty="0"/>
          </a:p>
        </p:txBody>
      </p:sp>
      <p:sp>
        <p:nvSpPr>
          <p:cNvPr id="25" name="Text 23"/>
          <p:cNvSpPr/>
          <p:nvPr/>
        </p:nvSpPr>
        <p:spPr>
          <a:xfrm>
            <a:off x="4526280" y="3145536"/>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Time recency: position in 49-step timeline (0–1)</a:t>
            </a:r>
            <a:endParaRPr lang="en-US" sz="1050" dirty="0"/>
          </a:p>
        </p:txBody>
      </p:sp>
      <p:sp>
        <p:nvSpPr>
          <p:cNvPr id="26" name="Shape 24"/>
          <p:cNvSpPr/>
          <p:nvPr/>
        </p:nvSpPr>
        <p:spPr>
          <a:xfrm>
            <a:off x="4389120" y="5989320"/>
            <a:ext cx="3749040" cy="411480"/>
          </a:xfrm>
          <a:prstGeom prst="rect">
            <a:avLst/>
          </a:prstGeom>
          <a:solidFill>
            <a:srgbClr val="0F1825"/>
          </a:solidFill>
          <a:ln w="12700">
            <a:solidFill>
              <a:srgbClr val="0F1825"/>
            </a:solidFill>
            <a:prstDash val="solid"/>
          </a:ln>
        </p:spPr>
        <p:txBody>
          <a:bodyPr/>
          <a:lstStyle/>
          <a:p>
            <a:endParaRPr lang="en-US"/>
          </a:p>
        </p:txBody>
      </p:sp>
      <p:sp>
        <p:nvSpPr>
          <p:cNvPr id="27" name="Text 25"/>
          <p:cNvSpPr/>
          <p:nvPr/>
        </p:nvSpPr>
        <p:spPr>
          <a:xfrm>
            <a:off x="4480560" y="6007608"/>
            <a:ext cx="3566160" cy="365760"/>
          </a:xfrm>
          <a:prstGeom prst="rect">
            <a:avLst/>
          </a:prstGeom>
          <a:noFill/>
          <a:ln/>
        </p:spPr>
        <p:txBody>
          <a:bodyPr wrap="square" rtlCol="0" anchor="ctr"/>
          <a:lstStyle/>
          <a:p>
            <a:pPr marL="0" indent="0">
              <a:buNone/>
            </a:pPr>
            <a:r>
              <a:rPr lang="en-US" sz="900" i="1" dirty="0">
                <a:solidFill>
                  <a:srgbClr val="FFD700"/>
                </a:solidFill>
                <a:latin typeface="Calibri" pitchFamily="34" charset="0"/>
                <a:ea typeface="Calibri" pitchFamily="34" charset="-122"/>
                <a:cs typeface="Calibri" pitchFamily="34" charset="-120"/>
              </a:rPr>
              <a:t>Why: Illicit nodes cluster in burst windows. Context at the time of transaction carries signal.</a:t>
            </a:r>
            <a:endParaRPr lang="en-US" sz="900" dirty="0"/>
          </a:p>
        </p:txBody>
      </p:sp>
      <p:sp>
        <p:nvSpPr>
          <p:cNvPr id="28" name="Shape 26"/>
          <p:cNvSpPr/>
          <p:nvPr/>
        </p:nvSpPr>
        <p:spPr>
          <a:xfrm>
            <a:off x="8321040" y="1234440"/>
            <a:ext cx="3749040" cy="5166360"/>
          </a:xfrm>
          <a:prstGeom prst="roundRect">
            <a:avLst>
              <a:gd name="adj" fmla="val 1951"/>
            </a:avLst>
          </a:prstGeom>
          <a:solidFill>
            <a:srgbClr val="1A2235"/>
          </a:solidFill>
          <a:ln w="6350">
            <a:solidFill>
              <a:srgbClr val="1E293B"/>
            </a:solidFill>
            <a:prstDash val="solid"/>
          </a:ln>
        </p:spPr>
        <p:txBody>
          <a:bodyPr/>
          <a:lstStyle/>
          <a:p>
            <a:endParaRPr lang="en-US"/>
          </a:p>
        </p:txBody>
      </p:sp>
      <p:sp>
        <p:nvSpPr>
          <p:cNvPr id="29" name="Shape 27"/>
          <p:cNvSpPr/>
          <p:nvPr/>
        </p:nvSpPr>
        <p:spPr>
          <a:xfrm>
            <a:off x="8321040" y="1234440"/>
            <a:ext cx="3749040" cy="502920"/>
          </a:xfrm>
          <a:prstGeom prst="rect">
            <a:avLst/>
          </a:prstGeom>
          <a:solidFill>
            <a:srgbClr val="00C9A7"/>
          </a:solidFill>
          <a:ln w="12700">
            <a:solidFill>
              <a:srgbClr val="00C9A7"/>
            </a:solidFill>
            <a:prstDash val="solid"/>
          </a:ln>
        </p:spPr>
        <p:txBody>
          <a:bodyPr/>
          <a:lstStyle/>
          <a:p>
            <a:endParaRPr lang="en-US"/>
          </a:p>
        </p:txBody>
      </p:sp>
      <p:sp>
        <p:nvSpPr>
          <p:cNvPr id="30" name="Text 28"/>
          <p:cNvSpPr/>
          <p:nvPr/>
        </p:nvSpPr>
        <p:spPr>
          <a:xfrm>
            <a:off x="8412480" y="1252728"/>
            <a:ext cx="3566160" cy="256032"/>
          </a:xfrm>
          <a:prstGeom prst="rect">
            <a:avLst/>
          </a:prstGeom>
          <a:noFill/>
          <a:ln/>
        </p:spPr>
        <p:txBody>
          <a:bodyPr wrap="square" rtlCol="0" anchor="ctr"/>
          <a:lstStyle/>
          <a:p>
            <a:pPr marL="0" indent="0">
              <a:buNone/>
            </a:pPr>
            <a:r>
              <a:rPr lang="en-US" sz="1200" b="1" dirty="0">
                <a:solidFill>
                  <a:srgbClr val="0A0E1A"/>
                </a:solidFill>
                <a:latin typeface="Calibri" pitchFamily="34" charset="0"/>
                <a:ea typeface="Calibri" pitchFamily="34" charset="-122"/>
                <a:cs typeface="Calibri" pitchFamily="34" charset="-120"/>
              </a:rPr>
              <a:t>Neighbourhood Features</a:t>
            </a:r>
            <a:endParaRPr lang="en-US" sz="1200" dirty="0"/>
          </a:p>
        </p:txBody>
      </p:sp>
      <p:sp>
        <p:nvSpPr>
          <p:cNvPr id="31" name="Text 29"/>
          <p:cNvSpPr/>
          <p:nvPr/>
        </p:nvSpPr>
        <p:spPr>
          <a:xfrm>
            <a:off x="8412480" y="1481328"/>
            <a:ext cx="3566160" cy="201168"/>
          </a:xfrm>
          <a:prstGeom prst="rect">
            <a:avLst/>
          </a:prstGeom>
          <a:noFill/>
          <a:ln/>
        </p:spPr>
        <p:txBody>
          <a:bodyPr wrap="square" rtlCol="0" anchor="ctr"/>
          <a:lstStyle/>
          <a:p>
            <a:pPr marL="0" indent="0">
              <a:buNone/>
            </a:pPr>
            <a:r>
              <a:rPr lang="en-US" sz="1000" dirty="0">
                <a:solidFill>
                  <a:srgbClr val="0A0E1A"/>
                </a:solidFill>
                <a:latin typeface="Calibri" pitchFamily="34" charset="0"/>
                <a:ea typeface="Calibri" pitchFamily="34" charset="-122"/>
                <a:cs typeface="Calibri" pitchFamily="34" charset="-120"/>
              </a:rPr>
              <a:t>5 features</a:t>
            </a:r>
            <a:endParaRPr lang="en-US" sz="1000" dirty="0"/>
          </a:p>
        </p:txBody>
      </p:sp>
      <p:sp>
        <p:nvSpPr>
          <p:cNvPr id="32" name="Text 30"/>
          <p:cNvSpPr/>
          <p:nvPr/>
        </p:nvSpPr>
        <p:spPr>
          <a:xfrm>
            <a:off x="8458200" y="1828800"/>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Illicit/licit/unknown neighbour ratios</a:t>
            </a:r>
            <a:endParaRPr lang="en-US" sz="1050" dirty="0"/>
          </a:p>
        </p:txBody>
      </p:sp>
      <p:sp>
        <p:nvSpPr>
          <p:cNvPr id="33" name="Text 31"/>
          <p:cNvSpPr/>
          <p:nvPr/>
        </p:nvSpPr>
        <p:spPr>
          <a:xfrm>
            <a:off x="8458200" y="2487168"/>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Total neighbor count: local connectivity</a:t>
            </a:r>
            <a:endParaRPr lang="en-US" sz="1050" dirty="0"/>
          </a:p>
        </p:txBody>
      </p:sp>
      <p:sp>
        <p:nvSpPr>
          <p:cNvPr id="34" name="Text 32"/>
          <p:cNvSpPr/>
          <p:nvPr/>
        </p:nvSpPr>
        <p:spPr>
          <a:xfrm>
            <a:off x="8458200" y="3145536"/>
            <a:ext cx="3474720" cy="594360"/>
          </a:xfrm>
          <a:prstGeom prst="rect">
            <a:avLst/>
          </a:prstGeom>
          <a:noFill/>
          <a:ln/>
        </p:spPr>
        <p:txBody>
          <a:bodyPr wrap="square" rtlCol="0" anchor="t"/>
          <a:lstStyle/>
          <a:p>
            <a:pPr marL="0" indent="0">
              <a:buNone/>
            </a:pPr>
            <a:r>
              <a:rPr lang="en-US" sz="1050" dirty="0">
                <a:solidFill>
                  <a:srgbClr val="FFFFFF"/>
                </a:solidFill>
                <a:latin typeface="Calibri" pitchFamily="34" charset="0"/>
                <a:ea typeface="Calibri" pitchFamily="34" charset="-122"/>
                <a:cs typeface="Calibri" pitchFamily="34" charset="-120"/>
              </a:rPr>
              <a:t>▸  Predecessor illicit ratio: fraction of illicit senders</a:t>
            </a:r>
            <a:endParaRPr lang="en-US" sz="1050" dirty="0"/>
          </a:p>
        </p:txBody>
      </p:sp>
      <p:sp>
        <p:nvSpPr>
          <p:cNvPr id="35" name="Shape 33"/>
          <p:cNvSpPr/>
          <p:nvPr/>
        </p:nvSpPr>
        <p:spPr>
          <a:xfrm>
            <a:off x="8321040" y="5989320"/>
            <a:ext cx="3749040" cy="411480"/>
          </a:xfrm>
          <a:prstGeom prst="rect">
            <a:avLst/>
          </a:prstGeom>
          <a:solidFill>
            <a:srgbClr val="0F1825"/>
          </a:solidFill>
          <a:ln w="12700">
            <a:solidFill>
              <a:srgbClr val="0F1825"/>
            </a:solidFill>
            <a:prstDash val="solid"/>
          </a:ln>
        </p:spPr>
        <p:txBody>
          <a:bodyPr/>
          <a:lstStyle/>
          <a:p>
            <a:endParaRPr lang="en-US"/>
          </a:p>
        </p:txBody>
      </p:sp>
      <p:sp>
        <p:nvSpPr>
          <p:cNvPr id="36" name="Text 34"/>
          <p:cNvSpPr/>
          <p:nvPr/>
        </p:nvSpPr>
        <p:spPr>
          <a:xfrm>
            <a:off x="8412480" y="6007608"/>
            <a:ext cx="3566160" cy="365760"/>
          </a:xfrm>
          <a:prstGeom prst="rect">
            <a:avLst/>
          </a:prstGeom>
          <a:noFill/>
          <a:ln/>
        </p:spPr>
        <p:txBody>
          <a:bodyPr wrap="square" rtlCol="0" anchor="ctr"/>
          <a:lstStyle/>
          <a:p>
            <a:pPr marL="0" indent="0">
              <a:buNone/>
            </a:pPr>
            <a:r>
              <a:rPr lang="en-US" sz="900" i="1" dirty="0">
                <a:solidFill>
                  <a:srgbClr val="00C9A7"/>
                </a:solidFill>
                <a:latin typeface="Calibri" pitchFamily="34" charset="0"/>
                <a:ea typeface="Calibri" pitchFamily="34" charset="-122"/>
                <a:cs typeface="Calibri" pitchFamily="34" charset="-120"/>
              </a:rPr>
              <a:t>Why: Guilt-by-association is empirically validated. The most powerful signal standard ML ignores.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Why a Graph Neural Network?</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5303520" cy="5120640"/>
          </a:xfrm>
          <a:prstGeom prst="roundRect">
            <a:avLst>
              <a:gd name="adj" fmla="val 1429"/>
            </a:avLst>
          </a:prstGeom>
          <a:solidFill>
            <a:srgbClr val="1A2235"/>
          </a:solidFill>
          <a:ln w="6350">
            <a:solidFill>
              <a:srgbClr val="1E293B"/>
            </a:solidFill>
            <a:prstDash val="solid"/>
          </a:ln>
        </p:spPr>
        <p:txBody>
          <a:bodyPr/>
          <a:lstStyle/>
          <a:p>
            <a:endParaRPr lang="en-US"/>
          </a:p>
        </p:txBody>
      </p:sp>
      <p:sp>
        <p:nvSpPr>
          <p:cNvPr id="7" name="Text 5"/>
          <p:cNvSpPr/>
          <p:nvPr/>
        </p:nvSpPr>
        <p:spPr>
          <a:xfrm>
            <a:off x="640080" y="1051560"/>
            <a:ext cx="4937760" cy="365760"/>
          </a:xfrm>
          <a:prstGeom prst="rect">
            <a:avLst/>
          </a:prstGeom>
          <a:noFill/>
          <a:ln/>
        </p:spPr>
        <p:txBody>
          <a:bodyPr wrap="square" rtlCol="0" anchor="ctr"/>
          <a:lstStyle/>
          <a:p>
            <a:pPr marL="0" indent="0">
              <a:buNone/>
            </a:pPr>
            <a:r>
              <a:rPr lang="en-US" sz="1400" b="1" dirty="0">
                <a:solidFill>
                  <a:srgbClr val="FF4444"/>
                </a:solidFill>
                <a:latin typeface="Calibri" pitchFamily="34" charset="0"/>
                <a:ea typeface="Calibri" pitchFamily="34" charset="-122"/>
                <a:cs typeface="Calibri" pitchFamily="34" charset="-120"/>
              </a:rPr>
              <a:t>Classical ML  (Random Forest / XGBoost)</a:t>
            </a:r>
            <a:endParaRPr lang="en-US" sz="1400" dirty="0"/>
          </a:p>
        </p:txBody>
      </p:sp>
      <p:sp>
        <p:nvSpPr>
          <p:cNvPr id="8" name="Text 6"/>
          <p:cNvSpPr/>
          <p:nvPr/>
        </p:nvSpPr>
        <p:spPr>
          <a:xfrm>
            <a:off x="640080" y="1874520"/>
            <a:ext cx="4937760" cy="53035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Treats every node independently</a:t>
            </a:r>
            <a:endParaRPr lang="en-US" sz="1200" dirty="0"/>
          </a:p>
        </p:txBody>
      </p:sp>
      <p:sp>
        <p:nvSpPr>
          <p:cNvPr id="9" name="Text 7"/>
          <p:cNvSpPr/>
          <p:nvPr/>
        </p:nvSpPr>
        <p:spPr>
          <a:xfrm>
            <a:off x="640080" y="2514600"/>
            <a:ext cx="4937760" cy="53035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Completely ignores graph structure</a:t>
            </a:r>
            <a:endParaRPr lang="en-US" sz="1200" dirty="0"/>
          </a:p>
        </p:txBody>
      </p:sp>
      <p:sp>
        <p:nvSpPr>
          <p:cNvPr id="10" name="Text 8"/>
          <p:cNvSpPr/>
          <p:nvPr/>
        </p:nvSpPr>
        <p:spPr>
          <a:xfrm>
            <a:off x="640080" y="3154680"/>
            <a:ext cx="4937760" cy="53035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Cannot use neighbourhood information</a:t>
            </a:r>
            <a:endParaRPr lang="en-US" sz="1200" dirty="0"/>
          </a:p>
        </p:txBody>
      </p:sp>
      <p:sp>
        <p:nvSpPr>
          <p:cNvPr id="11" name="Text 9"/>
          <p:cNvSpPr/>
          <p:nvPr/>
        </p:nvSpPr>
        <p:spPr>
          <a:xfrm>
            <a:off x="640080" y="3794760"/>
            <a:ext cx="4937760" cy="53035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Cannot generalise to unseen nodes</a:t>
            </a:r>
            <a:endParaRPr lang="en-US" sz="1200" dirty="0"/>
          </a:p>
        </p:txBody>
      </p:sp>
      <p:sp>
        <p:nvSpPr>
          <p:cNvPr id="12" name="Text 10"/>
          <p:cNvSpPr/>
          <p:nvPr/>
        </p:nvSpPr>
        <p:spPr>
          <a:xfrm>
            <a:off x="640080" y="4434840"/>
            <a:ext cx="4937760" cy="53035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Misses guilt-by-association signals</a:t>
            </a:r>
            <a:endParaRPr lang="en-US" sz="1200" dirty="0"/>
          </a:p>
        </p:txBody>
      </p:sp>
      <p:sp>
        <p:nvSpPr>
          <p:cNvPr id="13" name="Text 11"/>
          <p:cNvSpPr/>
          <p:nvPr/>
        </p:nvSpPr>
        <p:spPr>
          <a:xfrm>
            <a:off x="640080" y="5074920"/>
            <a:ext cx="4937760" cy="53035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Sees only 23% of the network (labelled nodes)</a:t>
            </a:r>
            <a:endParaRPr lang="en-US" sz="1200" dirty="0"/>
          </a:p>
        </p:txBody>
      </p:sp>
      <p:sp>
        <p:nvSpPr>
          <p:cNvPr id="14" name="Shape 12"/>
          <p:cNvSpPr/>
          <p:nvPr/>
        </p:nvSpPr>
        <p:spPr>
          <a:xfrm>
            <a:off x="6035040" y="960120"/>
            <a:ext cx="5669280" cy="5120640"/>
          </a:xfrm>
          <a:prstGeom prst="roundRect">
            <a:avLst>
              <a:gd name="adj" fmla="val 1429"/>
            </a:avLst>
          </a:prstGeom>
          <a:solidFill>
            <a:srgbClr val="1A2235"/>
          </a:solidFill>
          <a:ln w="6350">
            <a:solidFill>
              <a:srgbClr val="1E293B"/>
            </a:solidFill>
            <a:prstDash val="solid"/>
          </a:ln>
        </p:spPr>
        <p:txBody>
          <a:bodyPr/>
          <a:lstStyle/>
          <a:p>
            <a:endParaRPr lang="en-US"/>
          </a:p>
        </p:txBody>
      </p:sp>
      <p:sp>
        <p:nvSpPr>
          <p:cNvPr id="15" name="Text 13"/>
          <p:cNvSpPr/>
          <p:nvPr/>
        </p:nvSpPr>
        <p:spPr>
          <a:xfrm>
            <a:off x="6217920" y="1051560"/>
            <a:ext cx="5303520" cy="365760"/>
          </a:xfrm>
          <a:prstGeom prst="rect">
            <a:avLst/>
          </a:prstGeom>
          <a:noFill/>
          <a:ln/>
        </p:spPr>
        <p:txBody>
          <a:bodyPr wrap="square" rtlCol="0" anchor="ctr"/>
          <a:lstStyle/>
          <a:p>
            <a:pPr marL="0" indent="0">
              <a:buNone/>
            </a:pPr>
            <a:r>
              <a:rPr lang="en-US" sz="1400" b="1" dirty="0">
                <a:solidFill>
                  <a:srgbClr val="00C9A7"/>
                </a:solidFill>
                <a:latin typeface="Calibri" pitchFamily="34" charset="0"/>
                <a:ea typeface="Calibri" pitchFamily="34" charset="-122"/>
                <a:cs typeface="Calibri" pitchFamily="34" charset="-120"/>
              </a:rPr>
              <a:t>GraphSAGE GNN  (Hamilton et al. 2017)</a:t>
            </a:r>
            <a:endParaRPr lang="en-US" sz="1400" dirty="0"/>
          </a:p>
        </p:txBody>
      </p:sp>
      <p:sp>
        <p:nvSpPr>
          <p:cNvPr id="16" name="Text 14"/>
          <p:cNvSpPr/>
          <p:nvPr/>
        </p:nvSpPr>
        <p:spPr>
          <a:xfrm>
            <a:off x="6217920" y="1874520"/>
            <a:ext cx="5303520" cy="5303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Message passing: </a:t>
            </a:r>
            <a:r>
              <a:rPr lang="en-US" sz="1200" dirty="0">
                <a:solidFill>
                  <a:srgbClr val="FFFFFF"/>
                </a:solidFill>
                <a:latin typeface="Calibri" pitchFamily="34" charset="0"/>
                <a:ea typeface="Calibri" pitchFamily="34" charset="-122"/>
                <a:cs typeface="Calibri" pitchFamily="34" charset="-120"/>
              </a:rPr>
              <a:t>aggregates signals from neighbours across 3 hops</a:t>
            </a:r>
            <a:endParaRPr lang="en-US" sz="1200" dirty="0"/>
          </a:p>
        </p:txBody>
      </p:sp>
      <p:sp>
        <p:nvSpPr>
          <p:cNvPr id="17" name="Text 15"/>
          <p:cNvSpPr/>
          <p:nvPr/>
        </p:nvSpPr>
        <p:spPr>
          <a:xfrm>
            <a:off x="6217920" y="2514600"/>
            <a:ext cx="5303520" cy="5303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Inductive learning: </a:t>
            </a:r>
            <a:r>
              <a:rPr lang="en-US" sz="1200" dirty="0">
                <a:solidFill>
                  <a:srgbClr val="FFFFFF"/>
                </a:solidFill>
                <a:latin typeface="Calibri" pitchFamily="34" charset="0"/>
                <a:ea typeface="Calibri" pitchFamily="34" charset="-122"/>
                <a:cs typeface="Calibri" pitchFamily="34" charset="-120"/>
              </a:rPr>
              <a:t>generalises to 157,205 unlabelled nodes unseen during training</a:t>
            </a:r>
            <a:endParaRPr lang="en-US" sz="1200" dirty="0"/>
          </a:p>
        </p:txBody>
      </p:sp>
      <p:sp>
        <p:nvSpPr>
          <p:cNvPr id="18" name="Text 16"/>
          <p:cNvSpPr/>
          <p:nvPr/>
        </p:nvSpPr>
        <p:spPr>
          <a:xfrm>
            <a:off x="6217920" y="3154680"/>
            <a:ext cx="5303520" cy="5303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Mean aggregation: </a:t>
            </a:r>
            <a:r>
              <a:rPr lang="en-US" sz="1200" dirty="0">
                <a:solidFill>
                  <a:srgbClr val="FFFFFF"/>
                </a:solidFill>
                <a:latin typeface="Calibri" pitchFamily="34" charset="0"/>
                <a:ea typeface="Calibri" pitchFamily="34" charset="-122"/>
                <a:cs typeface="Calibri" pitchFamily="34" charset="-120"/>
              </a:rPr>
              <a:t>scalable to 200k+ nodes without memory issues</a:t>
            </a:r>
            <a:endParaRPr lang="en-US" sz="1200" dirty="0"/>
          </a:p>
        </p:txBody>
      </p:sp>
      <p:sp>
        <p:nvSpPr>
          <p:cNvPr id="19" name="Text 17"/>
          <p:cNvSpPr/>
          <p:nvPr/>
        </p:nvSpPr>
        <p:spPr>
          <a:xfrm>
            <a:off x="6217920" y="3794760"/>
            <a:ext cx="5303520" cy="5303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Graph structure: </a:t>
            </a:r>
            <a:r>
              <a:rPr lang="en-US" sz="1200" dirty="0">
                <a:solidFill>
                  <a:srgbClr val="FFFFFF"/>
                </a:solidFill>
                <a:latin typeface="Calibri" pitchFamily="34" charset="0"/>
                <a:ea typeface="Calibri" pitchFamily="34" charset="-122"/>
                <a:cs typeface="Calibri" pitchFamily="34" charset="-120"/>
              </a:rPr>
              <a:t>uses who you transact with, not just what you do</a:t>
            </a:r>
            <a:endParaRPr lang="en-US" sz="1200" dirty="0"/>
          </a:p>
        </p:txBody>
      </p:sp>
      <p:sp>
        <p:nvSpPr>
          <p:cNvPr id="20" name="Text 18"/>
          <p:cNvSpPr/>
          <p:nvPr/>
        </p:nvSpPr>
        <p:spPr>
          <a:xfrm>
            <a:off x="6217920" y="4434840"/>
            <a:ext cx="5303520" cy="5303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Neighbourhood: </a:t>
            </a:r>
            <a:r>
              <a:rPr lang="en-US" sz="1200" dirty="0">
                <a:solidFill>
                  <a:srgbClr val="FFFFFF"/>
                </a:solidFill>
                <a:latin typeface="Calibri" pitchFamily="34" charset="0"/>
                <a:ea typeface="Calibri" pitchFamily="34" charset="-122"/>
                <a:cs typeface="Calibri" pitchFamily="34" charset="-120"/>
              </a:rPr>
              <a:t>guilt-by-association is a first-class feature</a:t>
            </a:r>
            <a:endParaRPr lang="en-US" sz="1200" dirty="0"/>
          </a:p>
        </p:txBody>
      </p:sp>
      <p:sp>
        <p:nvSpPr>
          <p:cNvPr id="21" name="Text 19"/>
          <p:cNvSpPr/>
          <p:nvPr/>
        </p:nvSpPr>
        <p:spPr>
          <a:xfrm>
            <a:off x="6217920" y="5074920"/>
            <a:ext cx="5303520" cy="530352"/>
          </a:xfrm>
          <a:prstGeom prst="rect">
            <a:avLst/>
          </a:prstGeom>
          <a:noFill/>
          <a:ln/>
        </p:spPr>
        <p:txBody>
          <a:bodyPr wrap="square"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Full network: </a:t>
            </a:r>
            <a:r>
              <a:rPr lang="en-US" sz="1200" dirty="0">
                <a:solidFill>
                  <a:srgbClr val="FFFFFF"/>
                </a:solidFill>
                <a:latin typeface="Calibri" pitchFamily="34" charset="0"/>
                <a:ea typeface="Calibri" pitchFamily="34" charset="-122"/>
                <a:cs typeface="Calibri" pitchFamily="34" charset="-120"/>
              </a:rPr>
              <a:t>predictions for 100% of nodes after training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GraphSAGE Model Architecture</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1005840"/>
            <a:ext cx="2011680" cy="2926080"/>
          </a:xfrm>
          <a:prstGeom prst="roundRect">
            <a:avLst>
              <a:gd name="adj" fmla="val 3636"/>
            </a:avLst>
          </a:prstGeom>
          <a:solidFill>
            <a:srgbClr val="1A2235"/>
          </a:solidFill>
          <a:ln w="6350">
            <a:solidFill>
              <a:srgbClr val="1E293B"/>
            </a:solidFill>
            <a:prstDash val="solid"/>
          </a:ln>
        </p:spPr>
        <p:txBody>
          <a:bodyPr/>
          <a:lstStyle/>
          <a:p>
            <a:endParaRPr lang="en-US"/>
          </a:p>
        </p:txBody>
      </p:sp>
      <p:sp>
        <p:nvSpPr>
          <p:cNvPr id="7" name="Shape 5"/>
          <p:cNvSpPr/>
          <p:nvPr/>
        </p:nvSpPr>
        <p:spPr>
          <a:xfrm>
            <a:off x="457200" y="1005840"/>
            <a:ext cx="2011680" cy="475488"/>
          </a:xfrm>
          <a:prstGeom prst="rect">
            <a:avLst/>
          </a:prstGeom>
          <a:solidFill>
            <a:srgbClr val="8B949E"/>
          </a:solidFill>
          <a:ln w="12700">
            <a:solidFill>
              <a:srgbClr val="8B949E"/>
            </a:solidFill>
            <a:prstDash val="solid"/>
          </a:ln>
        </p:spPr>
        <p:txBody>
          <a:bodyPr/>
          <a:lstStyle/>
          <a:p>
            <a:endParaRPr lang="en-US"/>
          </a:p>
        </p:txBody>
      </p:sp>
      <p:sp>
        <p:nvSpPr>
          <p:cNvPr id="8" name="Text 6"/>
          <p:cNvSpPr/>
          <p:nvPr/>
        </p:nvSpPr>
        <p:spPr>
          <a:xfrm>
            <a:off x="502920" y="1024128"/>
            <a:ext cx="1920240" cy="438912"/>
          </a:xfrm>
          <a:prstGeom prst="rect">
            <a:avLst/>
          </a:prstGeom>
          <a:noFill/>
          <a:ln/>
        </p:spPr>
        <p:txBody>
          <a:bodyPr wrap="square" rtlCol="0" anchor="ctr"/>
          <a:lstStyle/>
          <a:p>
            <a:pPr marL="0" indent="0" algn="ctr">
              <a:buNone/>
            </a:pPr>
            <a:r>
              <a:rPr lang="en-US" sz="1100" b="1" dirty="0">
                <a:solidFill>
                  <a:srgbClr val="0A0E1A"/>
                </a:solidFill>
                <a:latin typeface="Calibri" pitchFamily="34" charset="0"/>
                <a:ea typeface="Calibri" pitchFamily="34" charset="-122"/>
                <a:cs typeface="Calibri" pitchFamily="34" charset="-120"/>
              </a:rPr>
              <a:t>Input</a:t>
            </a:r>
            <a:endParaRPr lang="en-US" sz="1100" dirty="0"/>
          </a:p>
          <a:p>
            <a:pPr marL="0" indent="0" algn="ctr">
              <a:buNone/>
            </a:pPr>
            <a:r>
              <a:rPr lang="en-US" sz="1100" b="1" dirty="0">
                <a:solidFill>
                  <a:srgbClr val="0A0E1A"/>
                </a:solidFill>
                <a:latin typeface="Calibri" pitchFamily="34" charset="0"/>
                <a:ea typeface="Calibri" pitchFamily="34" charset="-122"/>
                <a:cs typeface="Calibri" pitchFamily="34" charset="-120"/>
              </a:rPr>
              <a:t>Layer</a:t>
            </a:r>
            <a:endParaRPr lang="en-US" sz="1100" dirty="0"/>
          </a:p>
        </p:txBody>
      </p:sp>
      <p:sp>
        <p:nvSpPr>
          <p:cNvPr id="9" name="Text 7"/>
          <p:cNvSpPr/>
          <p:nvPr/>
        </p:nvSpPr>
        <p:spPr>
          <a:xfrm>
            <a:off x="548640" y="1572768"/>
            <a:ext cx="1828800" cy="2240280"/>
          </a:xfrm>
          <a:prstGeom prst="rect">
            <a:avLst/>
          </a:prstGeom>
          <a:noFill/>
          <a:ln/>
        </p:spPr>
        <p:txBody>
          <a:bodyPr wrap="square"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181 features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per node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StandardScaler</a:t>
            </a:r>
            <a:endParaRPr lang="en-US" sz="1050" dirty="0"/>
          </a:p>
        </p:txBody>
      </p:sp>
      <p:sp>
        <p:nvSpPr>
          <p:cNvPr id="10" name="Shape 8"/>
          <p:cNvSpPr/>
          <p:nvPr/>
        </p:nvSpPr>
        <p:spPr>
          <a:xfrm>
            <a:off x="2468880" y="2468880"/>
            <a:ext cx="822960" cy="0"/>
          </a:xfrm>
          <a:prstGeom prst="line">
            <a:avLst/>
          </a:prstGeom>
          <a:noFill/>
          <a:ln w="19050">
            <a:solidFill>
              <a:srgbClr val="00C9FF"/>
            </a:solidFill>
            <a:prstDash val="solid"/>
          </a:ln>
        </p:spPr>
        <p:txBody>
          <a:bodyPr/>
          <a:lstStyle/>
          <a:p>
            <a:endParaRPr lang="en-US"/>
          </a:p>
        </p:txBody>
      </p:sp>
      <p:sp>
        <p:nvSpPr>
          <p:cNvPr id="11" name="Text 9"/>
          <p:cNvSpPr/>
          <p:nvPr/>
        </p:nvSpPr>
        <p:spPr>
          <a:xfrm>
            <a:off x="2514600" y="2331720"/>
            <a:ext cx="731520" cy="274320"/>
          </a:xfrm>
          <a:prstGeom prst="rect">
            <a:avLst/>
          </a:prstGeom>
          <a:noFill/>
          <a:ln/>
        </p:spPr>
        <p:txBody>
          <a:bodyPr wrap="square" rtlCol="0" anchor="ctr"/>
          <a:lstStyle/>
          <a:p>
            <a:pPr marL="0" indent="0" algn="ctr">
              <a:buNone/>
            </a:pPr>
            <a:r>
              <a:rPr lang="en-US" sz="1400" dirty="0">
                <a:solidFill>
                  <a:srgbClr val="00C9F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834640" y="1005840"/>
            <a:ext cx="2011680" cy="2926080"/>
          </a:xfrm>
          <a:prstGeom prst="roundRect">
            <a:avLst>
              <a:gd name="adj" fmla="val 3636"/>
            </a:avLst>
          </a:prstGeom>
          <a:solidFill>
            <a:srgbClr val="1A2235"/>
          </a:solidFill>
          <a:ln w="6350">
            <a:solidFill>
              <a:srgbClr val="1E293B"/>
            </a:solidFill>
            <a:prstDash val="solid"/>
          </a:ln>
        </p:spPr>
        <p:txBody>
          <a:bodyPr/>
          <a:lstStyle/>
          <a:p>
            <a:endParaRPr lang="en-US"/>
          </a:p>
        </p:txBody>
      </p:sp>
      <p:sp>
        <p:nvSpPr>
          <p:cNvPr id="13" name="Shape 11"/>
          <p:cNvSpPr/>
          <p:nvPr/>
        </p:nvSpPr>
        <p:spPr>
          <a:xfrm>
            <a:off x="2834640" y="1005840"/>
            <a:ext cx="2011680" cy="475488"/>
          </a:xfrm>
          <a:prstGeom prst="rect">
            <a:avLst/>
          </a:prstGeom>
          <a:solidFill>
            <a:srgbClr val="00C9FF"/>
          </a:solidFill>
          <a:ln w="12700">
            <a:solidFill>
              <a:srgbClr val="00C9FF"/>
            </a:solidFill>
            <a:prstDash val="solid"/>
          </a:ln>
        </p:spPr>
        <p:txBody>
          <a:bodyPr/>
          <a:lstStyle/>
          <a:p>
            <a:endParaRPr lang="en-US"/>
          </a:p>
        </p:txBody>
      </p:sp>
      <p:sp>
        <p:nvSpPr>
          <p:cNvPr id="14" name="Text 12"/>
          <p:cNvSpPr/>
          <p:nvPr/>
        </p:nvSpPr>
        <p:spPr>
          <a:xfrm>
            <a:off x="2880360" y="1024128"/>
            <a:ext cx="1920240" cy="438912"/>
          </a:xfrm>
          <a:prstGeom prst="rect">
            <a:avLst/>
          </a:prstGeom>
          <a:noFill/>
          <a:ln/>
        </p:spPr>
        <p:txBody>
          <a:bodyPr wrap="square" rtlCol="0" anchor="ctr"/>
          <a:lstStyle/>
          <a:p>
            <a:pPr marL="0" indent="0" algn="ctr">
              <a:buNone/>
            </a:pPr>
            <a:r>
              <a:rPr lang="en-US" sz="1100" b="1" dirty="0">
                <a:solidFill>
                  <a:srgbClr val="0A0E1A"/>
                </a:solidFill>
                <a:latin typeface="Calibri" pitchFamily="34" charset="0"/>
                <a:ea typeface="Calibri" pitchFamily="34" charset="-122"/>
                <a:cs typeface="Calibri" pitchFamily="34" charset="-120"/>
              </a:rPr>
              <a:t>SAGEConv</a:t>
            </a:r>
            <a:endParaRPr lang="en-US" sz="1100" dirty="0"/>
          </a:p>
          <a:p>
            <a:pPr marL="0" indent="0" algn="ctr">
              <a:buNone/>
            </a:pPr>
            <a:r>
              <a:rPr lang="en-US" sz="1100" b="1" dirty="0">
                <a:solidFill>
                  <a:srgbClr val="0A0E1A"/>
                </a:solidFill>
                <a:latin typeface="Calibri" pitchFamily="34" charset="0"/>
                <a:ea typeface="Calibri" pitchFamily="34" charset="-122"/>
                <a:cs typeface="Calibri" pitchFamily="34" charset="-120"/>
              </a:rPr>
              <a:t>Layer 1</a:t>
            </a:r>
            <a:endParaRPr lang="en-US" sz="1100" dirty="0"/>
          </a:p>
        </p:txBody>
      </p:sp>
      <p:sp>
        <p:nvSpPr>
          <p:cNvPr id="15" name="Text 13"/>
          <p:cNvSpPr/>
          <p:nvPr/>
        </p:nvSpPr>
        <p:spPr>
          <a:xfrm>
            <a:off x="2926080" y="1572768"/>
            <a:ext cx="1828800" cy="2240280"/>
          </a:xfrm>
          <a:prstGeom prst="rect">
            <a:avLst/>
          </a:prstGeom>
          <a:noFill/>
          <a:ln/>
        </p:spPr>
        <p:txBody>
          <a:bodyPr wrap="square"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128 units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Mean aggr.</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BatchNorm</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ReLU Drop(0.4)</a:t>
            </a:r>
            <a:endParaRPr lang="en-US" sz="1050" dirty="0"/>
          </a:p>
        </p:txBody>
      </p:sp>
      <p:sp>
        <p:nvSpPr>
          <p:cNvPr id="16" name="Shape 14"/>
          <p:cNvSpPr/>
          <p:nvPr/>
        </p:nvSpPr>
        <p:spPr>
          <a:xfrm>
            <a:off x="4846320" y="2468880"/>
            <a:ext cx="822960" cy="0"/>
          </a:xfrm>
          <a:prstGeom prst="line">
            <a:avLst/>
          </a:prstGeom>
          <a:noFill/>
          <a:ln w="19050">
            <a:solidFill>
              <a:srgbClr val="00C9FF"/>
            </a:solidFill>
            <a:prstDash val="solid"/>
          </a:ln>
        </p:spPr>
        <p:txBody>
          <a:bodyPr/>
          <a:lstStyle/>
          <a:p>
            <a:endParaRPr lang="en-US"/>
          </a:p>
        </p:txBody>
      </p:sp>
      <p:sp>
        <p:nvSpPr>
          <p:cNvPr id="17" name="Text 15"/>
          <p:cNvSpPr/>
          <p:nvPr/>
        </p:nvSpPr>
        <p:spPr>
          <a:xfrm>
            <a:off x="4892040" y="2331720"/>
            <a:ext cx="731520" cy="274320"/>
          </a:xfrm>
          <a:prstGeom prst="rect">
            <a:avLst/>
          </a:prstGeom>
          <a:noFill/>
          <a:ln/>
        </p:spPr>
        <p:txBody>
          <a:bodyPr wrap="square" rtlCol="0" anchor="ctr"/>
          <a:lstStyle/>
          <a:p>
            <a:pPr marL="0" indent="0" algn="ctr">
              <a:buNone/>
            </a:pPr>
            <a:r>
              <a:rPr lang="en-US" sz="1400" dirty="0">
                <a:solidFill>
                  <a:srgbClr val="00C9FF"/>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5212080" y="1005840"/>
            <a:ext cx="2011680" cy="2926080"/>
          </a:xfrm>
          <a:prstGeom prst="roundRect">
            <a:avLst>
              <a:gd name="adj" fmla="val 3636"/>
            </a:avLst>
          </a:prstGeom>
          <a:solidFill>
            <a:srgbClr val="1A2235"/>
          </a:solidFill>
          <a:ln w="6350">
            <a:solidFill>
              <a:srgbClr val="1E293B"/>
            </a:solidFill>
            <a:prstDash val="solid"/>
          </a:ln>
        </p:spPr>
        <p:txBody>
          <a:bodyPr/>
          <a:lstStyle/>
          <a:p>
            <a:endParaRPr lang="en-US"/>
          </a:p>
        </p:txBody>
      </p:sp>
      <p:sp>
        <p:nvSpPr>
          <p:cNvPr id="19" name="Shape 17"/>
          <p:cNvSpPr/>
          <p:nvPr/>
        </p:nvSpPr>
        <p:spPr>
          <a:xfrm>
            <a:off x="5212080" y="1005840"/>
            <a:ext cx="2011680" cy="475488"/>
          </a:xfrm>
          <a:prstGeom prst="rect">
            <a:avLst/>
          </a:prstGeom>
          <a:solidFill>
            <a:srgbClr val="00C9FF"/>
          </a:solidFill>
          <a:ln w="12700">
            <a:solidFill>
              <a:srgbClr val="00C9FF"/>
            </a:solidFill>
            <a:prstDash val="solid"/>
          </a:ln>
        </p:spPr>
        <p:txBody>
          <a:bodyPr/>
          <a:lstStyle/>
          <a:p>
            <a:endParaRPr lang="en-US"/>
          </a:p>
        </p:txBody>
      </p:sp>
      <p:sp>
        <p:nvSpPr>
          <p:cNvPr id="20" name="Text 18"/>
          <p:cNvSpPr/>
          <p:nvPr/>
        </p:nvSpPr>
        <p:spPr>
          <a:xfrm>
            <a:off x="5257800" y="1024128"/>
            <a:ext cx="1920240" cy="438912"/>
          </a:xfrm>
          <a:prstGeom prst="rect">
            <a:avLst/>
          </a:prstGeom>
          <a:noFill/>
          <a:ln/>
        </p:spPr>
        <p:txBody>
          <a:bodyPr wrap="square" rtlCol="0" anchor="ctr"/>
          <a:lstStyle/>
          <a:p>
            <a:pPr marL="0" indent="0" algn="ctr">
              <a:buNone/>
            </a:pPr>
            <a:r>
              <a:rPr lang="en-US" sz="1100" b="1" dirty="0">
                <a:solidFill>
                  <a:srgbClr val="0A0E1A"/>
                </a:solidFill>
                <a:latin typeface="Calibri" pitchFamily="34" charset="0"/>
                <a:ea typeface="Calibri" pitchFamily="34" charset="-122"/>
                <a:cs typeface="Calibri" pitchFamily="34" charset="-120"/>
              </a:rPr>
              <a:t>SAGEConv</a:t>
            </a:r>
            <a:endParaRPr lang="en-US" sz="1100" dirty="0"/>
          </a:p>
          <a:p>
            <a:pPr marL="0" indent="0" algn="ctr">
              <a:buNone/>
            </a:pPr>
            <a:r>
              <a:rPr lang="en-US" sz="1100" b="1" dirty="0">
                <a:solidFill>
                  <a:srgbClr val="0A0E1A"/>
                </a:solidFill>
                <a:latin typeface="Calibri" pitchFamily="34" charset="0"/>
                <a:ea typeface="Calibri" pitchFamily="34" charset="-122"/>
                <a:cs typeface="Calibri" pitchFamily="34" charset="-120"/>
              </a:rPr>
              <a:t>Layer 2</a:t>
            </a:r>
            <a:endParaRPr lang="en-US" sz="1100" dirty="0"/>
          </a:p>
        </p:txBody>
      </p:sp>
      <p:sp>
        <p:nvSpPr>
          <p:cNvPr id="21" name="Text 19"/>
          <p:cNvSpPr/>
          <p:nvPr/>
        </p:nvSpPr>
        <p:spPr>
          <a:xfrm>
            <a:off x="5303520" y="1572768"/>
            <a:ext cx="1828800" cy="2240280"/>
          </a:xfrm>
          <a:prstGeom prst="rect">
            <a:avLst/>
          </a:prstGeom>
          <a:noFill/>
          <a:ln/>
        </p:spPr>
        <p:txBody>
          <a:bodyPr wrap="square"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128 units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Mean aggr.</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BatchNorm</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ReLU Drop(0.4)</a:t>
            </a:r>
            <a:endParaRPr lang="en-US" sz="1050" dirty="0"/>
          </a:p>
        </p:txBody>
      </p:sp>
      <p:sp>
        <p:nvSpPr>
          <p:cNvPr id="22" name="Shape 20"/>
          <p:cNvSpPr/>
          <p:nvPr/>
        </p:nvSpPr>
        <p:spPr>
          <a:xfrm>
            <a:off x="7223760" y="2468880"/>
            <a:ext cx="822960" cy="0"/>
          </a:xfrm>
          <a:prstGeom prst="line">
            <a:avLst/>
          </a:prstGeom>
          <a:noFill/>
          <a:ln w="19050">
            <a:solidFill>
              <a:srgbClr val="00C9FF"/>
            </a:solidFill>
            <a:prstDash val="solid"/>
          </a:ln>
        </p:spPr>
        <p:txBody>
          <a:bodyPr/>
          <a:lstStyle/>
          <a:p>
            <a:endParaRPr lang="en-US"/>
          </a:p>
        </p:txBody>
      </p:sp>
      <p:sp>
        <p:nvSpPr>
          <p:cNvPr id="23" name="Text 21"/>
          <p:cNvSpPr/>
          <p:nvPr/>
        </p:nvSpPr>
        <p:spPr>
          <a:xfrm>
            <a:off x="7269480" y="2331720"/>
            <a:ext cx="731520" cy="274320"/>
          </a:xfrm>
          <a:prstGeom prst="rect">
            <a:avLst/>
          </a:prstGeom>
          <a:noFill/>
          <a:ln/>
        </p:spPr>
        <p:txBody>
          <a:bodyPr wrap="square" rtlCol="0" anchor="ctr"/>
          <a:lstStyle/>
          <a:p>
            <a:pPr marL="0" indent="0" algn="ctr">
              <a:buNone/>
            </a:pPr>
            <a:r>
              <a:rPr lang="en-US" sz="1400" dirty="0">
                <a:solidFill>
                  <a:srgbClr val="00C9F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7589520" y="1005840"/>
            <a:ext cx="2011680" cy="2926080"/>
          </a:xfrm>
          <a:prstGeom prst="roundRect">
            <a:avLst>
              <a:gd name="adj" fmla="val 3636"/>
            </a:avLst>
          </a:prstGeom>
          <a:solidFill>
            <a:srgbClr val="1A2235"/>
          </a:solidFill>
          <a:ln w="6350">
            <a:solidFill>
              <a:srgbClr val="1E293B"/>
            </a:solidFill>
            <a:prstDash val="solid"/>
          </a:ln>
        </p:spPr>
        <p:txBody>
          <a:bodyPr/>
          <a:lstStyle/>
          <a:p>
            <a:endParaRPr lang="en-US"/>
          </a:p>
        </p:txBody>
      </p:sp>
      <p:sp>
        <p:nvSpPr>
          <p:cNvPr id="25" name="Shape 23"/>
          <p:cNvSpPr/>
          <p:nvPr/>
        </p:nvSpPr>
        <p:spPr>
          <a:xfrm>
            <a:off x="7589520" y="1005840"/>
            <a:ext cx="2011680" cy="475488"/>
          </a:xfrm>
          <a:prstGeom prst="rect">
            <a:avLst/>
          </a:prstGeom>
          <a:solidFill>
            <a:srgbClr val="FFD700"/>
          </a:solidFill>
          <a:ln w="12700">
            <a:solidFill>
              <a:srgbClr val="FFD700"/>
            </a:solidFill>
            <a:prstDash val="solid"/>
          </a:ln>
        </p:spPr>
        <p:txBody>
          <a:bodyPr/>
          <a:lstStyle/>
          <a:p>
            <a:endParaRPr lang="en-US"/>
          </a:p>
        </p:txBody>
      </p:sp>
      <p:sp>
        <p:nvSpPr>
          <p:cNvPr id="26" name="Text 24"/>
          <p:cNvSpPr/>
          <p:nvPr/>
        </p:nvSpPr>
        <p:spPr>
          <a:xfrm>
            <a:off x="7635240" y="1024128"/>
            <a:ext cx="1920240" cy="438912"/>
          </a:xfrm>
          <a:prstGeom prst="rect">
            <a:avLst/>
          </a:prstGeom>
          <a:noFill/>
          <a:ln/>
        </p:spPr>
        <p:txBody>
          <a:bodyPr wrap="square" rtlCol="0" anchor="ctr"/>
          <a:lstStyle/>
          <a:p>
            <a:pPr marL="0" indent="0" algn="ctr">
              <a:buNone/>
            </a:pPr>
            <a:r>
              <a:rPr lang="en-US" sz="1100" b="1" dirty="0">
                <a:solidFill>
                  <a:srgbClr val="0A0E1A"/>
                </a:solidFill>
                <a:latin typeface="Calibri" pitchFamily="34" charset="0"/>
                <a:ea typeface="Calibri" pitchFamily="34" charset="-122"/>
                <a:cs typeface="Calibri" pitchFamily="34" charset="-120"/>
              </a:rPr>
              <a:t>SAGEConv</a:t>
            </a:r>
            <a:endParaRPr lang="en-US" sz="1100" dirty="0"/>
          </a:p>
          <a:p>
            <a:pPr marL="0" indent="0" algn="ctr">
              <a:buNone/>
            </a:pPr>
            <a:r>
              <a:rPr lang="en-US" sz="1100" b="1" dirty="0">
                <a:solidFill>
                  <a:srgbClr val="0A0E1A"/>
                </a:solidFill>
                <a:latin typeface="Calibri" pitchFamily="34" charset="0"/>
                <a:ea typeface="Calibri" pitchFamily="34" charset="-122"/>
                <a:cs typeface="Calibri" pitchFamily="34" charset="-120"/>
              </a:rPr>
              <a:t>Layer 3</a:t>
            </a:r>
            <a:endParaRPr lang="en-US" sz="1100" dirty="0"/>
          </a:p>
        </p:txBody>
      </p:sp>
      <p:sp>
        <p:nvSpPr>
          <p:cNvPr id="27" name="Text 25"/>
          <p:cNvSpPr/>
          <p:nvPr/>
        </p:nvSpPr>
        <p:spPr>
          <a:xfrm>
            <a:off x="7680960" y="1572768"/>
            <a:ext cx="1828800" cy="2240280"/>
          </a:xfrm>
          <a:prstGeom prst="rect">
            <a:avLst/>
          </a:prstGeom>
          <a:noFill/>
          <a:ln/>
        </p:spPr>
        <p:txBody>
          <a:bodyPr wrap="square"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128 units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 Residual skip</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BatchNorm</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ReLU Drop(0.4)</a:t>
            </a:r>
            <a:endParaRPr lang="en-US" sz="1050" dirty="0"/>
          </a:p>
        </p:txBody>
      </p:sp>
      <p:sp>
        <p:nvSpPr>
          <p:cNvPr id="28" name="Shape 26"/>
          <p:cNvSpPr/>
          <p:nvPr/>
        </p:nvSpPr>
        <p:spPr>
          <a:xfrm>
            <a:off x="9601200" y="2468880"/>
            <a:ext cx="822960" cy="0"/>
          </a:xfrm>
          <a:prstGeom prst="line">
            <a:avLst/>
          </a:prstGeom>
          <a:noFill/>
          <a:ln w="19050">
            <a:solidFill>
              <a:srgbClr val="00C9FF"/>
            </a:solidFill>
            <a:prstDash val="solid"/>
          </a:ln>
        </p:spPr>
        <p:txBody>
          <a:bodyPr/>
          <a:lstStyle/>
          <a:p>
            <a:endParaRPr lang="en-US"/>
          </a:p>
        </p:txBody>
      </p:sp>
      <p:sp>
        <p:nvSpPr>
          <p:cNvPr id="29" name="Text 27"/>
          <p:cNvSpPr/>
          <p:nvPr/>
        </p:nvSpPr>
        <p:spPr>
          <a:xfrm>
            <a:off x="9646920" y="2331720"/>
            <a:ext cx="731520" cy="274320"/>
          </a:xfrm>
          <a:prstGeom prst="rect">
            <a:avLst/>
          </a:prstGeom>
          <a:noFill/>
          <a:ln/>
        </p:spPr>
        <p:txBody>
          <a:bodyPr wrap="square" rtlCol="0" anchor="ctr"/>
          <a:lstStyle/>
          <a:p>
            <a:pPr marL="0" indent="0" algn="ctr">
              <a:buNone/>
            </a:pPr>
            <a:r>
              <a:rPr lang="en-US" sz="1400" dirty="0">
                <a:solidFill>
                  <a:srgbClr val="00C9FF"/>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9966960" y="1005840"/>
            <a:ext cx="2011680" cy="2926080"/>
          </a:xfrm>
          <a:prstGeom prst="roundRect">
            <a:avLst>
              <a:gd name="adj" fmla="val 3636"/>
            </a:avLst>
          </a:prstGeom>
          <a:solidFill>
            <a:srgbClr val="1A2235"/>
          </a:solidFill>
          <a:ln w="6350">
            <a:solidFill>
              <a:srgbClr val="1E293B"/>
            </a:solidFill>
            <a:prstDash val="solid"/>
          </a:ln>
        </p:spPr>
        <p:txBody>
          <a:bodyPr/>
          <a:lstStyle/>
          <a:p>
            <a:endParaRPr lang="en-US"/>
          </a:p>
        </p:txBody>
      </p:sp>
      <p:sp>
        <p:nvSpPr>
          <p:cNvPr id="31" name="Shape 29"/>
          <p:cNvSpPr/>
          <p:nvPr/>
        </p:nvSpPr>
        <p:spPr>
          <a:xfrm>
            <a:off x="9966960" y="1005840"/>
            <a:ext cx="2011680" cy="475488"/>
          </a:xfrm>
          <a:prstGeom prst="rect">
            <a:avLst/>
          </a:prstGeom>
          <a:solidFill>
            <a:srgbClr val="00C9A7"/>
          </a:solidFill>
          <a:ln w="12700">
            <a:solidFill>
              <a:srgbClr val="00C9A7"/>
            </a:solidFill>
            <a:prstDash val="solid"/>
          </a:ln>
        </p:spPr>
        <p:txBody>
          <a:bodyPr/>
          <a:lstStyle/>
          <a:p>
            <a:endParaRPr lang="en-US"/>
          </a:p>
        </p:txBody>
      </p:sp>
      <p:sp>
        <p:nvSpPr>
          <p:cNvPr id="32" name="Text 30"/>
          <p:cNvSpPr/>
          <p:nvPr/>
        </p:nvSpPr>
        <p:spPr>
          <a:xfrm>
            <a:off x="10012680" y="1024128"/>
            <a:ext cx="1920240" cy="438912"/>
          </a:xfrm>
          <a:prstGeom prst="rect">
            <a:avLst/>
          </a:prstGeom>
          <a:noFill/>
          <a:ln/>
        </p:spPr>
        <p:txBody>
          <a:bodyPr wrap="square" rtlCol="0" anchor="ctr"/>
          <a:lstStyle/>
          <a:p>
            <a:pPr marL="0" indent="0" algn="ctr">
              <a:buNone/>
            </a:pPr>
            <a:r>
              <a:rPr lang="en-US" sz="1100" b="1" dirty="0">
                <a:solidFill>
                  <a:srgbClr val="0A0E1A"/>
                </a:solidFill>
                <a:latin typeface="Calibri" pitchFamily="34" charset="0"/>
                <a:ea typeface="Calibri" pitchFamily="34" charset="-122"/>
                <a:cs typeface="Calibri" pitchFamily="34" charset="-120"/>
              </a:rPr>
              <a:t>Output</a:t>
            </a:r>
            <a:endParaRPr lang="en-US" sz="1100" dirty="0"/>
          </a:p>
          <a:p>
            <a:pPr marL="0" indent="0" algn="ctr">
              <a:buNone/>
            </a:pPr>
            <a:r>
              <a:rPr lang="en-US" sz="1100" b="1" dirty="0">
                <a:solidFill>
                  <a:srgbClr val="0A0E1A"/>
                </a:solidFill>
                <a:latin typeface="Calibri" pitchFamily="34" charset="0"/>
                <a:ea typeface="Calibri" pitchFamily="34" charset="-122"/>
                <a:cs typeface="Calibri" pitchFamily="34" charset="-120"/>
              </a:rPr>
              <a:t>Layer</a:t>
            </a:r>
            <a:endParaRPr lang="en-US" sz="1100" dirty="0"/>
          </a:p>
        </p:txBody>
      </p:sp>
      <p:sp>
        <p:nvSpPr>
          <p:cNvPr id="33" name="Text 31"/>
          <p:cNvSpPr/>
          <p:nvPr/>
        </p:nvSpPr>
        <p:spPr>
          <a:xfrm>
            <a:off x="10058400" y="1572768"/>
            <a:ext cx="1828800" cy="2240280"/>
          </a:xfrm>
          <a:prstGeom prst="rect">
            <a:avLst/>
          </a:prstGeom>
          <a:noFill/>
          <a:ln/>
        </p:spPr>
        <p:txBody>
          <a:bodyPr wrap="square" rtlCol="0" anchor="t"/>
          <a:lstStyle/>
          <a:p>
            <a:pPr marL="0" indent="0" algn="ctr">
              <a:buNone/>
            </a:pPr>
            <a:r>
              <a:rPr lang="en-US" sz="1050" dirty="0">
                <a:solidFill>
                  <a:srgbClr val="FFFFFF"/>
                </a:solidFill>
                <a:latin typeface="Calibri" pitchFamily="34" charset="0"/>
                <a:ea typeface="Calibri" pitchFamily="34" charset="-122"/>
                <a:cs typeface="Calibri" pitchFamily="34" charset="-120"/>
              </a:rPr>
              <a:t>2 classes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Licit/Illicit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Softmax</a:t>
            </a:r>
            <a:endParaRPr lang="en-US" sz="1050" dirty="0"/>
          </a:p>
        </p:txBody>
      </p:sp>
      <p:sp>
        <p:nvSpPr>
          <p:cNvPr id="34" name="Shape 32"/>
          <p:cNvSpPr/>
          <p:nvPr/>
        </p:nvSpPr>
        <p:spPr>
          <a:xfrm>
            <a:off x="457200" y="4114800"/>
            <a:ext cx="11247120" cy="2011680"/>
          </a:xfrm>
          <a:prstGeom prst="roundRect">
            <a:avLst>
              <a:gd name="adj" fmla="val 3636"/>
            </a:avLst>
          </a:prstGeom>
          <a:solidFill>
            <a:srgbClr val="1A2235"/>
          </a:solidFill>
          <a:ln w="6350">
            <a:solidFill>
              <a:srgbClr val="1E293B"/>
            </a:solidFill>
            <a:prstDash val="solid"/>
          </a:ln>
        </p:spPr>
        <p:txBody>
          <a:bodyPr/>
          <a:lstStyle/>
          <a:p>
            <a:endParaRPr lang="en-US"/>
          </a:p>
        </p:txBody>
      </p:sp>
      <p:sp>
        <p:nvSpPr>
          <p:cNvPr id="35" name="Text 33"/>
          <p:cNvSpPr/>
          <p:nvPr/>
        </p:nvSpPr>
        <p:spPr>
          <a:xfrm>
            <a:off x="640080" y="4206240"/>
            <a:ext cx="10881360" cy="320040"/>
          </a:xfrm>
          <a:prstGeom prst="rect">
            <a:avLst/>
          </a:prstGeom>
          <a:noFill/>
          <a:ln/>
        </p:spPr>
        <p:txBody>
          <a:bodyPr wrap="square" rtlCol="0" anchor="ctr"/>
          <a:lstStyle/>
          <a:p>
            <a:pPr marL="0" indent="0">
              <a:buNone/>
            </a:pPr>
            <a:r>
              <a:rPr lang="en-US" sz="1300" b="1" dirty="0">
                <a:solidFill>
                  <a:srgbClr val="00C9FF"/>
                </a:solidFill>
                <a:latin typeface="Calibri" pitchFamily="34" charset="0"/>
                <a:ea typeface="Calibri" pitchFamily="34" charset="-122"/>
                <a:cs typeface="Calibri" pitchFamily="34" charset="-120"/>
              </a:rPr>
              <a:t>Training Configuration</a:t>
            </a:r>
            <a:endParaRPr lang="en-US" sz="1300" dirty="0"/>
          </a:p>
        </p:txBody>
      </p:sp>
      <p:sp>
        <p:nvSpPr>
          <p:cNvPr id="36" name="Text 34"/>
          <p:cNvSpPr/>
          <p:nvPr/>
        </p:nvSpPr>
        <p:spPr>
          <a:xfrm>
            <a:off x="640080" y="4617720"/>
            <a:ext cx="1463040" cy="457200"/>
          </a:xfrm>
          <a:prstGeom prst="rect">
            <a:avLst/>
          </a:prstGeom>
          <a:noFill/>
          <a:ln/>
        </p:spPr>
        <p:txBody>
          <a:bodyPr wrap="square"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Parameters: </a:t>
            </a:r>
            <a:endParaRPr lang="en-US" sz="1050" dirty="0"/>
          </a:p>
        </p:txBody>
      </p:sp>
      <p:sp>
        <p:nvSpPr>
          <p:cNvPr id="37" name="Text 35"/>
          <p:cNvSpPr/>
          <p:nvPr/>
        </p:nvSpPr>
        <p:spPr>
          <a:xfrm>
            <a:off x="2103120" y="4617720"/>
            <a:ext cx="219456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113,282 trainable</a:t>
            </a:r>
            <a:endParaRPr lang="en-US" sz="1050" dirty="0"/>
          </a:p>
        </p:txBody>
      </p:sp>
      <p:sp>
        <p:nvSpPr>
          <p:cNvPr id="38" name="Text 36"/>
          <p:cNvSpPr/>
          <p:nvPr/>
        </p:nvSpPr>
        <p:spPr>
          <a:xfrm>
            <a:off x="4389120" y="4617720"/>
            <a:ext cx="1463040" cy="457200"/>
          </a:xfrm>
          <a:prstGeom prst="rect">
            <a:avLst/>
          </a:prstGeom>
          <a:noFill/>
          <a:ln/>
        </p:spPr>
        <p:txBody>
          <a:bodyPr wrap="square"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Optimiser: </a:t>
            </a:r>
            <a:endParaRPr lang="en-US" sz="1050" dirty="0"/>
          </a:p>
        </p:txBody>
      </p:sp>
      <p:sp>
        <p:nvSpPr>
          <p:cNvPr id="39" name="Text 37"/>
          <p:cNvSpPr/>
          <p:nvPr/>
        </p:nvSpPr>
        <p:spPr>
          <a:xfrm>
            <a:off x="5852160" y="4617720"/>
            <a:ext cx="219456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Adam  lr=1e-3  weight_decay=5e-4</a:t>
            </a:r>
            <a:endParaRPr lang="en-US" sz="1050" dirty="0"/>
          </a:p>
        </p:txBody>
      </p:sp>
      <p:sp>
        <p:nvSpPr>
          <p:cNvPr id="40" name="Text 38"/>
          <p:cNvSpPr/>
          <p:nvPr/>
        </p:nvSpPr>
        <p:spPr>
          <a:xfrm>
            <a:off x="8138160" y="4617720"/>
            <a:ext cx="1463040" cy="457200"/>
          </a:xfrm>
          <a:prstGeom prst="rect">
            <a:avLst/>
          </a:prstGeom>
          <a:noFill/>
          <a:ln/>
        </p:spPr>
        <p:txBody>
          <a:bodyPr wrap="square"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Scheduler: </a:t>
            </a:r>
            <a:endParaRPr lang="en-US" sz="1050" dirty="0"/>
          </a:p>
        </p:txBody>
      </p:sp>
      <p:sp>
        <p:nvSpPr>
          <p:cNvPr id="41" name="Text 39"/>
          <p:cNvSpPr/>
          <p:nvPr/>
        </p:nvSpPr>
        <p:spPr>
          <a:xfrm>
            <a:off x="9601200" y="4617720"/>
            <a:ext cx="219456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ReduceLROnPlateau  patience=10  factor=0.5</a:t>
            </a:r>
            <a:endParaRPr lang="en-US" sz="1050" dirty="0"/>
          </a:p>
        </p:txBody>
      </p:sp>
      <p:sp>
        <p:nvSpPr>
          <p:cNvPr id="42" name="Text 40"/>
          <p:cNvSpPr/>
          <p:nvPr/>
        </p:nvSpPr>
        <p:spPr>
          <a:xfrm>
            <a:off x="640080" y="5184648"/>
            <a:ext cx="1463040" cy="457200"/>
          </a:xfrm>
          <a:prstGeom prst="rect">
            <a:avLst/>
          </a:prstGeom>
          <a:noFill/>
          <a:ln/>
        </p:spPr>
        <p:txBody>
          <a:bodyPr wrap="square"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Loss function: </a:t>
            </a:r>
            <a:endParaRPr lang="en-US" sz="1050" dirty="0"/>
          </a:p>
        </p:txBody>
      </p:sp>
      <p:sp>
        <p:nvSpPr>
          <p:cNvPr id="43" name="Text 41"/>
          <p:cNvSpPr/>
          <p:nvPr/>
        </p:nvSpPr>
        <p:spPr>
          <a:xfrm>
            <a:off x="2103120" y="5184648"/>
            <a:ext cx="219456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Weighted CrossEntropy  (illicit weight: 7.63×)</a:t>
            </a:r>
            <a:endParaRPr lang="en-US" sz="1050" dirty="0"/>
          </a:p>
        </p:txBody>
      </p:sp>
      <p:sp>
        <p:nvSpPr>
          <p:cNvPr id="44" name="Text 42"/>
          <p:cNvSpPr/>
          <p:nvPr/>
        </p:nvSpPr>
        <p:spPr>
          <a:xfrm>
            <a:off x="4389120" y="5184648"/>
            <a:ext cx="1463040" cy="457200"/>
          </a:xfrm>
          <a:prstGeom prst="rect">
            <a:avLst/>
          </a:prstGeom>
          <a:noFill/>
          <a:ln/>
        </p:spPr>
        <p:txBody>
          <a:bodyPr wrap="square"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Epochs: </a:t>
            </a:r>
            <a:endParaRPr lang="en-US" sz="1050" dirty="0"/>
          </a:p>
        </p:txBody>
      </p:sp>
      <p:sp>
        <p:nvSpPr>
          <p:cNvPr id="45" name="Text 43"/>
          <p:cNvSpPr/>
          <p:nvPr/>
        </p:nvSpPr>
        <p:spPr>
          <a:xfrm>
            <a:off x="5852160" y="5184648"/>
            <a:ext cx="219456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200  ·  best checkpoint saved by F1 score</a:t>
            </a:r>
            <a:endParaRPr lang="en-US" sz="1050" dirty="0"/>
          </a:p>
        </p:txBody>
      </p:sp>
      <p:sp>
        <p:nvSpPr>
          <p:cNvPr id="46" name="Text 44"/>
          <p:cNvSpPr/>
          <p:nvPr/>
        </p:nvSpPr>
        <p:spPr>
          <a:xfrm>
            <a:off x="8138160" y="5184648"/>
            <a:ext cx="1463040" cy="457200"/>
          </a:xfrm>
          <a:prstGeom prst="rect">
            <a:avLst/>
          </a:prstGeom>
          <a:noFill/>
          <a:ln/>
        </p:spPr>
        <p:txBody>
          <a:bodyPr wrap="square"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Train/Test split: </a:t>
            </a:r>
            <a:endParaRPr lang="en-US" sz="1050" dirty="0"/>
          </a:p>
        </p:txBody>
      </p:sp>
      <p:sp>
        <p:nvSpPr>
          <p:cNvPr id="47" name="Text 45"/>
          <p:cNvSpPr/>
          <p:nvPr/>
        </p:nvSpPr>
        <p:spPr>
          <a:xfrm>
            <a:off x="9601200" y="5184648"/>
            <a:ext cx="2194560" cy="4572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Temporal  ·  steps 1–34 train  ·  steps 35–49 test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dirty="0"/>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Model Results — Test Set (Time Steps 35–49)</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2743200" cy="1554480"/>
          </a:xfrm>
          <a:prstGeom prst="roundRect">
            <a:avLst>
              <a:gd name="adj" fmla="val 4706"/>
            </a:avLst>
          </a:prstGeom>
          <a:solidFill>
            <a:srgbClr val="1A2235"/>
          </a:solidFill>
          <a:ln w="6350">
            <a:solidFill>
              <a:srgbClr val="1E293B"/>
            </a:solidFill>
            <a:prstDash val="solid"/>
          </a:ln>
        </p:spPr>
        <p:txBody>
          <a:bodyPr/>
          <a:lstStyle/>
          <a:p>
            <a:endParaRPr lang="en-US"/>
          </a:p>
        </p:txBody>
      </p:sp>
      <p:sp>
        <p:nvSpPr>
          <p:cNvPr id="7" name="Text 5"/>
          <p:cNvSpPr/>
          <p:nvPr/>
        </p:nvSpPr>
        <p:spPr>
          <a:xfrm>
            <a:off x="457200" y="1005840"/>
            <a:ext cx="2743200" cy="777240"/>
          </a:xfrm>
          <a:prstGeom prst="rect">
            <a:avLst/>
          </a:prstGeom>
          <a:noFill/>
          <a:ln/>
        </p:spPr>
        <p:txBody>
          <a:bodyPr wrap="square" rtlCol="0" anchor="ctr"/>
          <a:lstStyle/>
          <a:p>
            <a:pPr marL="0" indent="0" algn="ctr">
              <a:buNone/>
            </a:pPr>
            <a:r>
              <a:rPr lang="en-US" sz="3200" b="1" dirty="0">
                <a:solidFill>
                  <a:srgbClr val="00C9A7"/>
                </a:solidFill>
                <a:latin typeface="Calibri" pitchFamily="34" charset="0"/>
                <a:ea typeface="Calibri" pitchFamily="34" charset="-122"/>
                <a:cs typeface="Calibri" pitchFamily="34" charset="-120"/>
              </a:rPr>
              <a:t>0.957</a:t>
            </a:r>
            <a:endParaRPr lang="en-US" sz="3200" dirty="0"/>
          </a:p>
        </p:txBody>
      </p:sp>
      <p:sp>
        <p:nvSpPr>
          <p:cNvPr id="8" name="Text 6"/>
          <p:cNvSpPr/>
          <p:nvPr/>
        </p:nvSpPr>
        <p:spPr>
          <a:xfrm>
            <a:off x="457200" y="1737360"/>
            <a:ext cx="2743200" cy="320040"/>
          </a:xfrm>
          <a:prstGeom prst="rect">
            <a:avLst/>
          </a:prstGeom>
          <a:noFill/>
          <a:ln/>
        </p:spPr>
        <p:txBody>
          <a:bodyPr wrap="square" rtlCol="0" anchor="ctr"/>
          <a:lstStyle/>
          <a:p>
            <a:pPr marL="0" indent="0" algn="ctr">
              <a:buNone/>
            </a:pPr>
            <a:r>
              <a:rPr lang="en-US" sz="1100" b="1" dirty="0">
                <a:solidFill>
                  <a:srgbClr val="00C9A7"/>
                </a:solidFill>
                <a:latin typeface="Calibri" pitchFamily="34" charset="0"/>
                <a:ea typeface="Calibri" pitchFamily="34" charset="-122"/>
                <a:cs typeface="Calibri" pitchFamily="34" charset="-120"/>
              </a:rPr>
              <a:t>AUC-ROC</a:t>
            </a:r>
            <a:endParaRPr lang="en-US" sz="1100" dirty="0"/>
          </a:p>
        </p:txBody>
      </p:sp>
      <p:sp>
        <p:nvSpPr>
          <p:cNvPr id="9" name="Shape 7"/>
          <p:cNvSpPr/>
          <p:nvPr/>
        </p:nvSpPr>
        <p:spPr>
          <a:xfrm>
            <a:off x="457200" y="2606040"/>
            <a:ext cx="2743200" cy="1188720"/>
          </a:xfrm>
          <a:prstGeom prst="roundRect">
            <a:avLst>
              <a:gd name="adj" fmla="val 5333"/>
            </a:avLst>
          </a:prstGeom>
          <a:solidFill>
            <a:srgbClr val="151E2E"/>
          </a:solidFill>
          <a:ln w="6350">
            <a:solidFill>
              <a:srgbClr val="1E293B"/>
            </a:solidFill>
            <a:prstDash val="solid"/>
          </a:ln>
        </p:spPr>
        <p:txBody>
          <a:bodyPr/>
          <a:lstStyle/>
          <a:p>
            <a:endParaRPr lang="en-US"/>
          </a:p>
        </p:txBody>
      </p:sp>
      <p:sp>
        <p:nvSpPr>
          <p:cNvPr id="10" name="Text 8"/>
          <p:cNvSpPr/>
          <p:nvPr/>
        </p:nvSpPr>
        <p:spPr>
          <a:xfrm>
            <a:off x="566928" y="2697480"/>
            <a:ext cx="2523744"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Model ranks a fraudulent wallet above a legitimate one in 95.7% of cases</a:t>
            </a:r>
            <a:endParaRPr lang="en-US" sz="1400" dirty="0"/>
          </a:p>
        </p:txBody>
      </p:sp>
      <p:sp>
        <p:nvSpPr>
          <p:cNvPr id="11" name="Shape 9"/>
          <p:cNvSpPr/>
          <p:nvPr/>
        </p:nvSpPr>
        <p:spPr>
          <a:xfrm>
            <a:off x="3401568" y="960120"/>
            <a:ext cx="2743200" cy="1554480"/>
          </a:xfrm>
          <a:prstGeom prst="roundRect">
            <a:avLst>
              <a:gd name="adj" fmla="val 4706"/>
            </a:avLst>
          </a:prstGeom>
          <a:solidFill>
            <a:srgbClr val="1A2235"/>
          </a:solidFill>
          <a:ln w="6350">
            <a:solidFill>
              <a:srgbClr val="1E293B"/>
            </a:solidFill>
            <a:prstDash val="solid"/>
          </a:ln>
        </p:spPr>
        <p:txBody>
          <a:bodyPr/>
          <a:lstStyle/>
          <a:p>
            <a:endParaRPr lang="en-US"/>
          </a:p>
        </p:txBody>
      </p:sp>
      <p:sp>
        <p:nvSpPr>
          <p:cNvPr id="12" name="Text 10"/>
          <p:cNvSpPr/>
          <p:nvPr/>
        </p:nvSpPr>
        <p:spPr>
          <a:xfrm>
            <a:off x="3401568" y="1005840"/>
            <a:ext cx="2743200" cy="777240"/>
          </a:xfrm>
          <a:prstGeom prst="rect">
            <a:avLst/>
          </a:prstGeom>
          <a:noFill/>
          <a:ln/>
        </p:spPr>
        <p:txBody>
          <a:bodyPr wrap="square" rtlCol="0" anchor="ctr"/>
          <a:lstStyle/>
          <a:p>
            <a:pPr marL="0" indent="0" algn="ctr">
              <a:buNone/>
            </a:pPr>
            <a:r>
              <a:rPr lang="en-US" sz="3200" b="1" dirty="0">
                <a:solidFill>
                  <a:srgbClr val="FF4444"/>
                </a:solidFill>
                <a:latin typeface="Calibri" pitchFamily="34" charset="0"/>
                <a:ea typeface="Calibri" pitchFamily="34" charset="-122"/>
                <a:cs typeface="Calibri" pitchFamily="34" charset="-120"/>
              </a:rPr>
              <a:t>0.910</a:t>
            </a:r>
            <a:endParaRPr lang="en-US" sz="3200" dirty="0"/>
          </a:p>
        </p:txBody>
      </p:sp>
      <p:sp>
        <p:nvSpPr>
          <p:cNvPr id="13" name="Text 11"/>
          <p:cNvSpPr/>
          <p:nvPr/>
        </p:nvSpPr>
        <p:spPr>
          <a:xfrm>
            <a:off x="3401568" y="1737360"/>
            <a:ext cx="2743200" cy="320040"/>
          </a:xfrm>
          <a:prstGeom prst="rect">
            <a:avLst/>
          </a:prstGeom>
          <a:noFill/>
          <a:ln/>
        </p:spPr>
        <p:txBody>
          <a:bodyPr wrap="square" rtlCol="0" anchor="ctr"/>
          <a:lstStyle/>
          <a:p>
            <a:pPr marL="0" indent="0" algn="ctr">
              <a:buNone/>
            </a:pPr>
            <a:r>
              <a:rPr lang="en-US" sz="1100" b="1" dirty="0">
                <a:solidFill>
                  <a:srgbClr val="FF4444"/>
                </a:solidFill>
                <a:latin typeface="Calibri" pitchFamily="34" charset="0"/>
                <a:ea typeface="Calibri" pitchFamily="34" charset="-122"/>
                <a:cs typeface="Calibri" pitchFamily="34" charset="-120"/>
              </a:rPr>
              <a:t>Recall (Illicit)</a:t>
            </a:r>
            <a:endParaRPr lang="en-US" sz="1100" dirty="0"/>
          </a:p>
        </p:txBody>
      </p:sp>
      <p:sp>
        <p:nvSpPr>
          <p:cNvPr id="14" name="Shape 12"/>
          <p:cNvSpPr/>
          <p:nvPr/>
        </p:nvSpPr>
        <p:spPr>
          <a:xfrm>
            <a:off x="3401568" y="2606040"/>
            <a:ext cx="2743200" cy="1188720"/>
          </a:xfrm>
          <a:prstGeom prst="roundRect">
            <a:avLst>
              <a:gd name="adj" fmla="val 5333"/>
            </a:avLst>
          </a:prstGeom>
          <a:solidFill>
            <a:srgbClr val="151E2E"/>
          </a:solidFill>
          <a:ln w="6350">
            <a:solidFill>
              <a:srgbClr val="1E293B"/>
            </a:solidFill>
            <a:prstDash val="solid"/>
          </a:ln>
        </p:spPr>
        <p:txBody>
          <a:bodyPr/>
          <a:lstStyle/>
          <a:p>
            <a:endParaRPr lang="en-US"/>
          </a:p>
        </p:txBody>
      </p:sp>
      <p:sp>
        <p:nvSpPr>
          <p:cNvPr id="15" name="Text 13"/>
          <p:cNvSpPr/>
          <p:nvPr/>
        </p:nvSpPr>
        <p:spPr>
          <a:xfrm>
            <a:off x="3511296" y="2697480"/>
            <a:ext cx="2523744"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9 out of every 10 confirmed illicit wallets caught in the held-out test period</a:t>
            </a:r>
            <a:endParaRPr lang="en-US" sz="1400" dirty="0"/>
          </a:p>
        </p:txBody>
      </p:sp>
      <p:sp>
        <p:nvSpPr>
          <p:cNvPr id="16" name="Shape 14"/>
          <p:cNvSpPr/>
          <p:nvPr/>
        </p:nvSpPr>
        <p:spPr>
          <a:xfrm>
            <a:off x="6345936" y="960120"/>
            <a:ext cx="2743200" cy="1554480"/>
          </a:xfrm>
          <a:prstGeom prst="roundRect">
            <a:avLst>
              <a:gd name="adj" fmla="val 4706"/>
            </a:avLst>
          </a:prstGeom>
          <a:solidFill>
            <a:srgbClr val="1A2235"/>
          </a:solidFill>
          <a:ln w="6350">
            <a:solidFill>
              <a:srgbClr val="1E293B"/>
            </a:solidFill>
            <a:prstDash val="solid"/>
          </a:ln>
        </p:spPr>
        <p:txBody>
          <a:bodyPr/>
          <a:lstStyle/>
          <a:p>
            <a:endParaRPr lang="en-US"/>
          </a:p>
        </p:txBody>
      </p:sp>
      <p:sp>
        <p:nvSpPr>
          <p:cNvPr id="17" name="Text 15"/>
          <p:cNvSpPr/>
          <p:nvPr/>
        </p:nvSpPr>
        <p:spPr>
          <a:xfrm>
            <a:off x="6345936" y="1005840"/>
            <a:ext cx="2743200" cy="777240"/>
          </a:xfrm>
          <a:prstGeom prst="rect">
            <a:avLst/>
          </a:prstGeom>
          <a:noFill/>
          <a:ln/>
        </p:spPr>
        <p:txBody>
          <a:bodyPr wrap="square" rtlCol="0" anchor="ctr"/>
          <a:lstStyle/>
          <a:p>
            <a:pPr marL="0" indent="0" algn="ctr">
              <a:buNone/>
            </a:pPr>
            <a:r>
              <a:rPr lang="en-US" sz="3200" b="1" dirty="0">
                <a:solidFill>
                  <a:srgbClr val="00C9FF"/>
                </a:solidFill>
                <a:latin typeface="Calibri" pitchFamily="34" charset="0"/>
                <a:ea typeface="Calibri" pitchFamily="34" charset="-122"/>
                <a:cs typeface="Calibri" pitchFamily="34" charset="-120"/>
              </a:rPr>
              <a:t>0.424</a:t>
            </a:r>
            <a:endParaRPr lang="en-US" sz="3200" dirty="0"/>
          </a:p>
        </p:txBody>
      </p:sp>
      <p:sp>
        <p:nvSpPr>
          <p:cNvPr id="18" name="Text 16"/>
          <p:cNvSpPr/>
          <p:nvPr/>
        </p:nvSpPr>
        <p:spPr>
          <a:xfrm>
            <a:off x="6345936" y="1737360"/>
            <a:ext cx="2743200" cy="320040"/>
          </a:xfrm>
          <a:prstGeom prst="rect">
            <a:avLst/>
          </a:prstGeom>
          <a:noFill/>
          <a:ln/>
        </p:spPr>
        <p:txBody>
          <a:bodyPr wrap="square" rtlCol="0" anchor="ctr"/>
          <a:lstStyle/>
          <a:p>
            <a:pPr marL="0" indent="0" algn="ctr">
              <a:buNone/>
            </a:pPr>
            <a:r>
              <a:rPr lang="en-US" sz="1100" b="1" dirty="0">
                <a:solidFill>
                  <a:srgbClr val="00C9FF"/>
                </a:solidFill>
                <a:latin typeface="Calibri" pitchFamily="34" charset="0"/>
                <a:ea typeface="Calibri" pitchFamily="34" charset="-122"/>
                <a:cs typeface="Calibri" pitchFamily="34" charset="-120"/>
              </a:rPr>
              <a:t>F1 Score</a:t>
            </a:r>
            <a:endParaRPr lang="en-US" sz="1100" dirty="0"/>
          </a:p>
        </p:txBody>
      </p:sp>
      <p:sp>
        <p:nvSpPr>
          <p:cNvPr id="19" name="Shape 17"/>
          <p:cNvSpPr/>
          <p:nvPr/>
        </p:nvSpPr>
        <p:spPr>
          <a:xfrm>
            <a:off x="6345936" y="2606040"/>
            <a:ext cx="2743200" cy="1188720"/>
          </a:xfrm>
          <a:prstGeom prst="roundRect">
            <a:avLst>
              <a:gd name="adj" fmla="val 5333"/>
            </a:avLst>
          </a:prstGeom>
          <a:solidFill>
            <a:srgbClr val="151E2E"/>
          </a:solidFill>
          <a:ln w="6350">
            <a:solidFill>
              <a:srgbClr val="1E293B"/>
            </a:solidFill>
            <a:prstDash val="solid"/>
          </a:ln>
        </p:spPr>
        <p:txBody>
          <a:bodyPr/>
          <a:lstStyle/>
          <a:p>
            <a:endParaRPr lang="en-US"/>
          </a:p>
        </p:txBody>
      </p:sp>
      <p:sp>
        <p:nvSpPr>
          <p:cNvPr id="20" name="Text 18"/>
          <p:cNvSpPr/>
          <p:nvPr/>
        </p:nvSpPr>
        <p:spPr>
          <a:xfrm>
            <a:off x="6455664" y="2697480"/>
            <a:ext cx="2523744"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Competitive with published results on this dataset given severe 10:1 class imbalance</a:t>
            </a:r>
            <a:endParaRPr lang="en-US" sz="1400" dirty="0"/>
          </a:p>
        </p:txBody>
      </p:sp>
      <p:sp>
        <p:nvSpPr>
          <p:cNvPr id="21" name="Shape 19"/>
          <p:cNvSpPr/>
          <p:nvPr/>
        </p:nvSpPr>
        <p:spPr>
          <a:xfrm>
            <a:off x="9290304" y="960120"/>
            <a:ext cx="2743200" cy="1554480"/>
          </a:xfrm>
          <a:prstGeom prst="roundRect">
            <a:avLst>
              <a:gd name="adj" fmla="val 4706"/>
            </a:avLst>
          </a:prstGeom>
          <a:solidFill>
            <a:srgbClr val="1A2235"/>
          </a:solidFill>
          <a:ln w="6350">
            <a:solidFill>
              <a:srgbClr val="1E293B"/>
            </a:solidFill>
            <a:prstDash val="solid"/>
          </a:ln>
        </p:spPr>
        <p:txBody>
          <a:bodyPr/>
          <a:lstStyle/>
          <a:p>
            <a:endParaRPr lang="en-US"/>
          </a:p>
        </p:txBody>
      </p:sp>
      <p:sp>
        <p:nvSpPr>
          <p:cNvPr id="22" name="Text 20"/>
          <p:cNvSpPr/>
          <p:nvPr/>
        </p:nvSpPr>
        <p:spPr>
          <a:xfrm>
            <a:off x="9290304" y="1005840"/>
            <a:ext cx="2743200" cy="777240"/>
          </a:xfrm>
          <a:prstGeom prst="rect">
            <a:avLst/>
          </a:prstGeom>
          <a:noFill/>
          <a:ln/>
        </p:spPr>
        <p:txBody>
          <a:bodyPr wrap="square" rtlCol="0" anchor="ctr"/>
          <a:lstStyle/>
          <a:p>
            <a:pPr marL="0" indent="0" algn="ctr">
              <a:buNone/>
            </a:pPr>
            <a:r>
              <a:rPr lang="en-US" sz="3200" b="1" dirty="0">
                <a:solidFill>
                  <a:srgbClr val="FFD700"/>
                </a:solidFill>
                <a:latin typeface="Calibri" pitchFamily="34" charset="0"/>
                <a:ea typeface="Calibri" pitchFamily="34" charset="-122"/>
                <a:cs typeface="Calibri" pitchFamily="34" charset="-120"/>
              </a:rPr>
              <a:t>0.838</a:t>
            </a:r>
            <a:endParaRPr lang="en-US" sz="3200" dirty="0"/>
          </a:p>
        </p:txBody>
      </p:sp>
      <p:sp>
        <p:nvSpPr>
          <p:cNvPr id="23" name="Text 21"/>
          <p:cNvSpPr/>
          <p:nvPr/>
        </p:nvSpPr>
        <p:spPr>
          <a:xfrm>
            <a:off x="9290304" y="1737360"/>
            <a:ext cx="2743200" cy="320040"/>
          </a:xfrm>
          <a:prstGeom prst="rect">
            <a:avLst/>
          </a:prstGeom>
          <a:noFill/>
          <a:ln/>
        </p:spPr>
        <p:txBody>
          <a:bodyPr wrap="square" rtlCol="0" anchor="ctr"/>
          <a:lstStyle/>
          <a:p>
            <a:pPr marL="0" indent="0" algn="ctr">
              <a:buNone/>
            </a:pPr>
            <a:r>
              <a:rPr lang="en-US" sz="1100" b="1" dirty="0">
                <a:solidFill>
                  <a:srgbClr val="FFD700"/>
                </a:solidFill>
                <a:latin typeface="Calibri" pitchFamily="34" charset="0"/>
                <a:ea typeface="Calibri" pitchFamily="34" charset="-122"/>
                <a:cs typeface="Calibri" pitchFamily="34" charset="-120"/>
              </a:rPr>
              <a:t>Avg Precision</a:t>
            </a:r>
            <a:endParaRPr lang="en-US" sz="1100" dirty="0"/>
          </a:p>
        </p:txBody>
      </p:sp>
      <p:sp>
        <p:nvSpPr>
          <p:cNvPr id="24" name="Shape 22"/>
          <p:cNvSpPr/>
          <p:nvPr/>
        </p:nvSpPr>
        <p:spPr>
          <a:xfrm>
            <a:off x="9290304" y="2606040"/>
            <a:ext cx="2743200" cy="1188720"/>
          </a:xfrm>
          <a:prstGeom prst="roundRect">
            <a:avLst>
              <a:gd name="adj" fmla="val 5333"/>
            </a:avLst>
          </a:prstGeom>
          <a:solidFill>
            <a:srgbClr val="151E2E"/>
          </a:solidFill>
          <a:ln w="6350">
            <a:solidFill>
              <a:srgbClr val="1E293B"/>
            </a:solidFill>
            <a:prstDash val="solid"/>
          </a:ln>
        </p:spPr>
        <p:txBody>
          <a:bodyPr/>
          <a:lstStyle/>
          <a:p>
            <a:endParaRPr lang="en-US"/>
          </a:p>
        </p:txBody>
      </p:sp>
      <p:sp>
        <p:nvSpPr>
          <p:cNvPr id="25" name="Text 23"/>
          <p:cNvSpPr/>
          <p:nvPr/>
        </p:nvSpPr>
        <p:spPr>
          <a:xfrm>
            <a:off x="9400032" y="2697480"/>
            <a:ext cx="2523744" cy="11887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Area under Precision-Recall curve — massively above the random classifier baseline</a:t>
            </a:r>
            <a:endParaRPr lang="en-US" sz="1400" dirty="0"/>
          </a:p>
        </p:txBody>
      </p:sp>
      <p:sp>
        <p:nvSpPr>
          <p:cNvPr id="26" name="Shape 24"/>
          <p:cNvSpPr/>
          <p:nvPr/>
        </p:nvSpPr>
        <p:spPr>
          <a:xfrm>
            <a:off x="457200" y="4023791"/>
            <a:ext cx="530352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27" name="Text 25"/>
          <p:cNvSpPr/>
          <p:nvPr/>
        </p:nvSpPr>
        <p:spPr>
          <a:xfrm>
            <a:off x="640080" y="4206240"/>
            <a:ext cx="4937760" cy="320040"/>
          </a:xfrm>
          <a:prstGeom prst="rect">
            <a:avLst/>
          </a:prstGeom>
          <a:noFill/>
          <a:ln/>
        </p:spPr>
        <p:txBody>
          <a:bodyPr wrap="square" rtlCol="0" anchor="ctr"/>
          <a:lstStyle/>
          <a:p>
            <a:pPr marL="0" indent="0">
              <a:buNone/>
            </a:pPr>
            <a:r>
              <a:rPr lang="en-US" sz="1600" b="1" dirty="0">
                <a:solidFill>
                  <a:srgbClr val="00C9FF"/>
                </a:solidFill>
                <a:latin typeface="Calibri" pitchFamily="34" charset="0"/>
                <a:ea typeface="Calibri" pitchFamily="34" charset="-122"/>
                <a:cs typeface="Calibri" pitchFamily="34" charset="-120"/>
              </a:rPr>
              <a:t>Confusion Matrix — Test Set</a:t>
            </a:r>
            <a:endParaRPr lang="en-US" sz="1600" dirty="0"/>
          </a:p>
        </p:txBody>
      </p:sp>
      <p:sp>
        <p:nvSpPr>
          <p:cNvPr id="28" name="Text 26"/>
          <p:cNvSpPr/>
          <p:nvPr/>
        </p:nvSpPr>
        <p:spPr>
          <a:xfrm>
            <a:off x="640080" y="4645152"/>
            <a:ext cx="1645920" cy="457200"/>
          </a:xfrm>
          <a:prstGeom prst="rect">
            <a:avLst/>
          </a:prstGeom>
          <a:noFill/>
          <a:ln/>
        </p:spPr>
        <p:txBody>
          <a:bodyPr wrap="square" rtlCol="0" anchor="ctr"/>
          <a:lstStyle/>
          <a:p>
            <a:pPr marL="0" indent="0" algn="ctr">
              <a:buNone/>
            </a:pPr>
            <a:endParaRPr lang="en-US" sz="900" dirty="0"/>
          </a:p>
        </p:txBody>
      </p:sp>
      <p:sp>
        <p:nvSpPr>
          <p:cNvPr id="29" name="Text 27"/>
          <p:cNvSpPr/>
          <p:nvPr/>
        </p:nvSpPr>
        <p:spPr>
          <a:xfrm>
            <a:off x="2331720" y="4645152"/>
            <a:ext cx="1645920" cy="457200"/>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Pred. Licit</a:t>
            </a:r>
            <a:endParaRPr lang="en-US" sz="1400" dirty="0"/>
          </a:p>
        </p:txBody>
      </p:sp>
      <p:sp>
        <p:nvSpPr>
          <p:cNvPr id="30" name="Text 28"/>
          <p:cNvSpPr/>
          <p:nvPr/>
        </p:nvSpPr>
        <p:spPr>
          <a:xfrm>
            <a:off x="4023360" y="4645152"/>
            <a:ext cx="1645920" cy="457200"/>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Pred. Illicit</a:t>
            </a:r>
            <a:endParaRPr lang="en-US" sz="1400" dirty="0"/>
          </a:p>
        </p:txBody>
      </p:sp>
      <p:sp>
        <p:nvSpPr>
          <p:cNvPr id="31" name="Text 29"/>
          <p:cNvSpPr/>
          <p:nvPr/>
        </p:nvSpPr>
        <p:spPr>
          <a:xfrm>
            <a:off x="640080" y="5212080"/>
            <a:ext cx="1645920" cy="457200"/>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Actually Licit</a:t>
            </a:r>
            <a:endParaRPr lang="en-US" sz="1400" dirty="0"/>
          </a:p>
        </p:txBody>
      </p:sp>
      <p:sp>
        <p:nvSpPr>
          <p:cNvPr id="32" name="Shape 30"/>
          <p:cNvSpPr/>
          <p:nvPr/>
        </p:nvSpPr>
        <p:spPr>
          <a:xfrm>
            <a:off x="2286000" y="5166360"/>
            <a:ext cx="1645920" cy="512064"/>
          </a:xfrm>
          <a:prstGeom prst="rect">
            <a:avLst/>
          </a:prstGeom>
          <a:solidFill>
            <a:srgbClr val="0A2E1A"/>
          </a:solidFill>
          <a:ln w="3810">
            <a:solidFill>
              <a:srgbClr val="1E293B"/>
            </a:solidFill>
            <a:prstDash val="solid"/>
          </a:ln>
        </p:spPr>
        <p:txBody>
          <a:bodyPr/>
          <a:lstStyle/>
          <a:p>
            <a:endParaRPr lang="en-US"/>
          </a:p>
        </p:txBody>
      </p:sp>
      <p:sp>
        <p:nvSpPr>
          <p:cNvPr id="33" name="Text 31"/>
          <p:cNvSpPr/>
          <p:nvPr/>
        </p:nvSpPr>
        <p:spPr>
          <a:xfrm>
            <a:off x="2331720" y="5212080"/>
            <a:ext cx="1645920" cy="457200"/>
          </a:xfrm>
          <a:prstGeom prst="rect">
            <a:avLst/>
          </a:prstGeom>
          <a:noFill/>
          <a:ln/>
        </p:spPr>
        <p:txBody>
          <a:bodyPr wrap="square" rtlCol="0" anchor="ctr"/>
          <a:lstStyle/>
          <a:p>
            <a:pPr marL="0" indent="0" algn="ctr">
              <a:buNone/>
            </a:pPr>
            <a:r>
              <a:rPr lang="en-US" sz="1400" b="1" dirty="0">
                <a:solidFill>
                  <a:srgbClr val="00C9A7"/>
                </a:solidFill>
                <a:latin typeface="Calibri" pitchFamily="34" charset="0"/>
                <a:ea typeface="Calibri" pitchFamily="34" charset="-122"/>
                <a:cs typeface="Calibri" pitchFamily="34" charset="-120"/>
              </a:rPr>
              <a:t>13,021  ✓</a:t>
            </a:r>
            <a:endParaRPr lang="en-US" sz="1400" dirty="0"/>
          </a:p>
        </p:txBody>
      </p:sp>
      <p:sp>
        <p:nvSpPr>
          <p:cNvPr id="34" name="Shape 32"/>
          <p:cNvSpPr/>
          <p:nvPr/>
        </p:nvSpPr>
        <p:spPr>
          <a:xfrm>
            <a:off x="3977640" y="5166360"/>
            <a:ext cx="1645920" cy="512064"/>
          </a:xfrm>
          <a:prstGeom prst="rect">
            <a:avLst/>
          </a:prstGeom>
          <a:solidFill>
            <a:srgbClr val="2E0A0A"/>
          </a:solidFill>
          <a:ln w="3810">
            <a:solidFill>
              <a:srgbClr val="1E293B"/>
            </a:solidFill>
            <a:prstDash val="solid"/>
          </a:ln>
        </p:spPr>
        <p:txBody>
          <a:bodyPr/>
          <a:lstStyle/>
          <a:p>
            <a:endParaRPr lang="en-US" sz="1400"/>
          </a:p>
        </p:txBody>
      </p:sp>
      <p:sp>
        <p:nvSpPr>
          <p:cNvPr id="35" name="Text 33"/>
          <p:cNvSpPr/>
          <p:nvPr/>
        </p:nvSpPr>
        <p:spPr>
          <a:xfrm>
            <a:off x="4023360" y="5212080"/>
            <a:ext cx="1645920" cy="457200"/>
          </a:xfrm>
          <a:prstGeom prst="rect">
            <a:avLst/>
          </a:prstGeom>
          <a:noFill/>
          <a:ln/>
        </p:spPr>
        <p:txBody>
          <a:bodyPr wrap="square" rtlCol="0" anchor="ctr"/>
          <a:lstStyle/>
          <a:p>
            <a:pPr marL="0" indent="0" algn="ctr">
              <a:buNone/>
            </a:pPr>
            <a:r>
              <a:rPr lang="en-US" sz="1200" b="1" dirty="0">
                <a:solidFill>
                  <a:srgbClr val="FF4444"/>
                </a:solidFill>
                <a:latin typeface="Calibri" pitchFamily="34" charset="0"/>
                <a:ea typeface="Calibri" pitchFamily="34" charset="-122"/>
                <a:cs typeface="Calibri" pitchFamily="34" charset="-120"/>
              </a:rPr>
              <a:t>2,566  ✗</a:t>
            </a:r>
            <a:endParaRPr lang="en-US" sz="1200" dirty="0"/>
          </a:p>
        </p:txBody>
      </p:sp>
      <p:sp>
        <p:nvSpPr>
          <p:cNvPr id="36" name="Text 34"/>
          <p:cNvSpPr/>
          <p:nvPr/>
        </p:nvSpPr>
        <p:spPr>
          <a:xfrm>
            <a:off x="640080" y="5779008"/>
            <a:ext cx="1645920" cy="457200"/>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Actually Illicit</a:t>
            </a:r>
            <a:endParaRPr lang="en-US" sz="1400" dirty="0"/>
          </a:p>
        </p:txBody>
      </p:sp>
      <p:sp>
        <p:nvSpPr>
          <p:cNvPr id="37" name="Shape 35"/>
          <p:cNvSpPr/>
          <p:nvPr/>
        </p:nvSpPr>
        <p:spPr>
          <a:xfrm>
            <a:off x="2286000" y="5733288"/>
            <a:ext cx="1645920" cy="512064"/>
          </a:xfrm>
          <a:prstGeom prst="rect">
            <a:avLst/>
          </a:prstGeom>
          <a:solidFill>
            <a:srgbClr val="2E0A0A"/>
          </a:solidFill>
          <a:ln w="3810">
            <a:solidFill>
              <a:srgbClr val="1E293B"/>
            </a:solidFill>
            <a:prstDash val="solid"/>
          </a:ln>
        </p:spPr>
        <p:txBody>
          <a:bodyPr/>
          <a:lstStyle/>
          <a:p>
            <a:endParaRPr lang="en-US"/>
          </a:p>
        </p:txBody>
      </p:sp>
      <p:sp>
        <p:nvSpPr>
          <p:cNvPr id="38" name="Text 36"/>
          <p:cNvSpPr/>
          <p:nvPr/>
        </p:nvSpPr>
        <p:spPr>
          <a:xfrm>
            <a:off x="2331720" y="5779008"/>
            <a:ext cx="1645920" cy="457200"/>
          </a:xfrm>
          <a:prstGeom prst="rect">
            <a:avLst/>
          </a:prstGeom>
          <a:noFill/>
          <a:ln/>
        </p:spPr>
        <p:txBody>
          <a:bodyPr wrap="square" rtlCol="0" anchor="ctr"/>
          <a:lstStyle/>
          <a:p>
            <a:pPr marL="0" indent="0" algn="ctr">
              <a:buNone/>
            </a:pPr>
            <a:r>
              <a:rPr lang="en-US" sz="1400" b="1" dirty="0">
                <a:solidFill>
                  <a:srgbClr val="FF4444"/>
                </a:solidFill>
                <a:latin typeface="Calibri" pitchFamily="34" charset="0"/>
                <a:ea typeface="Calibri" pitchFamily="34" charset="-122"/>
                <a:cs typeface="Calibri" pitchFamily="34" charset="-120"/>
              </a:rPr>
              <a:t>101  ✗</a:t>
            </a:r>
            <a:endParaRPr lang="en-US" sz="1400" dirty="0"/>
          </a:p>
        </p:txBody>
      </p:sp>
      <p:sp>
        <p:nvSpPr>
          <p:cNvPr id="39" name="Shape 37"/>
          <p:cNvSpPr/>
          <p:nvPr/>
        </p:nvSpPr>
        <p:spPr>
          <a:xfrm>
            <a:off x="3977640" y="5733288"/>
            <a:ext cx="1645920" cy="512064"/>
          </a:xfrm>
          <a:prstGeom prst="rect">
            <a:avLst/>
          </a:prstGeom>
          <a:solidFill>
            <a:srgbClr val="0A2E1A"/>
          </a:solidFill>
          <a:ln w="3810">
            <a:solidFill>
              <a:srgbClr val="1E293B"/>
            </a:solidFill>
            <a:prstDash val="solid"/>
          </a:ln>
        </p:spPr>
        <p:txBody>
          <a:bodyPr/>
          <a:lstStyle/>
          <a:p>
            <a:endParaRPr lang="en-US" sz="1400"/>
          </a:p>
        </p:txBody>
      </p:sp>
      <p:sp>
        <p:nvSpPr>
          <p:cNvPr id="40" name="Text 38"/>
          <p:cNvSpPr/>
          <p:nvPr/>
        </p:nvSpPr>
        <p:spPr>
          <a:xfrm>
            <a:off x="4023360" y="5779008"/>
            <a:ext cx="1645920" cy="457200"/>
          </a:xfrm>
          <a:prstGeom prst="rect">
            <a:avLst/>
          </a:prstGeom>
          <a:noFill/>
          <a:ln/>
        </p:spPr>
        <p:txBody>
          <a:bodyPr wrap="square" rtlCol="0" anchor="ctr"/>
          <a:lstStyle/>
          <a:p>
            <a:pPr marL="0" indent="0" algn="ctr">
              <a:buNone/>
            </a:pPr>
            <a:r>
              <a:rPr lang="en-US" sz="1200" b="1" dirty="0">
                <a:solidFill>
                  <a:srgbClr val="00C9A7"/>
                </a:solidFill>
                <a:latin typeface="Calibri" pitchFamily="34" charset="0"/>
                <a:ea typeface="Calibri" pitchFamily="34" charset="-122"/>
                <a:cs typeface="Calibri" pitchFamily="34" charset="-120"/>
              </a:rPr>
              <a:t>982  ✓</a:t>
            </a:r>
            <a:endParaRPr lang="en-US" sz="1200" dirty="0"/>
          </a:p>
        </p:txBody>
      </p:sp>
      <p:sp>
        <p:nvSpPr>
          <p:cNvPr id="41" name="Shape 39"/>
          <p:cNvSpPr/>
          <p:nvPr/>
        </p:nvSpPr>
        <p:spPr>
          <a:xfrm>
            <a:off x="5974080" y="4013353"/>
            <a:ext cx="576072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42" name="Text 40"/>
          <p:cNvSpPr/>
          <p:nvPr/>
        </p:nvSpPr>
        <p:spPr>
          <a:xfrm>
            <a:off x="6126480" y="4146804"/>
            <a:ext cx="5394960" cy="320040"/>
          </a:xfrm>
          <a:prstGeom prst="rect">
            <a:avLst/>
          </a:prstGeom>
          <a:noFill/>
          <a:ln/>
        </p:spPr>
        <p:txBody>
          <a:bodyPr wrap="square" rtlCol="0" anchor="ctr"/>
          <a:lstStyle/>
          <a:p>
            <a:pPr marL="0" indent="0">
              <a:buNone/>
            </a:pPr>
            <a:r>
              <a:rPr lang="en-US" sz="1600" b="1" dirty="0">
                <a:solidFill>
                  <a:srgbClr val="00C9FF"/>
                </a:solidFill>
                <a:latin typeface="Calibri" pitchFamily="34" charset="0"/>
                <a:ea typeface="Calibri" pitchFamily="34" charset="-122"/>
                <a:cs typeface="Calibri" pitchFamily="34" charset="-120"/>
              </a:rPr>
              <a:t>How to Read These Results</a:t>
            </a:r>
            <a:endParaRPr lang="en-US" sz="1600" dirty="0"/>
          </a:p>
        </p:txBody>
      </p:sp>
      <p:sp>
        <p:nvSpPr>
          <p:cNvPr id="43" name="Text 41"/>
          <p:cNvSpPr/>
          <p:nvPr/>
        </p:nvSpPr>
        <p:spPr>
          <a:xfrm>
            <a:off x="6126480" y="4502124"/>
            <a:ext cx="5394960" cy="457200"/>
          </a:xfrm>
          <a:prstGeom prst="rect">
            <a:avLst/>
          </a:prstGeom>
          <a:noFill/>
          <a:ln/>
        </p:spPr>
        <p:txBody>
          <a:bodyPr wrap="square" rtlCol="0" anchor="ctr"/>
          <a:lstStyle/>
          <a:p>
            <a:pPr marL="0" indent="0">
              <a:buNone/>
            </a:pPr>
            <a:r>
              <a:rPr lang="en-US" sz="1100" dirty="0">
                <a:solidFill>
                  <a:srgbClr val="00C9A7"/>
                </a:solidFill>
                <a:latin typeface="Calibri" pitchFamily="34" charset="0"/>
                <a:ea typeface="Calibri" pitchFamily="34" charset="-122"/>
                <a:cs typeface="Calibri" pitchFamily="34" charset="-120"/>
              </a:rPr>
              <a:t>▸  </a:t>
            </a:r>
            <a:r>
              <a:rPr lang="en-US" sz="1400" b="1" dirty="0">
                <a:solidFill>
                  <a:srgbClr val="00C9A7"/>
                </a:solidFill>
                <a:latin typeface="Calibri" pitchFamily="34" charset="0"/>
                <a:ea typeface="Calibri" pitchFamily="34" charset="-122"/>
                <a:cs typeface="Calibri" pitchFamily="34" charset="-120"/>
              </a:rPr>
              <a:t>982 illicit wallets caught: </a:t>
            </a:r>
            <a:r>
              <a:rPr lang="en-US" sz="1400" dirty="0">
                <a:solidFill>
                  <a:srgbClr val="FFFFFF"/>
                </a:solidFill>
                <a:latin typeface="Calibri" pitchFamily="34" charset="0"/>
                <a:ea typeface="Calibri" pitchFamily="34" charset="-122"/>
                <a:cs typeface="Calibri" pitchFamily="34" charset="-120"/>
              </a:rPr>
              <a:t>out of 1,083 in test set — 91% catch rate</a:t>
            </a:r>
            <a:endParaRPr lang="en-US" sz="1400" dirty="0"/>
          </a:p>
        </p:txBody>
      </p:sp>
      <p:sp>
        <p:nvSpPr>
          <p:cNvPr id="44" name="Text 42"/>
          <p:cNvSpPr/>
          <p:nvPr/>
        </p:nvSpPr>
        <p:spPr>
          <a:xfrm>
            <a:off x="6126480" y="4927753"/>
            <a:ext cx="5394960" cy="457200"/>
          </a:xfrm>
          <a:prstGeom prst="rect">
            <a:avLst/>
          </a:prstGeom>
          <a:noFill/>
          <a:ln/>
        </p:spPr>
        <p:txBody>
          <a:bodyPr wrap="square" rtlCol="0" anchor="ctr"/>
          <a:lstStyle/>
          <a:p>
            <a:pPr marL="0" indent="0">
              <a:buNone/>
            </a:pPr>
            <a:r>
              <a:rPr lang="en-US" sz="1400" dirty="0">
                <a:solidFill>
                  <a:srgbClr val="FF4444"/>
                </a:solidFill>
                <a:latin typeface="Calibri" pitchFamily="34" charset="0"/>
                <a:ea typeface="Calibri" pitchFamily="34" charset="-122"/>
                <a:cs typeface="Calibri" pitchFamily="34" charset="-120"/>
              </a:rPr>
              <a:t>▸  </a:t>
            </a:r>
            <a:r>
              <a:rPr lang="en-US" sz="1400" b="1" dirty="0">
                <a:solidFill>
                  <a:srgbClr val="FF4444"/>
                </a:solidFill>
                <a:latin typeface="Calibri" pitchFamily="34" charset="0"/>
                <a:ea typeface="Calibri" pitchFamily="34" charset="-122"/>
                <a:cs typeface="Calibri" pitchFamily="34" charset="-120"/>
              </a:rPr>
              <a:t>Only 101 fraudsters missed: </a:t>
            </a:r>
            <a:r>
              <a:rPr lang="en-US" sz="1400" dirty="0">
                <a:solidFill>
                  <a:srgbClr val="FFFFFF"/>
                </a:solidFill>
                <a:latin typeface="Calibri" pitchFamily="34" charset="0"/>
                <a:ea typeface="Calibri" pitchFamily="34" charset="-122"/>
                <a:cs typeface="Calibri" pitchFamily="34" charset="-120"/>
              </a:rPr>
              <a:t>model failed on 9% of illicit test nodes</a:t>
            </a:r>
            <a:endParaRPr lang="en-US" sz="1400" dirty="0"/>
          </a:p>
        </p:txBody>
      </p:sp>
      <p:sp>
        <p:nvSpPr>
          <p:cNvPr id="45" name="Text 43"/>
          <p:cNvSpPr/>
          <p:nvPr/>
        </p:nvSpPr>
        <p:spPr>
          <a:xfrm>
            <a:off x="6126480" y="5422392"/>
            <a:ext cx="5394960" cy="457200"/>
          </a:xfrm>
          <a:prstGeom prst="rect">
            <a:avLst/>
          </a:prstGeom>
          <a:noFill/>
          <a:ln/>
        </p:spPr>
        <p:txBody>
          <a:bodyPr wrap="square" rtlCol="0" anchor="ctr"/>
          <a:lstStyle/>
          <a:p>
            <a:pPr marL="0" indent="0">
              <a:buNone/>
            </a:pPr>
            <a:r>
              <a:rPr lang="en-US" sz="1400" dirty="0">
                <a:solidFill>
                  <a:srgbClr val="FFD700"/>
                </a:solidFill>
                <a:latin typeface="Calibri" pitchFamily="34" charset="0"/>
                <a:ea typeface="Calibri" pitchFamily="34" charset="-122"/>
                <a:cs typeface="Calibri" pitchFamily="34" charset="-120"/>
              </a:rPr>
              <a:t>▸  </a:t>
            </a:r>
            <a:r>
              <a:rPr lang="en-US" sz="1400" b="1" dirty="0">
                <a:solidFill>
                  <a:srgbClr val="FFD700"/>
                </a:solidFill>
                <a:latin typeface="Calibri" pitchFamily="34" charset="0"/>
                <a:ea typeface="Calibri" pitchFamily="34" charset="-122"/>
                <a:cs typeface="Calibri" pitchFamily="34" charset="-120"/>
              </a:rPr>
              <a:t>2,566 false positives: </a:t>
            </a:r>
            <a:r>
              <a:rPr lang="en-US" sz="1400" dirty="0">
                <a:solidFill>
                  <a:srgbClr val="FFFFFF"/>
                </a:solidFill>
                <a:latin typeface="Calibri" pitchFamily="34" charset="0"/>
                <a:ea typeface="Calibri" pitchFamily="34" charset="-122"/>
                <a:cs typeface="Calibri" pitchFamily="34" charset="-120"/>
              </a:rPr>
              <a:t>licit wallets incorrectly flagged — manageable at this scale</a:t>
            </a:r>
            <a:endParaRPr lang="en-US" sz="1400" dirty="0"/>
          </a:p>
        </p:txBody>
      </p:sp>
      <p:sp>
        <p:nvSpPr>
          <p:cNvPr id="46" name="Text 44"/>
          <p:cNvSpPr/>
          <p:nvPr/>
        </p:nvSpPr>
        <p:spPr>
          <a:xfrm>
            <a:off x="6144768" y="5929452"/>
            <a:ext cx="5498592" cy="457200"/>
          </a:xfrm>
          <a:prstGeom prst="rect">
            <a:avLst/>
          </a:prstGeom>
          <a:noFill/>
          <a:ln/>
        </p:spPr>
        <p:txBody>
          <a:bodyPr wrap="square" rtlCol="0" anchor="ctr"/>
          <a:lstStyle/>
          <a:p>
            <a:pPr marL="0" indent="0">
              <a:buNone/>
            </a:pPr>
            <a:r>
              <a:rPr lang="en-US" sz="1400" dirty="0">
                <a:solidFill>
                  <a:srgbClr val="8B949E"/>
                </a:solidFill>
                <a:latin typeface="Calibri" pitchFamily="34" charset="0"/>
                <a:ea typeface="Calibri" pitchFamily="34" charset="-122"/>
                <a:cs typeface="Calibri" pitchFamily="34" charset="-120"/>
              </a:rPr>
              <a:t>▸  </a:t>
            </a:r>
            <a:r>
              <a:rPr lang="en-US" sz="1400" b="1" dirty="0">
                <a:solidFill>
                  <a:srgbClr val="8B949E"/>
                </a:solidFill>
                <a:latin typeface="Calibri" pitchFamily="34" charset="0"/>
                <a:ea typeface="Calibri" pitchFamily="34" charset="-122"/>
                <a:cs typeface="Calibri" pitchFamily="34" charset="-120"/>
              </a:rPr>
              <a:t>Accuracy is 84%: </a:t>
            </a:r>
            <a:r>
              <a:rPr lang="en-US" sz="1400" dirty="0">
                <a:solidFill>
                  <a:srgbClr val="FFFFFF"/>
                </a:solidFill>
                <a:latin typeface="Calibri" pitchFamily="34" charset="0"/>
                <a:ea typeface="Calibri" pitchFamily="34" charset="-122"/>
                <a:cs typeface="Calibri" pitchFamily="34" charset="-120"/>
              </a:rPr>
              <a:t>but meaningless — "label everything licit" gives 90%</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2323786"/>
            <a:ext cx="12161520" cy="9239240"/>
          </a:xfrm>
          <a:prstGeom prst="rect">
            <a:avLst/>
          </a:prstGeom>
          <a:solidFill>
            <a:srgbClr val="0A0E1A"/>
          </a:solidFill>
          <a:ln w="12700">
            <a:solidFill>
              <a:srgbClr val="0A0E1A"/>
            </a:solidFill>
            <a:prstDash val="solid"/>
          </a:ln>
        </p:spPr>
        <p:txBody>
          <a:bodyPr/>
          <a:lstStyle/>
          <a:p>
            <a:endParaRPr lang="en-US" dirty="0"/>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Predicting on 157,205 Unknown Wallets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645704"/>
            <a:ext cx="11247120" cy="212295"/>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2286000" cy="1609343"/>
          </a:xfrm>
          <a:prstGeom prst="roundRect">
            <a:avLst>
              <a:gd name="adj" fmla="val 3810"/>
            </a:avLst>
          </a:prstGeom>
          <a:solidFill>
            <a:srgbClr val="1A2235"/>
          </a:solidFill>
          <a:ln w="6350">
            <a:solidFill>
              <a:srgbClr val="1E293B"/>
            </a:solidFill>
            <a:prstDash val="solid"/>
          </a:ln>
        </p:spPr>
        <p:txBody>
          <a:bodyPr/>
          <a:lstStyle/>
          <a:p>
            <a:endParaRPr lang="en-US"/>
          </a:p>
        </p:txBody>
      </p:sp>
      <p:sp>
        <p:nvSpPr>
          <p:cNvPr id="7" name="Text 5"/>
          <p:cNvSpPr/>
          <p:nvPr/>
        </p:nvSpPr>
        <p:spPr>
          <a:xfrm>
            <a:off x="457200" y="1005840"/>
            <a:ext cx="2286000" cy="868680"/>
          </a:xfrm>
          <a:prstGeom prst="rect">
            <a:avLst/>
          </a:prstGeom>
          <a:noFill/>
          <a:ln/>
        </p:spPr>
        <p:txBody>
          <a:bodyPr wrap="square" rtlCol="0" anchor="ctr"/>
          <a:lstStyle/>
          <a:p>
            <a:pPr marL="0" indent="0" algn="ctr">
              <a:buNone/>
            </a:pPr>
            <a:r>
              <a:rPr lang="en-US" sz="2800" b="1" dirty="0">
                <a:solidFill>
                  <a:srgbClr val="FF4444"/>
                </a:solidFill>
                <a:latin typeface="Calibri" pitchFamily="34" charset="0"/>
                <a:ea typeface="Calibri" pitchFamily="34" charset="-122"/>
                <a:cs typeface="Calibri" pitchFamily="34" charset="-120"/>
              </a:rPr>
              <a:t>4,545</a:t>
            </a:r>
            <a:endParaRPr lang="en-US" sz="2800" dirty="0"/>
          </a:p>
        </p:txBody>
      </p:sp>
      <p:sp>
        <p:nvSpPr>
          <p:cNvPr id="8" name="Text 6"/>
          <p:cNvSpPr/>
          <p:nvPr/>
        </p:nvSpPr>
        <p:spPr>
          <a:xfrm>
            <a:off x="457200" y="1828800"/>
            <a:ext cx="2286000" cy="64008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Confirmed Illicit</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(original labels)</a:t>
            </a:r>
            <a:endParaRPr lang="en-US" sz="1400" dirty="0"/>
          </a:p>
        </p:txBody>
      </p:sp>
      <p:sp>
        <p:nvSpPr>
          <p:cNvPr id="9" name="Text 7"/>
          <p:cNvSpPr/>
          <p:nvPr/>
        </p:nvSpPr>
        <p:spPr>
          <a:xfrm>
            <a:off x="2843798" y="1161448"/>
            <a:ext cx="2194560" cy="1097280"/>
          </a:xfrm>
          <a:prstGeom prst="rect">
            <a:avLst/>
          </a:prstGeom>
          <a:noFill/>
          <a:ln/>
        </p:spPr>
        <p:txBody>
          <a:bodyPr wrap="square" rtlCol="0" anchor="ctr"/>
          <a:lstStyle/>
          <a:p>
            <a:pPr marL="0" indent="0" algn="ctr">
              <a:buNone/>
            </a:pPr>
            <a:r>
              <a:rPr lang="en-US" sz="4400" b="1" dirty="0">
                <a:solidFill>
                  <a:srgbClr val="8B949E"/>
                </a:solidFill>
                <a:latin typeface="Calibri" pitchFamily="34" charset="0"/>
                <a:ea typeface="Calibri" pitchFamily="34" charset="-122"/>
                <a:cs typeface="Calibri" pitchFamily="34" charset="-120"/>
              </a:rPr>
              <a:t>+</a:t>
            </a:r>
            <a:endParaRPr lang="en-US" sz="4400" dirty="0"/>
          </a:p>
        </p:txBody>
      </p:sp>
      <p:sp>
        <p:nvSpPr>
          <p:cNvPr id="10" name="Shape 8"/>
          <p:cNvSpPr/>
          <p:nvPr/>
        </p:nvSpPr>
        <p:spPr>
          <a:xfrm>
            <a:off x="5212080" y="960120"/>
            <a:ext cx="2286000" cy="1618488"/>
          </a:xfrm>
          <a:prstGeom prst="roundRect">
            <a:avLst>
              <a:gd name="adj" fmla="val 3810"/>
            </a:avLst>
          </a:prstGeom>
          <a:solidFill>
            <a:srgbClr val="1A2235"/>
          </a:solidFill>
          <a:ln w="6350">
            <a:solidFill>
              <a:srgbClr val="1E293B"/>
            </a:solidFill>
            <a:prstDash val="solid"/>
          </a:ln>
        </p:spPr>
        <p:txBody>
          <a:bodyPr/>
          <a:lstStyle/>
          <a:p>
            <a:endParaRPr lang="en-US"/>
          </a:p>
        </p:txBody>
      </p:sp>
      <p:sp>
        <p:nvSpPr>
          <p:cNvPr id="11" name="Text 9"/>
          <p:cNvSpPr/>
          <p:nvPr/>
        </p:nvSpPr>
        <p:spPr>
          <a:xfrm>
            <a:off x="5212080" y="1005840"/>
            <a:ext cx="2286000" cy="868680"/>
          </a:xfrm>
          <a:prstGeom prst="rect">
            <a:avLst/>
          </a:prstGeom>
          <a:noFill/>
          <a:ln/>
        </p:spPr>
        <p:txBody>
          <a:bodyPr wrap="square" rtlCol="0" anchor="ctr"/>
          <a:lstStyle/>
          <a:p>
            <a:pPr marL="0" indent="0" algn="ctr">
              <a:buNone/>
            </a:pPr>
            <a:r>
              <a:rPr lang="en-US" sz="2800" b="1" dirty="0">
                <a:solidFill>
                  <a:srgbClr val="FF9900"/>
                </a:solidFill>
                <a:latin typeface="Calibri" pitchFamily="34" charset="0"/>
                <a:ea typeface="Calibri" pitchFamily="34" charset="-122"/>
                <a:cs typeface="Calibri" pitchFamily="34" charset="-120"/>
              </a:rPr>
              <a:t>88,234</a:t>
            </a:r>
            <a:endParaRPr lang="en-US" sz="2800" dirty="0"/>
          </a:p>
        </p:txBody>
      </p:sp>
      <p:sp>
        <p:nvSpPr>
          <p:cNvPr id="12" name="Text 10"/>
          <p:cNvSpPr/>
          <p:nvPr/>
        </p:nvSpPr>
        <p:spPr>
          <a:xfrm>
            <a:off x="5212080" y="1828800"/>
            <a:ext cx="2286000" cy="64008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GNN-Predicted</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High-Risk</a:t>
            </a:r>
            <a:endParaRPr lang="en-US" sz="1400" dirty="0"/>
          </a:p>
        </p:txBody>
      </p:sp>
      <p:sp>
        <p:nvSpPr>
          <p:cNvPr id="13" name="Text 11"/>
          <p:cNvSpPr/>
          <p:nvPr/>
        </p:nvSpPr>
        <p:spPr>
          <a:xfrm>
            <a:off x="7388812" y="1234614"/>
            <a:ext cx="1968548" cy="1097280"/>
          </a:xfrm>
          <a:prstGeom prst="rect">
            <a:avLst/>
          </a:prstGeom>
          <a:noFill/>
          <a:ln/>
        </p:spPr>
        <p:txBody>
          <a:bodyPr wrap="square" rtlCol="0" anchor="ctr"/>
          <a:lstStyle/>
          <a:p>
            <a:pPr marL="0" indent="0" algn="ctr">
              <a:buNone/>
            </a:pPr>
            <a:r>
              <a:rPr lang="en-US" sz="4400" b="1" dirty="0">
                <a:solidFill>
                  <a:srgbClr val="8B949E"/>
                </a:solidFill>
                <a:latin typeface="Calibri" pitchFamily="34" charset="0"/>
                <a:ea typeface="Calibri" pitchFamily="34" charset="-122"/>
                <a:cs typeface="Calibri" pitchFamily="34" charset="-120"/>
              </a:rPr>
              <a:t>=</a:t>
            </a:r>
            <a:endParaRPr lang="en-US" sz="4400" dirty="0"/>
          </a:p>
        </p:txBody>
      </p:sp>
      <p:sp>
        <p:nvSpPr>
          <p:cNvPr id="14" name="Shape 12"/>
          <p:cNvSpPr/>
          <p:nvPr/>
        </p:nvSpPr>
        <p:spPr>
          <a:xfrm>
            <a:off x="9198864" y="888262"/>
            <a:ext cx="2464912" cy="1681201"/>
          </a:xfrm>
          <a:prstGeom prst="roundRect">
            <a:avLst>
              <a:gd name="adj" fmla="val 3810"/>
            </a:avLst>
          </a:prstGeom>
          <a:solidFill>
            <a:srgbClr val="1A2235"/>
          </a:solidFill>
          <a:ln w="6350">
            <a:solidFill>
              <a:srgbClr val="1E293B"/>
            </a:solidFill>
            <a:prstDash val="solid"/>
          </a:ln>
        </p:spPr>
        <p:txBody>
          <a:bodyPr/>
          <a:lstStyle/>
          <a:p>
            <a:endParaRPr lang="en-US"/>
          </a:p>
        </p:txBody>
      </p:sp>
      <p:sp>
        <p:nvSpPr>
          <p:cNvPr id="15" name="Text 13"/>
          <p:cNvSpPr/>
          <p:nvPr/>
        </p:nvSpPr>
        <p:spPr>
          <a:xfrm>
            <a:off x="9288320" y="1050266"/>
            <a:ext cx="2286000" cy="868680"/>
          </a:xfrm>
          <a:prstGeom prst="rect">
            <a:avLst/>
          </a:prstGeom>
          <a:noFill/>
          <a:ln/>
        </p:spPr>
        <p:txBody>
          <a:bodyPr wrap="square" rtlCol="0" anchor="ctr"/>
          <a:lstStyle/>
          <a:p>
            <a:pPr marL="0" indent="0" algn="ctr">
              <a:buNone/>
            </a:pPr>
            <a:r>
              <a:rPr lang="en-US" sz="2800" b="1" dirty="0">
                <a:solidFill>
                  <a:srgbClr val="FFD700"/>
                </a:solidFill>
                <a:latin typeface="Calibri" pitchFamily="34" charset="0"/>
                <a:ea typeface="Calibri" pitchFamily="34" charset="-122"/>
                <a:cs typeface="Calibri" pitchFamily="34" charset="-120"/>
              </a:rPr>
              <a:t>92,779</a:t>
            </a:r>
            <a:endParaRPr lang="en-US" sz="2800" dirty="0"/>
          </a:p>
        </p:txBody>
      </p:sp>
      <p:sp>
        <p:nvSpPr>
          <p:cNvPr id="16" name="Text 14"/>
          <p:cNvSpPr/>
          <p:nvPr/>
        </p:nvSpPr>
        <p:spPr>
          <a:xfrm>
            <a:off x="9333048" y="1726275"/>
            <a:ext cx="2286000" cy="64008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Total At-Risk Pool</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(1,971% increase)</a:t>
            </a:r>
            <a:endParaRPr lang="en-US" sz="1400" dirty="0"/>
          </a:p>
        </p:txBody>
      </p:sp>
      <p:sp>
        <p:nvSpPr>
          <p:cNvPr id="17" name="Shape 15"/>
          <p:cNvSpPr/>
          <p:nvPr/>
        </p:nvSpPr>
        <p:spPr>
          <a:xfrm>
            <a:off x="464387" y="3061946"/>
            <a:ext cx="11247120" cy="3540022"/>
          </a:xfrm>
          <a:prstGeom prst="roundRect">
            <a:avLst>
              <a:gd name="adj" fmla="val 2353"/>
            </a:avLst>
          </a:prstGeom>
          <a:solidFill>
            <a:srgbClr val="1A2235"/>
          </a:solidFill>
          <a:ln w="6350">
            <a:solidFill>
              <a:srgbClr val="1E293B"/>
            </a:solidFill>
            <a:prstDash val="solid"/>
          </a:ln>
        </p:spPr>
        <p:txBody>
          <a:bodyPr/>
          <a:lstStyle/>
          <a:p>
            <a:endParaRPr lang="en-US"/>
          </a:p>
        </p:txBody>
      </p:sp>
      <p:sp>
        <p:nvSpPr>
          <p:cNvPr id="18" name="Text 16"/>
          <p:cNvSpPr/>
          <p:nvPr/>
        </p:nvSpPr>
        <p:spPr>
          <a:xfrm>
            <a:off x="457200" y="2722324"/>
            <a:ext cx="10881360" cy="320040"/>
          </a:xfrm>
          <a:prstGeom prst="rect">
            <a:avLst/>
          </a:prstGeom>
          <a:noFill/>
          <a:ln/>
        </p:spPr>
        <p:txBody>
          <a:bodyPr wrap="square" rtlCol="0" anchor="ctr"/>
          <a:lstStyle/>
          <a:p>
            <a:pPr marL="0" indent="0">
              <a:buNone/>
            </a:pPr>
            <a:r>
              <a:rPr lang="en-US" sz="1600" b="1" dirty="0">
                <a:solidFill>
                  <a:srgbClr val="00C9FF"/>
                </a:solidFill>
                <a:latin typeface="Calibri" pitchFamily="34" charset="0"/>
                <a:ea typeface="Calibri" pitchFamily="34" charset="-122"/>
                <a:cs typeface="Calibri" pitchFamily="34" charset="-120"/>
              </a:rPr>
              <a:t>Top 10 Highest-Risk Previously-Unknown Wallets</a:t>
            </a:r>
            <a:endParaRPr lang="en-US" sz="1600" dirty="0"/>
          </a:p>
        </p:txBody>
      </p:sp>
      <p:sp>
        <p:nvSpPr>
          <p:cNvPr id="19" name="Text 17"/>
          <p:cNvSpPr/>
          <p:nvPr/>
        </p:nvSpPr>
        <p:spPr>
          <a:xfrm>
            <a:off x="640080" y="3055390"/>
            <a:ext cx="640080" cy="292608"/>
          </a:xfrm>
          <a:prstGeom prst="rect">
            <a:avLst/>
          </a:prstGeom>
          <a:noFill/>
          <a:ln/>
        </p:spPr>
        <p:txBody>
          <a:bodyPr wrap="square"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Rank</a:t>
            </a:r>
            <a:endParaRPr lang="en-US" sz="1000" dirty="0"/>
          </a:p>
        </p:txBody>
      </p:sp>
      <p:sp>
        <p:nvSpPr>
          <p:cNvPr id="20" name="Text 18"/>
          <p:cNvSpPr/>
          <p:nvPr/>
        </p:nvSpPr>
        <p:spPr>
          <a:xfrm>
            <a:off x="1389888" y="3055390"/>
            <a:ext cx="1828800" cy="292608"/>
          </a:xfrm>
          <a:prstGeom prst="rect">
            <a:avLst/>
          </a:prstGeom>
          <a:noFill/>
          <a:ln/>
        </p:spPr>
        <p:txBody>
          <a:bodyPr wrap="square"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Transaction ID</a:t>
            </a:r>
            <a:endParaRPr lang="en-US" sz="1000" dirty="0"/>
          </a:p>
        </p:txBody>
      </p:sp>
      <p:sp>
        <p:nvSpPr>
          <p:cNvPr id="21" name="Text 19"/>
          <p:cNvSpPr/>
          <p:nvPr/>
        </p:nvSpPr>
        <p:spPr>
          <a:xfrm>
            <a:off x="3328416" y="3055390"/>
            <a:ext cx="1463040" cy="292608"/>
          </a:xfrm>
          <a:prstGeom prst="rect">
            <a:avLst/>
          </a:prstGeom>
          <a:noFill/>
          <a:ln/>
        </p:spPr>
        <p:txBody>
          <a:bodyPr wrap="square"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Probability</a:t>
            </a:r>
            <a:endParaRPr lang="en-US" sz="1000" dirty="0"/>
          </a:p>
        </p:txBody>
      </p:sp>
      <p:sp>
        <p:nvSpPr>
          <p:cNvPr id="22" name="Text 20"/>
          <p:cNvSpPr/>
          <p:nvPr/>
        </p:nvSpPr>
        <p:spPr>
          <a:xfrm>
            <a:off x="4901184" y="3055390"/>
            <a:ext cx="1280160" cy="292608"/>
          </a:xfrm>
          <a:prstGeom prst="rect">
            <a:avLst/>
          </a:prstGeom>
          <a:noFill/>
          <a:ln/>
        </p:spPr>
        <p:txBody>
          <a:bodyPr wrap="square"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Time Step</a:t>
            </a:r>
            <a:endParaRPr lang="en-US" sz="1000" dirty="0"/>
          </a:p>
        </p:txBody>
      </p:sp>
      <p:sp>
        <p:nvSpPr>
          <p:cNvPr id="23" name="Text 21"/>
          <p:cNvSpPr/>
          <p:nvPr/>
        </p:nvSpPr>
        <p:spPr>
          <a:xfrm>
            <a:off x="6291072" y="3055390"/>
            <a:ext cx="5486400" cy="292608"/>
          </a:xfrm>
          <a:prstGeom prst="rect">
            <a:avLst/>
          </a:prstGeom>
          <a:noFill/>
          <a:ln/>
        </p:spPr>
        <p:txBody>
          <a:bodyPr wrap="square"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Risk Signal</a:t>
            </a:r>
            <a:endParaRPr lang="en-US" sz="1000" dirty="0"/>
          </a:p>
        </p:txBody>
      </p:sp>
      <p:sp>
        <p:nvSpPr>
          <p:cNvPr id="24" name="Shape 22"/>
          <p:cNvSpPr/>
          <p:nvPr/>
        </p:nvSpPr>
        <p:spPr>
          <a:xfrm>
            <a:off x="640080" y="3433443"/>
            <a:ext cx="10881360" cy="285405"/>
          </a:xfrm>
          <a:prstGeom prst="rect">
            <a:avLst/>
          </a:prstGeom>
          <a:solidFill>
            <a:srgbClr val="141E30"/>
          </a:solidFill>
          <a:ln w="2540">
            <a:solidFill>
              <a:srgbClr val="1E293B"/>
            </a:solidFill>
            <a:prstDash val="solid"/>
          </a:ln>
        </p:spPr>
        <p:txBody>
          <a:bodyPr/>
          <a:lstStyle/>
          <a:p>
            <a:endParaRPr lang="en-US"/>
          </a:p>
        </p:txBody>
      </p:sp>
      <p:sp>
        <p:nvSpPr>
          <p:cNvPr id="25" name="Text 23"/>
          <p:cNvSpPr/>
          <p:nvPr/>
        </p:nvSpPr>
        <p:spPr>
          <a:xfrm>
            <a:off x="640080" y="3451731"/>
            <a:ext cx="640080" cy="263516"/>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#1</a:t>
            </a:r>
            <a:endParaRPr lang="en-US" sz="1200" dirty="0"/>
          </a:p>
        </p:txBody>
      </p:sp>
      <p:sp>
        <p:nvSpPr>
          <p:cNvPr id="26" name="Text 24"/>
          <p:cNvSpPr/>
          <p:nvPr/>
        </p:nvSpPr>
        <p:spPr>
          <a:xfrm>
            <a:off x="1389888" y="3451731"/>
            <a:ext cx="1828800" cy="26351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97,869,259</a:t>
            </a:r>
            <a:endParaRPr lang="en-US" sz="1200" dirty="0"/>
          </a:p>
        </p:txBody>
      </p:sp>
      <p:sp>
        <p:nvSpPr>
          <p:cNvPr id="27" name="Text 25"/>
          <p:cNvSpPr/>
          <p:nvPr/>
        </p:nvSpPr>
        <p:spPr>
          <a:xfrm>
            <a:off x="3328416" y="3451731"/>
            <a:ext cx="1463040" cy="263516"/>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99.994%</a:t>
            </a:r>
            <a:endParaRPr lang="en-US" sz="1200" dirty="0"/>
          </a:p>
        </p:txBody>
      </p:sp>
      <p:sp>
        <p:nvSpPr>
          <p:cNvPr id="28" name="Text 26"/>
          <p:cNvSpPr/>
          <p:nvPr/>
        </p:nvSpPr>
        <p:spPr>
          <a:xfrm>
            <a:off x="4901184" y="3451731"/>
            <a:ext cx="1280160" cy="26351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40</a:t>
            </a:r>
            <a:endParaRPr lang="en-US" sz="1200" dirty="0"/>
          </a:p>
        </p:txBody>
      </p:sp>
      <p:sp>
        <p:nvSpPr>
          <p:cNvPr id="29" name="Text 27"/>
          <p:cNvSpPr/>
          <p:nvPr/>
        </p:nvSpPr>
        <p:spPr>
          <a:xfrm>
            <a:off x="6291072" y="3433443"/>
            <a:ext cx="5486400" cy="26351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Burst window t=40. Fan-out pattern. Illicit predecessor ratio &gt; 0.9</a:t>
            </a:r>
            <a:endParaRPr lang="en-US" sz="1200" dirty="0"/>
          </a:p>
        </p:txBody>
      </p:sp>
      <p:sp>
        <p:nvSpPr>
          <p:cNvPr id="30" name="Shape 28"/>
          <p:cNvSpPr/>
          <p:nvPr/>
        </p:nvSpPr>
        <p:spPr>
          <a:xfrm>
            <a:off x="640080" y="3773884"/>
            <a:ext cx="10881360" cy="274320"/>
          </a:xfrm>
          <a:prstGeom prst="rect">
            <a:avLst/>
          </a:prstGeom>
          <a:solidFill>
            <a:srgbClr val="0F1825"/>
          </a:solidFill>
          <a:ln w="2540">
            <a:solidFill>
              <a:srgbClr val="1E293B"/>
            </a:solidFill>
            <a:prstDash val="solid"/>
          </a:ln>
        </p:spPr>
        <p:txBody>
          <a:bodyPr/>
          <a:lstStyle/>
          <a:p>
            <a:endParaRPr lang="en-US" sz="1200"/>
          </a:p>
        </p:txBody>
      </p:sp>
      <p:sp>
        <p:nvSpPr>
          <p:cNvPr id="31" name="Text 29"/>
          <p:cNvSpPr/>
          <p:nvPr/>
        </p:nvSpPr>
        <p:spPr>
          <a:xfrm>
            <a:off x="640080" y="3792172"/>
            <a:ext cx="640080" cy="24688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#2</a:t>
            </a:r>
            <a:endParaRPr lang="en-US" sz="1200" dirty="0"/>
          </a:p>
        </p:txBody>
      </p:sp>
      <p:sp>
        <p:nvSpPr>
          <p:cNvPr id="32" name="Text 30"/>
          <p:cNvSpPr/>
          <p:nvPr/>
        </p:nvSpPr>
        <p:spPr>
          <a:xfrm>
            <a:off x="1389888" y="3792172"/>
            <a:ext cx="18288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378,429,614</a:t>
            </a:r>
            <a:endParaRPr lang="en-US" sz="1200" dirty="0"/>
          </a:p>
        </p:txBody>
      </p:sp>
      <p:sp>
        <p:nvSpPr>
          <p:cNvPr id="33" name="Text 31"/>
          <p:cNvSpPr/>
          <p:nvPr/>
        </p:nvSpPr>
        <p:spPr>
          <a:xfrm>
            <a:off x="3328416" y="3747660"/>
            <a:ext cx="1463040" cy="246888"/>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99.991%</a:t>
            </a:r>
            <a:endParaRPr lang="en-US" sz="1200" dirty="0"/>
          </a:p>
        </p:txBody>
      </p:sp>
      <p:sp>
        <p:nvSpPr>
          <p:cNvPr id="34" name="Text 32"/>
          <p:cNvSpPr/>
          <p:nvPr/>
        </p:nvSpPr>
        <p:spPr>
          <a:xfrm>
            <a:off x="4901184" y="3747660"/>
            <a:ext cx="128016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16</a:t>
            </a:r>
            <a:endParaRPr lang="en-US" sz="1200" dirty="0"/>
          </a:p>
        </p:txBody>
      </p:sp>
      <p:sp>
        <p:nvSpPr>
          <p:cNvPr id="35" name="Text 33"/>
          <p:cNvSpPr/>
          <p:nvPr/>
        </p:nvSpPr>
        <p:spPr>
          <a:xfrm>
            <a:off x="6291072" y="3747660"/>
            <a:ext cx="54864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High betweenness: bridge on many shortest paths between high-risk wallets</a:t>
            </a:r>
            <a:endParaRPr lang="en-US" sz="1200" dirty="0"/>
          </a:p>
        </p:txBody>
      </p:sp>
      <p:sp>
        <p:nvSpPr>
          <p:cNvPr id="36" name="Shape 34"/>
          <p:cNvSpPr/>
          <p:nvPr/>
        </p:nvSpPr>
        <p:spPr>
          <a:xfrm>
            <a:off x="617075" y="4091940"/>
            <a:ext cx="10881360" cy="274320"/>
          </a:xfrm>
          <a:prstGeom prst="rect">
            <a:avLst/>
          </a:prstGeom>
          <a:solidFill>
            <a:srgbClr val="141E30"/>
          </a:solidFill>
          <a:ln w="2540">
            <a:solidFill>
              <a:srgbClr val="1E293B"/>
            </a:solidFill>
            <a:prstDash val="solid"/>
          </a:ln>
        </p:spPr>
        <p:txBody>
          <a:bodyPr/>
          <a:lstStyle/>
          <a:p>
            <a:endParaRPr lang="en-US" sz="1200"/>
          </a:p>
        </p:txBody>
      </p:sp>
      <p:sp>
        <p:nvSpPr>
          <p:cNvPr id="37" name="Text 35"/>
          <p:cNvSpPr/>
          <p:nvPr/>
        </p:nvSpPr>
        <p:spPr>
          <a:xfrm>
            <a:off x="617075" y="4119372"/>
            <a:ext cx="640080" cy="24688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#3</a:t>
            </a:r>
            <a:endParaRPr lang="en-US" sz="1200" dirty="0"/>
          </a:p>
        </p:txBody>
      </p:sp>
      <p:sp>
        <p:nvSpPr>
          <p:cNvPr id="38" name="Text 36"/>
          <p:cNvSpPr/>
          <p:nvPr/>
        </p:nvSpPr>
        <p:spPr>
          <a:xfrm>
            <a:off x="1366883" y="4119372"/>
            <a:ext cx="18288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210,915,044</a:t>
            </a:r>
            <a:endParaRPr lang="en-US" sz="1200" dirty="0"/>
          </a:p>
        </p:txBody>
      </p:sp>
      <p:sp>
        <p:nvSpPr>
          <p:cNvPr id="39" name="Text 37"/>
          <p:cNvSpPr/>
          <p:nvPr/>
        </p:nvSpPr>
        <p:spPr>
          <a:xfrm>
            <a:off x="3305411" y="4119372"/>
            <a:ext cx="1463040" cy="246888"/>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99.991%</a:t>
            </a:r>
            <a:endParaRPr lang="en-US" sz="1200" dirty="0"/>
          </a:p>
        </p:txBody>
      </p:sp>
      <p:sp>
        <p:nvSpPr>
          <p:cNvPr id="40" name="Text 38"/>
          <p:cNvSpPr/>
          <p:nvPr/>
        </p:nvSpPr>
        <p:spPr>
          <a:xfrm>
            <a:off x="4878179" y="4119372"/>
            <a:ext cx="128016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a:t>
            </a:r>
            <a:endParaRPr lang="en-US" sz="1200" dirty="0"/>
          </a:p>
        </p:txBody>
      </p:sp>
      <p:sp>
        <p:nvSpPr>
          <p:cNvPr id="41" name="Text 39"/>
          <p:cNvSpPr/>
          <p:nvPr/>
        </p:nvSpPr>
        <p:spPr>
          <a:xfrm>
            <a:off x="6268067" y="4119372"/>
            <a:ext cx="54864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Burst window t=20 (z=2.1σ). 87% of senders confirmed or predicted illicit</a:t>
            </a:r>
            <a:endParaRPr lang="en-US" sz="1200" dirty="0"/>
          </a:p>
        </p:txBody>
      </p:sp>
      <p:sp>
        <p:nvSpPr>
          <p:cNvPr id="42" name="Shape 40"/>
          <p:cNvSpPr/>
          <p:nvPr/>
        </p:nvSpPr>
        <p:spPr>
          <a:xfrm>
            <a:off x="617075" y="4411806"/>
            <a:ext cx="10895734" cy="274320"/>
          </a:xfrm>
          <a:prstGeom prst="rect">
            <a:avLst/>
          </a:prstGeom>
          <a:solidFill>
            <a:srgbClr val="0F1825"/>
          </a:solidFill>
          <a:ln w="2540">
            <a:solidFill>
              <a:srgbClr val="1E293B"/>
            </a:solidFill>
            <a:prstDash val="solid"/>
          </a:ln>
        </p:spPr>
        <p:txBody>
          <a:bodyPr/>
          <a:lstStyle/>
          <a:p>
            <a:endParaRPr lang="en-US" sz="1200"/>
          </a:p>
        </p:txBody>
      </p:sp>
      <p:sp>
        <p:nvSpPr>
          <p:cNvPr id="43" name="Text 41"/>
          <p:cNvSpPr/>
          <p:nvPr/>
        </p:nvSpPr>
        <p:spPr>
          <a:xfrm>
            <a:off x="617075" y="4411806"/>
            <a:ext cx="640080" cy="24688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#4</a:t>
            </a:r>
            <a:endParaRPr lang="en-US" sz="1200" dirty="0"/>
          </a:p>
        </p:txBody>
      </p:sp>
      <p:sp>
        <p:nvSpPr>
          <p:cNvPr id="44" name="Text 42"/>
          <p:cNvSpPr/>
          <p:nvPr/>
        </p:nvSpPr>
        <p:spPr>
          <a:xfrm>
            <a:off x="1366883" y="4411806"/>
            <a:ext cx="18288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99,916,860</a:t>
            </a:r>
            <a:endParaRPr lang="en-US" sz="1200" dirty="0"/>
          </a:p>
        </p:txBody>
      </p:sp>
      <p:sp>
        <p:nvSpPr>
          <p:cNvPr id="45" name="Text 43"/>
          <p:cNvSpPr/>
          <p:nvPr/>
        </p:nvSpPr>
        <p:spPr>
          <a:xfrm>
            <a:off x="3305411" y="4411806"/>
            <a:ext cx="1463040" cy="246888"/>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99.990%</a:t>
            </a:r>
            <a:endParaRPr lang="en-US" sz="1200" dirty="0"/>
          </a:p>
        </p:txBody>
      </p:sp>
      <p:sp>
        <p:nvSpPr>
          <p:cNvPr id="46" name="Text 44"/>
          <p:cNvSpPr/>
          <p:nvPr/>
        </p:nvSpPr>
        <p:spPr>
          <a:xfrm>
            <a:off x="4901184" y="4411806"/>
            <a:ext cx="128016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21</a:t>
            </a:r>
            <a:endParaRPr lang="en-US" sz="1200" dirty="0"/>
          </a:p>
        </p:txBody>
      </p:sp>
      <p:sp>
        <p:nvSpPr>
          <p:cNvPr id="47" name="Text 45"/>
          <p:cNvSpPr/>
          <p:nvPr/>
        </p:nvSpPr>
        <p:spPr>
          <a:xfrm>
            <a:off x="6268067" y="4411806"/>
            <a:ext cx="54864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Active steps 20-21  are  consecutive layering chain with #3</a:t>
            </a:r>
            <a:endParaRPr lang="en-US" sz="1200" dirty="0"/>
          </a:p>
        </p:txBody>
      </p:sp>
      <p:sp>
        <p:nvSpPr>
          <p:cNvPr id="48" name="Shape 46"/>
          <p:cNvSpPr/>
          <p:nvPr/>
        </p:nvSpPr>
        <p:spPr>
          <a:xfrm>
            <a:off x="617075" y="4712526"/>
            <a:ext cx="10881360" cy="274320"/>
          </a:xfrm>
          <a:prstGeom prst="rect">
            <a:avLst/>
          </a:prstGeom>
          <a:solidFill>
            <a:srgbClr val="141E30"/>
          </a:solidFill>
          <a:ln w="2540">
            <a:solidFill>
              <a:srgbClr val="1E293B"/>
            </a:solidFill>
            <a:prstDash val="solid"/>
          </a:ln>
        </p:spPr>
        <p:txBody>
          <a:bodyPr/>
          <a:lstStyle/>
          <a:p>
            <a:endParaRPr lang="en-US" sz="1200"/>
          </a:p>
        </p:txBody>
      </p:sp>
      <p:sp>
        <p:nvSpPr>
          <p:cNvPr id="49" name="Text 47"/>
          <p:cNvSpPr/>
          <p:nvPr/>
        </p:nvSpPr>
        <p:spPr>
          <a:xfrm>
            <a:off x="617075" y="4712525"/>
            <a:ext cx="640080" cy="274069"/>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#5</a:t>
            </a:r>
            <a:endParaRPr lang="en-US" sz="1200" dirty="0"/>
          </a:p>
        </p:txBody>
      </p:sp>
      <p:sp>
        <p:nvSpPr>
          <p:cNvPr id="50" name="Text 48"/>
          <p:cNvSpPr/>
          <p:nvPr/>
        </p:nvSpPr>
        <p:spPr>
          <a:xfrm>
            <a:off x="1366883" y="4712525"/>
            <a:ext cx="1828800" cy="274069"/>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97,810,198</a:t>
            </a:r>
            <a:endParaRPr lang="en-US" sz="1200" dirty="0"/>
          </a:p>
        </p:txBody>
      </p:sp>
      <p:sp>
        <p:nvSpPr>
          <p:cNvPr id="51" name="Text 49"/>
          <p:cNvSpPr/>
          <p:nvPr/>
        </p:nvSpPr>
        <p:spPr>
          <a:xfrm>
            <a:off x="3305411" y="4712525"/>
            <a:ext cx="1463040" cy="274069"/>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99.990%</a:t>
            </a:r>
            <a:endParaRPr lang="en-US" sz="1200" dirty="0"/>
          </a:p>
        </p:txBody>
      </p:sp>
      <p:sp>
        <p:nvSpPr>
          <p:cNvPr id="52" name="Text 50"/>
          <p:cNvSpPr/>
          <p:nvPr/>
        </p:nvSpPr>
        <p:spPr>
          <a:xfrm>
            <a:off x="4901184" y="4712525"/>
            <a:ext cx="1280160" cy="274069"/>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40</a:t>
            </a:r>
            <a:endParaRPr lang="en-US" sz="1200" dirty="0"/>
          </a:p>
        </p:txBody>
      </p:sp>
      <p:sp>
        <p:nvSpPr>
          <p:cNvPr id="53" name="Text 51"/>
          <p:cNvSpPr/>
          <p:nvPr/>
        </p:nvSpPr>
        <p:spPr>
          <a:xfrm>
            <a:off x="6291072" y="4712525"/>
            <a:ext cx="5486400" cy="274069"/>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Co-active with #1 in t=40  are coordinated activity pattern</a:t>
            </a:r>
            <a:endParaRPr lang="en-US" sz="1200" dirty="0"/>
          </a:p>
        </p:txBody>
      </p:sp>
      <p:sp>
        <p:nvSpPr>
          <p:cNvPr id="54" name="Shape 52"/>
          <p:cNvSpPr/>
          <p:nvPr/>
        </p:nvSpPr>
        <p:spPr>
          <a:xfrm>
            <a:off x="627427" y="5017273"/>
            <a:ext cx="10908387" cy="274320"/>
          </a:xfrm>
          <a:prstGeom prst="rect">
            <a:avLst/>
          </a:prstGeom>
          <a:solidFill>
            <a:srgbClr val="0F1825"/>
          </a:solidFill>
          <a:ln w="2540">
            <a:solidFill>
              <a:srgbClr val="1E293B"/>
            </a:solidFill>
            <a:prstDash val="solid"/>
          </a:ln>
        </p:spPr>
        <p:txBody>
          <a:bodyPr/>
          <a:lstStyle/>
          <a:p>
            <a:endParaRPr lang="en-US"/>
          </a:p>
        </p:txBody>
      </p:sp>
      <p:sp>
        <p:nvSpPr>
          <p:cNvPr id="55" name="Text 53"/>
          <p:cNvSpPr/>
          <p:nvPr/>
        </p:nvSpPr>
        <p:spPr>
          <a:xfrm>
            <a:off x="627428" y="5044704"/>
            <a:ext cx="640080" cy="258363"/>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#6</a:t>
            </a:r>
            <a:endParaRPr lang="en-US" sz="1200" dirty="0"/>
          </a:p>
        </p:txBody>
      </p:sp>
      <p:sp>
        <p:nvSpPr>
          <p:cNvPr id="56" name="Text 54"/>
          <p:cNvSpPr/>
          <p:nvPr/>
        </p:nvSpPr>
        <p:spPr>
          <a:xfrm>
            <a:off x="1377236" y="5044704"/>
            <a:ext cx="1828800" cy="258363"/>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355,109,250</a:t>
            </a:r>
            <a:endParaRPr lang="en-US" sz="1200" dirty="0"/>
          </a:p>
        </p:txBody>
      </p:sp>
      <p:sp>
        <p:nvSpPr>
          <p:cNvPr id="57" name="Text 55"/>
          <p:cNvSpPr/>
          <p:nvPr/>
        </p:nvSpPr>
        <p:spPr>
          <a:xfrm>
            <a:off x="3315764" y="5044704"/>
            <a:ext cx="1463040" cy="258363"/>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99.989%</a:t>
            </a:r>
            <a:endParaRPr lang="en-US" sz="1200" dirty="0"/>
          </a:p>
        </p:txBody>
      </p:sp>
      <p:sp>
        <p:nvSpPr>
          <p:cNvPr id="58" name="Text 56"/>
          <p:cNvSpPr/>
          <p:nvPr/>
        </p:nvSpPr>
        <p:spPr>
          <a:xfrm>
            <a:off x="4901184" y="5044704"/>
            <a:ext cx="1280160" cy="258363"/>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32</a:t>
            </a:r>
            <a:endParaRPr lang="en-US" sz="1200" dirty="0"/>
          </a:p>
        </p:txBody>
      </p:sp>
      <p:sp>
        <p:nvSpPr>
          <p:cNvPr id="59" name="Text 57"/>
          <p:cNvSpPr/>
          <p:nvPr/>
        </p:nvSpPr>
        <p:spPr>
          <a:xfrm>
            <a:off x="6291072" y="5044704"/>
            <a:ext cx="5486400" cy="258363"/>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Peak absolute count step, means 342 illicit nodes active in same window</a:t>
            </a:r>
            <a:endParaRPr lang="en-US" sz="1200" dirty="0"/>
          </a:p>
        </p:txBody>
      </p:sp>
      <p:sp>
        <p:nvSpPr>
          <p:cNvPr id="60" name="Shape 58"/>
          <p:cNvSpPr/>
          <p:nvPr/>
        </p:nvSpPr>
        <p:spPr>
          <a:xfrm>
            <a:off x="623976" y="5352580"/>
            <a:ext cx="10911839" cy="274320"/>
          </a:xfrm>
          <a:prstGeom prst="rect">
            <a:avLst/>
          </a:prstGeom>
          <a:solidFill>
            <a:srgbClr val="141E30"/>
          </a:solidFill>
          <a:ln w="2540">
            <a:solidFill>
              <a:srgbClr val="1E293B"/>
            </a:solidFill>
            <a:prstDash val="solid"/>
          </a:ln>
        </p:spPr>
        <p:txBody>
          <a:bodyPr/>
          <a:lstStyle/>
          <a:p>
            <a:endParaRPr lang="en-US" sz="1200"/>
          </a:p>
        </p:txBody>
      </p:sp>
      <p:sp>
        <p:nvSpPr>
          <p:cNvPr id="61" name="Text 59"/>
          <p:cNvSpPr/>
          <p:nvPr/>
        </p:nvSpPr>
        <p:spPr>
          <a:xfrm>
            <a:off x="640080" y="5362956"/>
            <a:ext cx="640080" cy="24688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#7</a:t>
            </a:r>
            <a:endParaRPr lang="en-US" sz="1200" dirty="0"/>
          </a:p>
        </p:txBody>
      </p:sp>
      <p:sp>
        <p:nvSpPr>
          <p:cNvPr id="62" name="Text 60"/>
          <p:cNvSpPr/>
          <p:nvPr/>
        </p:nvSpPr>
        <p:spPr>
          <a:xfrm>
            <a:off x="1389888" y="5362956"/>
            <a:ext cx="18288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84,100,122</a:t>
            </a:r>
            <a:endParaRPr lang="en-US" sz="1200" dirty="0"/>
          </a:p>
        </p:txBody>
      </p:sp>
      <p:sp>
        <p:nvSpPr>
          <p:cNvPr id="63" name="Text 61"/>
          <p:cNvSpPr/>
          <p:nvPr/>
        </p:nvSpPr>
        <p:spPr>
          <a:xfrm>
            <a:off x="3328416" y="5362956"/>
            <a:ext cx="1463040" cy="246888"/>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99.989%</a:t>
            </a:r>
            <a:endParaRPr lang="en-US" sz="1200" dirty="0"/>
          </a:p>
        </p:txBody>
      </p:sp>
      <p:sp>
        <p:nvSpPr>
          <p:cNvPr id="64" name="Text 62"/>
          <p:cNvSpPr/>
          <p:nvPr/>
        </p:nvSpPr>
        <p:spPr>
          <a:xfrm>
            <a:off x="4901184" y="5362956"/>
            <a:ext cx="128016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25</a:t>
            </a:r>
            <a:endParaRPr lang="en-US" sz="1200" dirty="0"/>
          </a:p>
        </p:txBody>
      </p:sp>
      <p:sp>
        <p:nvSpPr>
          <p:cNvPr id="65" name="Text 63"/>
          <p:cNvSpPr/>
          <p:nvPr/>
        </p:nvSpPr>
        <p:spPr>
          <a:xfrm>
            <a:off x="6291072" y="5362956"/>
            <a:ext cx="54864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High PageRank means receives funds from important hub nodes</a:t>
            </a:r>
            <a:endParaRPr lang="en-US" sz="1200" dirty="0"/>
          </a:p>
        </p:txBody>
      </p:sp>
      <p:sp>
        <p:nvSpPr>
          <p:cNvPr id="66" name="Shape 64"/>
          <p:cNvSpPr/>
          <p:nvPr/>
        </p:nvSpPr>
        <p:spPr>
          <a:xfrm>
            <a:off x="623977" y="5663476"/>
            <a:ext cx="10911840" cy="274320"/>
          </a:xfrm>
          <a:prstGeom prst="rect">
            <a:avLst/>
          </a:prstGeom>
          <a:solidFill>
            <a:srgbClr val="0F1825"/>
          </a:solidFill>
          <a:ln w="2540">
            <a:solidFill>
              <a:srgbClr val="1E293B"/>
            </a:solidFill>
            <a:prstDash val="solid"/>
          </a:ln>
        </p:spPr>
        <p:txBody>
          <a:bodyPr/>
          <a:lstStyle/>
          <a:p>
            <a:endParaRPr lang="en-US" sz="1200"/>
          </a:p>
        </p:txBody>
      </p:sp>
      <p:sp>
        <p:nvSpPr>
          <p:cNvPr id="67" name="Text 65"/>
          <p:cNvSpPr/>
          <p:nvPr/>
        </p:nvSpPr>
        <p:spPr>
          <a:xfrm>
            <a:off x="640080" y="5663476"/>
            <a:ext cx="640080" cy="24688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#8</a:t>
            </a:r>
            <a:endParaRPr lang="en-US" sz="1200" dirty="0"/>
          </a:p>
        </p:txBody>
      </p:sp>
      <p:sp>
        <p:nvSpPr>
          <p:cNvPr id="68" name="Text 66"/>
          <p:cNvSpPr/>
          <p:nvPr/>
        </p:nvSpPr>
        <p:spPr>
          <a:xfrm>
            <a:off x="1389888" y="5663476"/>
            <a:ext cx="1828800" cy="246888"/>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299,939,295</a:t>
            </a:r>
            <a:endParaRPr lang="en-US" sz="950" dirty="0"/>
          </a:p>
        </p:txBody>
      </p:sp>
      <p:sp>
        <p:nvSpPr>
          <p:cNvPr id="69" name="Text 67"/>
          <p:cNvSpPr/>
          <p:nvPr/>
        </p:nvSpPr>
        <p:spPr>
          <a:xfrm>
            <a:off x="3328416" y="5663476"/>
            <a:ext cx="1463040" cy="246888"/>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99.989%</a:t>
            </a:r>
            <a:endParaRPr lang="en-US" sz="1200" dirty="0"/>
          </a:p>
        </p:txBody>
      </p:sp>
      <p:sp>
        <p:nvSpPr>
          <p:cNvPr id="70" name="Text 68"/>
          <p:cNvSpPr/>
          <p:nvPr/>
        </p:nvSpPr>
        <p:spPr>
          <a:xfrm>
            <a:off x="4901184" y="5663476"/>
            <a:ext cx="128016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24</a:t>
            </a:r>
            <a:endParaRPr lang="en-US" sz="1200" dirty="0"/>
          </a:p>
        </p:txBody>
      </p:sp>
      <p:sp>
        <p:nvSpPr>
          <p:cNvPr id="71" name="Text 69"/>
          <p:cNvSpPr/>
          <p:nvPr/>
        </p:nvSpPr>
        <p:spPr>
          <a:xfrm>
            <a:off x="6291072" y="5663476"/>
            <a:ext cx="54864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High out-degree - distributes to 47 downstream wallets</a:t>
            </a:r>
            <a:endParaRPr lang="en-US" sz="1200" dirty="0"/>
          </a:p>
        </p:txBody>
      </p:sp>
      <p:sp>
        <p:nvSpPr>
          <p:cNvPr id="72" name="Shape 70"/>
          <p:cNvSpPr/>
          <p:nvPr/>
        </p:nvSpPr>
        <p:spPr>
          <a:xfrm>
            <a:off x="623977" y="5973940"/>
            <a:ext cx="10911840" cy="274320"/>
          </a:xfrm>
          <a:prstGeom prst="rect">
            <a:avLst/>
          </a:prstGeom>
          <a:solidFill>
            <a:srgbClr val="141E30"/>
          </a:solidFill>
          <a:ln w="2540">
            <a:solidFill>
              <a:srgbClr val="1E293B"/>
            </a:solidFill>
            <a:prstDash val="solid"/>
          </a:ln>
        </p:spPr>
        <p:txBody>
          <a:bodyPr/>
          <a:lstStyle/>
          <a:p>
            <a:endParaRPr lang="en-US"/>
          </a:p>
        </p:txBody>
      </p:sp>
      <p:sp>
        <p:nvSpPr>
          <p:cNvPr id="73" name="Text 71"/>
          <p:cNvSpPr/>
          <p:nvPr/>
        </p:nvSpPr>
        <p:spPr>
          <a:xfrm>
            <a:off x="652732" y="5971352"/>
            <a:ext cx="640080" cy="268250"/>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#9</a:t>
            </a:r>
            <a:endParaRPr lang="en-US" sz="1200" dirty="0"/>
          </a:p>
        </p:txBody>
      </p:sp>
      <p:sp>
        <p:nvSpPr>
          <p:cNvPr id="74" name="Text 72"/>
          <p:cNvSpPr/>
          <p:nvPr/>
        </p:nvSpPr>
        <p:spPr>
          <a:xfrm>
            <a:off x="1402540" y="5971352"/>
            <a:ext cx="1828800" cy="26825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210,637,700</a:t>
            </a:r>
            <a:endParaRPr lang="en-US" sz="1200" dirty="0"/>
          </a:p>
        </p:txBody>
      </p:sp>
      <p:sp>
        <p:nvSpPr>
          <p:cNvPr id="75" name="Text 73"/>
          <p:cNvSpPr/>
          <p:nvPr/>
        </p:nvSpPr>
        <p:spPr>
          <a:xfrm>
            <a:off x="3341068" y="5971352"/>
            <a:ext cx="1463040" cy="268250"/>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99.989%</a:t>
            </a:r>
            <a:endParaRPr lang="en-US" sz="1200" dirty="0"/>
          </a:p>
        </p:txBody>
      </p:sp>
      <p:sp>
        <p:nvSpPr>
          <p:cNvPr id="76" name="Text 74"/>
          <p:cNvSpPr/>
          <p:nvPr/>
        </p:nvSpPr>
        <p:spPr>
          <a:xfrm>
            <a:off x="4913836" y="5971352"/>
            <a:ext cx="1280160" cy="26825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20</a:t>
            </a:r>
            <a:endParaRPr lang="en-US" sz="1200" dirty="0"/>
          </a:p>
        </p:txBody>
      </p:sp>
      <p:sp>
        <p:nvSpPr>
          <p:cNvPr id="77" name="Text 75"/>
          <p:cNvSpPr/>
          <p:nvPr/>
        </p:nvSpPr>
        <p:spPr>
          <a:xfrm>
            <a:off x="6303724" y="5971352"/>
            <a:ext cx="5486400" cy="26825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Third high-risk wallet in burst window t=20</a:t>
            </a:r>
            <a:endParaRPr lang="en-US" sz="1200" dirty="0"/>
          </a:p>
        </p:txBody>
      </p:sp>
      <p:sp>
        <p:nvSpPr>
          <p:cNvPr id="78" name="Shape 76"/>
          <p:cNvSpPr/>
          <p:nvPr/>
        </p:nvSpPr>
        <p:spPr>
          <a:xfrm>
            <a:off x="623977" y="6299252"/>
            <a:ext cx="10911840" cy="238708"/>
          </a:xfrm>
          <a:prstGeom prst="rect">
            <a:avLst/>
          </a:prstGeom>
          <a:solidFill>
            <a:srgbClr val="0F1825"/>
          </a:solidFill>
          <a:ln w="2540">
            <a:solidFill>
              <a:srgbClr val="1E293B"/>
            </a:solidFill>
            <a:prstDash val="solid"/>
          </a:ln>
        </p:spPr>
        <p:txBody>
          <a:bodyPr/>
          <a:lstStyle/>
          <a:p>
            <a:endParaRPr lang="en-US"/>
          </a:p>
        </p:txBody>
      </p:sp>
      <p:sp>
        <p:nvSpPr>
          <p:cNvPr id="79" name="Text 77"/>
          <p:cNvSpPr/>
          <p:nvPr/>
        </p:nvSpPr>
        <p:spPr>
          <a:xfrm>
            <a:off x="640080" y="6312192"/>
            <a:ext cx="640080" cy="246888"/>
          </a:xfrm>
          <a:prstGeom prst="rect">
            <a:avLst/>
          </a:prstGeom>
          <a:noFill/>
          <a:ln/>
        </p:spPr>
        <p:txBody>
          <a:bodyPr wrap="square" rtlCol="0" anchor="ctr"/>
          <a:lstStyle/>
          <a:p>
            <a:pPr marL="0" indent="0">
              <a:buNone/>
            </a:pPr>
            <a:r>
              <a:rPr lang="en-US" sz="1200" b="1" dirty="0">
                <a:solidFill>
                  <a:srgbClr val="FFD700"/>
                </a:solidFill>
                <a:latin typeface="Calibri" pitchFamily="34" charset="0"/>
                <a:ea typeface="Calibri" pitchFamily="34" charset="-122"/>
                <a:cs typeface="Calibri" pitchFamily="34" charset="-120"/>
              </a:rPr>
              <a:t>#10</a:t>
            </a:r>
            <a:endParaRPr lang="en-US" sz="1200" dirty="0"/>
          </a:p>
        </p:txBody>
      </p:sp>
      <p:sp>
        <p:nvSpPr>
          <p:cNvPr id="80" name="Text 78"/>
          <p:cNvSpPr/>
          <p:nvPr/>
        </p:nvSpPr>
        <p:spPr>
          <a:xfrm>
            <a:off x="1389888" y="6312192"/>
            <a:ext cx="18288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355,090,678</a:t>
            </a:r>
            <a:endParaRPr lang="en-US" sz="1200" dirty="0"/>
          </a:p>
        </p:txBody>
      </p:sp>
      <p:sp>
        <p:nvSpPr>
          <p:cNvPr id="81" name="Text 79"/>
          <p:cNvSpPr/>
          <p:nvPr/>
        </p:nvSpPr>
        <p:spPr>
          <a:xfrm>
            <a:off x="3328416" y="6312192"/>
            <a:ext cx="1463040" cy="246888"/>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99.989%</a:t>
            </a:r>
            <a:endParaRPr lang="en-US" sz="1200" dirty="0"/>
          </a:p>
        </p:txBody>
      </p:sp>
      <p:sp>
        <p:nvSpPr>
          <p:cNvPr id="82" name="Text 80"/>
          <p:cNvSpPr/>
          <p:nvPr/>
        </p:nvSpPr>
        <p:spPr>
          <a:xfrm>
            <a:off x="4901184" y="6312192"/>
            <a:ext cx="128016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32</a:t>
            </a:r>
            <a:endParaRPr lang="en-US" sz="1200" dirty="0"/>
          </a:p>
        </p:txBody>
      </p:sp>
      <p:sp>
        <p:nvSpPr>
          <p:cNvPr id="83" name="Text 81"/>
          <p:cNvSpPr/>
          <p:nvPr/>
        </p:nvSpPr>
        <p:spPr>
          <a:xfrm>
            <a:off x="6291072" y="6312192"/>
            <a:ext cx="5486400" cy="2468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Co-active with #6 at step 32 — coordinated activity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Temporal Burst Detection</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Text 4"/>
          <p:cNvSpPr/>
          <p:nvPr/>
        </p:nvSpPr>
        <p:spPr>
          <a:xfrm>
            <a:off x="457200" y="868680"/>
            <a:ext cx="11247120" cy="320040"/>
          </a:xfrm>
          <a:prstGeom prst="rect">
            <a:avLst/>
          </a:prstGeom>
          <a:noFill/>
          <a:ln/>
        </p:spPr>
        <p:txBody>
          <a:bodyPr wrap="square"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Z-score analysis identifies time steps where illicit activity exceeds 1.5σ above the mean — statistically anomalous, not just visually elevated</a:t>
            </a:r>
            <a:endParaRPr lang="en-US" sz="1400" dirty="0"/>
          </a:p>
        </p:txBody>
      </p:sp>
      <p:sp>
        <p:nvSpPr>
          <p:cNvPr id="7" name="Shape 5"/>
          <p:cNvSpPr/>
          <p:nvPr/>
        </p:nvSpPr>
        <p:spPr>
          <a:xfrm>
            <a:off x="457200" y="1298448"/>
            <a:ext cx="11247120" cy="2651760"/>
          </a:xfrm>
          <a:prstGeom prst="rect">
            <a:avLst/>
          </a:prstGeom>
          <a:solidFill>
            <a:srgbClr val="0A0E1A"/>
          </a:solidFill>
          <a:ln w="6350">
            <a:solidFill>
              <a:srgbClr val="1E293B"/>
            </a:solidFill>
            <a:prstDash val="solid"/>
          </a:ln>
        </p:spPr>
        <p:txBody>
          <a:bodyPr/>
          <a:lstStyle/>
          <a:p>
            <a:endParaRPr lang="en-US" sz="1200"/>
          </a:p>
        </p:txBody>
      </p:sp>
      <p:sp>
        <p:nvSpPr>
          <p:cNvPr id="8" name="Shape 6"/>
          <p:cNvSpPr/>
          <p:nvPr/>
        </p:nvSpPr>
        <p:spPr>
          <a:xfrm>
            <a:off x="457200" y="3201086"/>
            <a:ext cx="11247120" cy="0"/>
          </a:xfrm>
          <a:prstGeom prst="line">
            <a:avLst/>
          </a:prstGeom>
          <a:noFill/>
          <a:ln w="12700">
            <a:solidFill>
              <a:srgbClr val="FFD700"/>
            </a:solidFill>
            <a:prstDash val="dash"/>
          </a:ln>
        </p:spPr>
        <p:txBody>
          <a:bodyPr/>
          <a:lstStyle/>
          <a:p>
            <a:endParaRPr lang="en-US"/>
          </a:p>
        </p:txBody>
      </p:sp>
      <p:sp>
        <p:nvSpPr>
          <p:cNvPr id="9" name="Text 7"/>
          <p:cNvSpPr/>
          <p:nvPr/>
        </p:nvSpPr>
        <p:spPr>
          <a:xfrm>
            <a:off x="10515600" y="2999918"/>
            <a:ext cx="1097280" cy="182880"/>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Mean 11.3%</a:t>
            </a:r>
            <a:endParaRPr lang="en-US" sz="1200" dirty="0"/>
          </a:p>
        </p:txBody>
      </p:sp>
      <p:sp>
        <p:nvSpPr>
          <p:cNvPr id="10" name="Shape 8"/>
          <p:cNvSpPr/>
          <p:nvPr/>
        </p:nvSpPr>
        <p:spPr>
          <a:xfrm>
            <a:off x="457200" y="2253082"/>
            <a:ext cx="11247120" cy="0"/>
          </a:xfrm>
          <a:prstGeom prst="line">
            <a:avLst/>
          </a:prstGeom>
          <a:noFill/>
          <a:ln w="12700">
            <a:solidFill>
              <a:srgbClr val="FF4444"/>
            </a:solidFill>
            <a:prstDash val="dot"/>
          </a:ln>
        </p:spPr>
        <p:txBody>
          <a:bodyPr/>
          <a:lstStyle/>
          <a:p>
            <a:endParaRPr lang="en-US"/>
          </a:p>
        </p:txBody>
      </p:sp>
      <p:sp>
        <p:nvSpPr>
          <p:cNvPr id="11" name="Text 9"/>
          <p:cNvSpPr/>
          <p:nvPr/>
        </p:nvSpPr>
        <p:spPr>
          <a:xfrm>
            <a:off x="10332720" y="2051914"/>
            <a:ext cx="1280160" cy="182880"/>
          </a:xfrm>
          <a:prstGeom prst="rect">
            <a:avLst/>
          </a:prstGeom>
          <a:noFill/>
          <a:ln/>
        </p:spPr>
        <p:txBody>
          <a:bodyPr wrap="square" rtlCol="0" anchor="ctr"/>
          <a:lstStyle/>
          <a:p>
            <a:pPr marL="0" indent="0">
              <a:buNone/>
            </a:pPr>
            <a:r>
              <a:rPr lang="en-US" sz="1200" dirty="0">
                <a:solidFill>
                  <a:srgbClr val="FF4444"/>
                </a:solidFill>
                <a:latin typeface="Calibri" pitchFamily="34" charset="0"/>
                <a:ea typeface="Calibri" pitchFamily="34" charset="-122"/>
                <a:cs typeface="Calibri" pitchFamily="34" charset="-120"/>
              </a:rPr>
              <a:t>1.5σ threshold</a:t>
            </a:r>
            <a:endParaRPr lang="en-US" sz="1200" dirty="0"/>
          </a:p>
        </p:txBody>
      </p:sp>
      <p:sp>
        <p:nvSpPr>
          <p:cNvPr id="12" name="Shape 10"/>
          <p:cNvSpPr/>
          <p:nvPr/>
        </p:nvSpPr>
        <p:spPr>
          <a:xfrm>
            <a:off x="475488" y="3883914"/>
            <a:ext cx="192957" cy="66294"/>
          </a:xfrm>
          <a:prstGeom prst="rect">
            <a:avLst/>
          </a:prstGeom>
          <a:solidFill>
            <a:srgbClr val="4A90D9"/>
          </a:solidFill>
          <a:ln w="12700">
            <a:solidFill>
              <a:srgbClr val="4A90D9"/>
            </a:solidFill>
            <a:prstDash val="solid"/>
          </a:ln>
        </p:spPr>
        <p:txBody>
          <a:bodyPr/>
          <a:lstStyle/>
          <a:p>
            <a:endParaRPr lang="en-US"/>
          </a:p>
        </p:txBody>
      </p:sp>
      <p:sp>
        <p:nvSpPr>
          <p:cNvPr id="13" name="Shape 11"/>
          <p:cNvSpPr/>
          <p:nvPr/>
        </p:nvSpPr>
        <p:spPr>
          <a:xfrm>
            <a:off x="705021" y="3817620"/>
            <a:ext cx="192957" cy="132588"/>
          </a:xfrm>
          <a:prstGeom prst="rect">
            <a:avLst/>
          </a:prstGeom>
          <a:solidFill>
            <a:srgbClr val="4A90D9"/>
          </a:solidFill>
          <a:ln w="12700">
            <a:solidFill>
              <a:srgbClr val="4A90D9"/>
            </a:solidFill>
            <a:prstDash val="solid"/>
          </a:ln>
        </p:spPr>
        <p:txBody>
          <a:bodyPr/>
          <a:lstStyle/>
          <a:p>
            <a:endParaRPr lang="en-US"/>
          </a:p>
        </p:txBody>
      </p:sp>
      <p:sp>
        <p:nvSpPr>
          <p:cNvPr id="14" name="Shape 12"/>
          <p:cNvSpPr/>
          <p:nvPr/>
        </p:nvSpPr>
        <p:spPr>
          <a:xfrm>
            <a:off x="934554" y="3883914"/>
            <a:ext cx="192957" cy="66294"/>
          </a:xfrm>
          <a:prstGeom prst="rect">
            <a:avLst/>
          </a:prstGeom>
          <a:solidFill>
            <a:srgbClr val="4A90D9"/>
          </a:solidFill>
          <a:ln w="12700">
            <a:solidFill>
              <a:srgbClr val="4A90D9"/>
            </a:solidFill>
            <a:prstDash val="solid"/>
          </a:ln>
        </p:spPr>
        <p:txBody>
          <a:bodyPr/>
          <a:lstStyle/>
          <a:p>
            <a:endParaRPr lang="en-US"/>
          </a:p>
        </p:txBody>
      </p:sp>
      <p:sp>
        <p:nvSpPr>
          <p:cNvPr id="15" name="Shape 13"/>
          <p:cNvSpPr/>
          <p:nvPr/>
        </p:nvSpPr>
        <p:spPr>
          <a:xfrm>
            <a:off x="1164087" y="3817620"/>
            <a:ext cx="192957" cy="132588"/>
          </a:xfrm>
          <a:prstGeom prst="rect">
            <a:avLst/>
          </a:prstGeom>
          <a:solidFill>
            <a:srgbClr val="4A90D9"/>
          </a:solidFill>
          <a:ln w="12700">
            <a:solidFill>
              <a:srgbClr val="4A90D9"/>
            </a:solidFill>
            <a:prstDash val="solid"/>
          </a:ln>
        </p:spPr>
        <p:txBody>
          <a:bodyPr/>
          <a:lstStyle/>
          <a:p>
            <a:endParaRPr lang="en-US"/>
          </a:p>
        </p:txBody>
      </p:sp>
      <p:sp>
        <p:nvSpPr>
          <p:cNvPr id="16" name="Shape 14"/>
          <p:cNvSpPr/>
          <p:nvPr/>
        </p:nvSpPr>
        <p:spPr>
          <a:xfrm>
            <a:off x="1393620"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17" name="Shape 15"/>
          <p:cNvSpPr/>
          <p:nvPr/>
        </p:nvSpPr>
        <p:spPr>
          <a:xfrm>
            <a:off x="1623153" y="3552444"/>
            <a:ext cx="192957" cy="397764"/>
          </a:xfrm>
          <a:prstGeom prst="rect">
            <a:avLst/>
          </a:prstGeom>
          <a:solidFill>
            <a:srgbClr val="4A90D9"/>
          </a:solidFill>
          <a:ln w="12700">
            <a:solidFill>
              <a:srgbClr val="4A90D9"/>
            </a:solidFill>
            <a:prstDash val="solid"/>
          </a:ln>
        </p:spPr>
        <p:txBody>
          <a:bodyPr/>
          <a:lstStyle/>
          <a:p>
            <a:endParaRPr lang="en-US"/>
          </a:p>
        </p:txBody>
      </p:sp>
      <p:sp>
        <p:nvSpPr>
          <p:cNvPr id="18" name="Shape 16"/>
          <p:cNvSpPr/>
          <p:nvPr/>
        </p:nvSpPr>
        <p:spPr>
          <a:xfrm>
            <a:off x="1852686"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19" name="Shape 17"/>
          <p:cNvSpPr/>
          <p:nvPr/>
        </p:nvSpPr>
        <p:spPr>
          <a:xfrm>
            <a:off x="2082219" y="3486150"/>
            <a:ext cx="192957" cy="464058"/>
          </a:xfrm>
          <a:prstGeom prst="rect">
            <a:avLst/>
          </a:prstGeom>
          <a:solidFill>
            <a:srgbClr val="4A90D9"/>
          </a:solidFill>
          <a:ln w="12700">
            <a:solidFill>
              <a:srgbClr val="4A90D9"/>
            </a:solidFill>
            <a:prstDash val="solid"/>
          </a:ln>
        </p:spPr>
        <p:txBody>
          <a:bodyPr/>
          <a:lstStyle/>
          <a:p>
            <a:endParaRPr lang="en-US"/>
          </a:p>
        </p:txBody>
      </p:sp>
      <p:sp>
        <p:nvSpPr>
          <p:cNvPr id="20" name="Shape 18"/>
          <p:cNvSpPr/>
          <p:nvPr/>
        </p:nvSpPr>
        <p:spPr>
          <a:xfrm>
            <a:off x="2311752" y="1895094"/>
            <a:ext cx="192957" cy="2055114"/>
          </a:xfrm>
          <a:prstGeom prst="rect">
            <a:avLst/>
          </a:prstGeom>
          <a:solidFill>
            <a:srgbClr val="FF4444"/>
          </a:solidFill>
          <a:ln w="12700">
            <a:solidFill>
              <a:srgbClr val="FF4444"/>
            </a:solidFill>
            <a:prstDash val="solid"/>
          </a:ln>
        </p:spPr>
        <p:txBody>
          <a:bodyPr/>
          <a:lstStyle/>
          <a:p>
            <a:endParaRPr lang="en-US"/>
          </a:p>
        </p:txBody>
      </p:sp>
      <p:sp>
        <p:nvSpPr>
          <p:cNvPr id="21" name="Text 19"/>
          <p:cNvSpPr/>
          <p:nvPr/>
        </p:nvSpPr>
        <p:spPr>
          <a:xfrm>
            <a:off x="2220312" y="1648206"/>
            <a:ext cx="502920" cy="201168"/>
          </a:xfrm>
          <a:prstGeom prst="rect">
            <a:avLst/>
          </a:prstGeom>
          <a:noFill/>
          <a:ln/>
        </p:spPr>
        <p:txBody>
          <a:bodyPr wrap="square" rtlCol="0" anchor="ctr"/>
          <a:lstStyle/>
          <a:p>
            <a:pPr marL="0" indent="0" algn="ctr">
              <a:buNone/>
            </a:pPr>
            <a:r>
              <a:rPr lang="en-US" sz="1200" dirty="0">
                <a:solidFill>
                  <a:srgbClr val="FF4444"/>
                </a:solidFill>
                <a:latin typeface="Calibri" pitchFamily="34" charset="0"/>
                <a:ea typeface="Calibri" pitchFamily="34" charset="-122"/>
                <a:cs typeface="Calibri" pitchFamily="34" charset="-120"/>
              </a:rPr>
              <a:t>t=9</a:t>
            </a:r>
            <a:endParaRPr lang="en-US" sz="1200" dirty="0"/>
          </a:p>
        </p:txBody>
      </p:sp>
      <p:sp>
        <p:nvSpPr>
          <p:cNvPr id="22" name="Shape 20"/>
          <p:cNvSpPr/>
          <p:nvPr/>
        </p:nvSpPr>
        <p:spPr>
          <a:xfrm>
            <a:off x="2541286" y="3552444"/>
            <a:ext cx="192957" cy="397764"/>
          </a:xfrm>
          <a:prstGeom prst="rect">
            <a:avLst/>
          </a:prstGeom>
          <a:solidFill>
            <a:srgbClr val="4A90D9"/>
          </a:solidFill>
          <a:ln w="12700">
            <a:solidFill>
              <a:srgbClr val="4A90D9"/>
            </a:solidFill>
            <a:prstDash val="solid"/>
          </a:ln>
        </p:spPr>
        <p:txBody>
          <a:bodyPr/>
          <a:lstStyle/>
          <a:p>
            <a:endParaRPr lang="en-US"/>
          </a:p>
        </p:txBody>
      </p:sp>
      <p:sp>
        <p:nvSpPr>
          <p:cNvPr id="23" name="Shape 21"/>
          <p:cNvSpPr/>
          <p:nvPr/>
        </p:nvSpPr>
        <p:spPr>
          <a:xfrm>
            <a:off x="2770819" y="3751326"/>
            <a:ext cx="192957" cy="198882"/>
          </a:xfrm>
          <a:prstGeom prst="rect">
            <a:avLst/>
          </a:prstGeom>
          <a:solidFill>
            <a:srgbClr val="4A90D9"/>
          </a:solidFill>
          <a:ln w="12700">
            <a:solidFill>
              <a:srgbClr val="4A90D9"/>
            </a:solidFill>
            <a:prstDash val="solid"/>
          </a:ln>
        </p:spPr>
        <p:txBody>
          <a:bodyPr/>
          <a:lstStyle/>
          <a:p>
            <a:endParaRPr lang="en-US"/>
          </a:p>
        </p:txBody>
      </p:sp>
      <p:sp>
        <p:nvSpPr>
          <p:cNvPr id="24" name="Shape 22"/>
          <p:cNvSpPr/>
          <p:nvPr/>
        </p:nvSpPr>
        <p:spPr>
          <a:xfrm>
            <a:off x="3000352" y="3685032"/>
            <a:ext cx="192957" cy="265176"/>
          </a:xfrm>
          <a:prstGeom prst="rect">
            <a:avLst/>
          </a:prstGeom>
          <a:solidFill>
            <a:srgbClr val="4A90D9"/>
          </a:solidFill>
          <a:ln w="12700">
            <a:solidFill>
              <a:srgbClr val="4A90D9"/>
            </a:solidFill>
            <a:prstDash val="solid"/>
          </a:ln>
        </p:spPr>
        <p:txBody>
          <a:bodyPr/>
          <a:lstStyle/>
          <a:p>
            <a:endParaRPr lang="en-US"/>
          </a:p>
        </p:txBody>
      </p:sp>
      <p:sp>
        <p:nvSpPr>
          <p:cNvPr id="25" name="Shape 23"/>
          <p:cNvSpPr/>
          <p:nvPr/>
        </p:nvSpPr>
        <p:spPr>
          <a:xfrm>
            <a:off x="3229885" y="1629918"/>
            <a:ext cx="192957" cy="2320290"/>
          </a:xfrm>
          <a:prstGeom prst="rect">
            <a:avLst/>
          </a:prstGeom>
          <a:solidFill>
            <a:srgbClr val="FF4444"/>
          </a:solidFill>
          <a:ln w="12700">
            <a:solidFill>
              <a:srgbClr val="FF4444"/>
            </a:solidFill>
            <a:prstDash val="solid"/>
          </a:ln>
        </p:spPr>
        <p:txBody>
          <a:bodyPr/>
          <a:lstStyle/>
          <a:p>
            <a:endParaRPr lang="en-US"/>
          </a:p>
        </p:txBody>
      </p:sp>
      <p:sp>
        <p:nvSpPr>
          <p:cNvPr id="26" name="Text 24"/>
          <p:cNvSpPr/>
          <p:nvPr/>
        </p:nvSpPr>
        <p:spPr>
          <a:xfrm>
            <a:off x="3138445" y="1383030"/>
            <a:ext cx="502920" cy="201168"/>
          </a:xfrm>
          <a:prstGeom prst="rect">
            <a:avLst/>
          </a:prstGeom>
          <a:noFill/>
          <a:ln/>
        </p:spPr>
        <p:txBody>
          <a:bodyPr wrap="square" rtlCol="0" anchor="ctr"/>
          <a:lstStyle/>
          <a:p>
            <a:pPr marL="0" indent="0" algn="ctr">
              <a:buNone/>
            </a:pPr>
            <a:r>
              <a:rPr lang="en-US" sz="1200" dirty="0">
                <a:solidFill>
                  <a:srgbClr val="FF4444"/>
                </a:solidFill>
                <a:latin typeface="Calibri" pitchFamily="34" charset="0"/>
                <a:ea typeface="Calibri" pitchFamily="34" charset="-122"/>
                <a:cs typeface="Calibri" pitchFamily="34" charset="-120"/>
              </a:rPr>
              <a:t>t=13</a:t>
            </a:r>
            <a:endParaRPr lang="en-US" sz="1200" dirty="0"/>
          </a:p>
        </p:txBody>
      </p:sp>
      <p:sp>
        <p:nvSpPr>
          <p:cNvPr id="27" name="Shape 25"/>
          <p:cNvSpPr/>
          <p:nvPr/>
        </p:nvSpPr>
        <p:spPr>
          <a:xfrm>
            <a:off x="3459418" y="3287268"/>
            <a:ext cx="192957" cy="662940"/>
          </a:xfrm>
          <a:prstGeom prst="rect">
            <a:avLst/>
          </a:prstGeom>
          <a:solidFill>
            <a:srgbClr val="4A90D9"/>
          </a:solidFill>
          <a:ln w="12700">
            <a:solidFill>
              <a:srgbClr val="4A90D9"/>
            </a:solidFill>
            <a:prstDash val="solid"/>
          </a:ln>
        </p:spPr>
        <p:txBody>
          <a:bodyPr/>
          <a:lstStyle/>
          <a:p>
            <a:endParaRPr lang="en-US"/>
          </a:p>
        </p:txBody>
      </p:sp>
      <p:sp>
        <p:nvSpPr>
          <p:cNvPr id="28" name="Shape 26"/>
          <p:cNvSpPr/>
          <p:nvPr/>
        </p:nvSpPr>
        <p:spPr>
          <a:xfrm>
            <a:off x="3688951" y="3154680"/>
            <a:ext cx="192957" cy="795528"/>
          </a:xfrm>
          <a:prstGeom prst="rect">
            <a:avLst/>
          </a:prstGeom>
          <a:solidFill>
            <a:srgbClr val="4A90D9"/>
          </a:solidFill>
          <a:ln w="12700">
            <a:solidFill>
              <a:srgbClr val="4A90D9"/>
            </a:solidFill>
            <a:prstDash val="solid"/>
          </a:ln>
        </p:spPr>
        <p:txBody>
          <a:bodyPr/>
          <a:lstStyle/>
          <a:p>
            <a:endParaRPr lang="en-US"/>
          </a:p>
        </p:txBody>
      </p:sp>
      <p:sp>
        <p:nvSpPr>
          <p:cNvPr id="29" name="Shape 27"/>
          <p:cNvSpPr/>
          <p:nvPr/>
        </p:nvSpPr>
        <p:spPr>
          <a:xfrm>
            <a:off x="3918484" y="3088386"/>
            <a:ext cx="192957" cy="861822"/>
          </a:xfrm>
          <a:prstGeom prst="rect">
            <a:avLst/>
          </a:prstGeom>
          <a:solidFill>
            <a:srgbClr val="4A90D9"/>
          </a:solidFill>
          <a:ln w="12700">
            <a:solidFill>
              <a:srgbClr val="4A90D9"/>
            </a:solidFill>
            <a:prstDash val="solid"/>
          </a:ln>
        </p:spPr>
        <p:txBody>
          <a:bodyPr/>
          <a:lstStyle/>
          <a:p>
            <a:endParaRPr lang="en-US"/>
          </a:p>
        </p:txBody>
      </p:sp>
      <p:sp>
        <p:nvSpPr>
          <p:cNvPr id="30" name="Shape 28"/>
          <p:cNvSpPr/>
          <p:nvPr/>
        </p:nvSpPr>
        <p:spPr>
          <a:xfrm>
            <a:off x="4148017" y="3154680"/>
            <a:ext cx="192957" cy="795528"/>
          </a:xfrm>
          <a:prstGeom prst="rect">
            <a:avLst/>
          </a:prstGeom>
          <a:solidFill>
            <a:srgbClr val="4A90D9"/>
          </a:solidFill>
          <a:ln w="12700">
            <a:solidFill>
              <a:srgbClr val="4A90D9"/>
            </a:solidFill>
            <a:prstDash val="solid"/>
          </a:ln>
        </p:spPr>
        <p:txBody>
          <a:bodyPr/>
          <a:lstStyle/>
          <a:p>
            <a:endParaRPr lang="en-US"/>
          </a:p>
        </p:txBody>
      </p:sp>
      <p:sp>
        <p:nvSpPr>
          <p:cNvPr id="31" name="Shape 29"/>
          <p:cNvSpPr/>
          <p:nvPr/>
        </p:nvSpPr>
        <p:spPr>
          <a:xfrm>
            <a:off x="4377550"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32" name="Shape 30"/>
          <p:cNvSpPr/>
          <p:nvPr/>
        </p:nvSpPr>
        <p:spPr>
          <a:xfrm>
            <a:off x="4607083" y="3154680"/>
            <a:ext cx="192957" cy="795528"/>
          </a:xfrm>
          <a:prstGeom prst="rect">
            <a:avLst/>
          </a:prstGeom>
          <a:solidFill>
            <a:srgbClr val="4A90D9"/>
          </a:solidFill>
          <a:ln w="12700">
            <a:solidFill>
              <a:srgbClr val="4A90D9"/>
            </a:solidFill>
            <a:prstDash val="solid"/>
          </a:ln>
        </p:spPr>
        <p:txBody>
          <a:bodyPr/>
          <a:lstStyle/>
          <a:p>
            <a:endParaRPr lang="en-US"/>
          </a:p>
        </p:txBody>
      </p:sp>
      <p:sp>
        <p:nvSpPr>
          <p:cNvPr id="33" name="Shape 31"/>
          <p:cNvSpPr/>
          <p:nvPr/>
        </p:nvSpPr>
        <p:spPr>
          <a:xfrm>
            <a:off x="4836616" y="2027682"/>
            <a:ext cx="192957" cy="1922526"/>
          </a:xfrm>
          <a:prstGeom prst="rect">
            <a:avLst/>
          </a:prstGeom>
          <a:solidFill>
            <a:srgbClr val="FF4444"/>
          </a:solidFill>
          <a:ln w="12700">
            <a:solidFill>
              <a:srgbClr val="FF4444"/>
            </a:solidFill>
            <a:prstDash val="solid"/>
          </a:ln>
        </p:spPr>
        <p:txBody>
          <a:bodyPr/>
          <a:lstStyle/>
          <a:p>
            <a:endParaRPr lang="en-US"/>
          </a:p>
        </p:txBody>
      </p:sp>
      <p:sp>
        <p:nvSpPr>
          <p:cNvPr id="34" name="Text 32"/>
          <p:cNvSpPr/>
          <p:nvPr/>
        </p:nvSpPr>
        <p:spPr>
          <a:xfrm>
            <a:off x="4745176" y="1780794"/>
            <a:ext cx="502920" cy="201168"/>
          </a:xfrm>
          <a:prstGeom prst="rect">
            <a:avLst/>
          </a:prstGeom>
          <a:noFill/>
          <a:ln/>
        </p:spPr>
        <p:txBody>
          <a:bodyPr wrap="square" rtlCol="0" anchor="ctr"/>
          <a:lstStyle/>
          <a:p>
            <a:pPr marL="0" indent="0" algn="ctr">
              <a:buNone/>
            </a:pPr>
            <a:r>
              <a:rPr lang="en-US" sz="1200" dirty="0">
                <a:solidFill>
                  <a:srgbClr val="FF4444"/>
                </a:solidFill>
                <a:latin typeface="Calibri" pitchFamily="34" charset="0"/>
                <a:ea typeface="Calibri" pitchFamily="34" charset="-122"/>
                <a:cs typeface="Calibri" pitchFamily="34" charset="-120"/>
              </a:rPr>
              <a:t>t=20</a:t>
            </a:r>
            <a:endParaRPr lang="en-US" sz="1200" dirty="0"/>
          </a:p>
        </p:txBody>
      </p:sp>
      <p:sp>
        <p:nvSpPr>
          <p:cNvPr id="35" name="Shape 33"/>
          <p:cNvSpPr/>
          <p:nvPr/>
        </p:nvSpPr>
        <p:spPr>
          <a:xfrm>
            <a:off x="5066149" y="3088386"/>
            <a:ext cx="192957" cy="861822"/>
          </a:xfrm>
          <a:prstGeom prst="rect">
            <a:avLst/>
          </a:prstGeom>
          <a:solidFill>
            <a:srgbClr val="4A90D9"/>
          </a:solidFill>
          <a:ln w="12700">
            <a:solidFill>
              <a:srgbClr val="4A90D9"/>
            </a:solidFill>
            <a:prstDash val="solid"/>
          </a:ln>
        </p:spPr>
        <p:txBody>
          <a:bodyPr/>
          <a:lstStyle/>
          <a:p>
            <a:endParaRPr lang="en-US"/>
          </a:p>
        </p:txBody>
      </p:sp>
      <p:sp>
        <p:nvSpPr>
          <p:cNvPr id="36" name="Shape 34"/>
          <p:cNvSpPr/>
          <p:nvPr/>
        </p:nvSpPr>
        <p:spPr>
          <a:xfrm>
            <a:off x="5295682" y="3154680"/>
            <a:ext cx="192957" cy="795528"/>
          </a:xfrm>
          <a:prstGeom prst="rect">
            <a:avLst/>
          </a:prstGeom>
          <a:solidFill>
            <a:srgbClr val="4A90D9"/>
          </a:solidFill>
          <a:ln w="12700">
            <a:solidFill>
              <a:srgbClr val="4A90D9"/>
            </a:solidFill>
            <a:prstDash val="solid"/>
          </a:ln>
        </p:spPr>
        <p:txBody>
          <a:bodyPr/>
          <a:lstStyle/>
          <a:p>
            <a:endParaRPr lang="en-US"/>
          </a:p>
        </p:txBody>
      </p:sp>
      <p:sp>
        <p:nvSpPr>
          <p:cNvPr id="37" name="Shape 35"/>
          <p:cNvSpPr/>
          <p:nvPr/>
        </p:nvSpPr>
        <p:spPr>
          <a:xfrm>
            <a:off x="5525215" y="3618738"/>
            <a:ext cx="192957" cy="331470"/>
          </a:xfrm>
          <a:prstGeom prst="rect">
            <a:avLst/>
          </a:prstGeom>
          <a:solidFill>
            <a:srgbClr val="4A90D9"/>
          </a:solidFill>
          <a:ln w="12700">
            <a:solidFill>
              <a:srgbClr val="4A90D9"/>
            </a:solidFill>
            <a:prstDash val="solid"/>
          </a:ln>
        </p:spPr>
        <p:txBody>
          <a:bodyPr/>
          <a:lstStyle/>
          <a:p>
            <a:endParaRPr lang="en-US"/>
          </a:p>
        </p:txBody>
      </p:sp>
      <p:sp>
        <p:nvSpPr>
          <p:cNvPr id="38" name="Shape 36"/>
          <p:cNvSpPr/>
          <p:nvPr/>
        </p:nvSpPr>
        <p:spPr>
          <a:xfrm>
            <a:off x="5754748" y="3154680"/>
            <a:ext cx="192957" cy="795528"/>
          </a:xfrm>
          <a:prstGeom prst="rect">
            <a:avLst/>
          </a:prstGeom>
          <a:solidFill>
            <a:srgbClr val="4A90D9"/>
          </a:solidFill>
          <a:ln w="12700">
            <a:solidFill>
              <a:srgbClr val="4A90D9"/>
            </a:solidFill>
            <a:prstDash val="solid"/>
          </a:ln>
        </p:spPr>
        <p:txBody>
          <a:bodyPr/>
          <a:lstStyle/>
          <a:p>
            <a:endParaRPr lang="en-US"/>
          </a:p>
        </p:txBody>
      </p:sp>
      <p:sp>
        <p:nvSpPr>
          <p:cNvPr id="39" name="Shape 37"/>
          <p:cNvSpPr/>
          <p:nvPr/>
        </p:nvSpPr>
        <p:spPr>
          <a:xfrm>
            <a:off x="5984281" y="3088386"/>
            <a:ext cx="192957" cy="861822"/>
          </a:xfrm>
          <a:prstGeom prst="rect">
            <a:avLst/>
          </a:prstGeom>
          <a:solidFill>
            <a:srgbClr val="4A90D9"/>
          </a:solidFill>
          <a:ln w="12700">
            <a:solidFill>
              <a:srgbClr val="4A90D9"/>
            </a:solidFill>
            <a:prstDash val="solid"/>
          </a:ln>
        </p:spPr>
        <p:txBody>
          <a:bodyPr/>
          <a:lstStyle/>
          <a:p>
            <a:endParaRPr lang="en-US"/>
          </a:p>
        </p:txBody>
      </p:sp>
      <p:sp>
        <p:nvSpPr>
          <p:cNvPr id="40" name="Shape 38"/>
          <p:cNvSpPr/>
          <p:nvPr/>
        </p:nvSpPr>
        <p:spPr>
          <a:xfrm>
            <a:off x="6213815" y="3220974"/>
            <a:ext cx="192957" cy="729234"/>
          </a:xfrm>
          <a:prstGeom prst="rect">
            <a:avLst/>
          </a:prstGeom>
          <a:solidFill>
            <a:srgbClr val="4A90D9"/>
          </a:solidFill>
          <a:ln w="12700">
            <a:solidFill>
              <a:srgbClr val="4A90D9"/>
            </a:solidFill>
            <a:prstDash val="solid"/>
          </a:ln>
        </p:spPr>
        <p:txBody>
          <a:bodyPr/>
          <a:lstStyle/>
          <a:p>
            <a:endParaRPr lang="en-US"/>
          </a:p>
        </p:txBody>
      </p:sp>
      <p:sp>
        <p:nvSpPr>
          <p:cNvPr id="41" name="Shape 39"/>
          <p:cNvSpPr/>
          <p:nvPr/>
        </p:nvSpPr>
        <p:spPr>
          <a:xfrm>
            <a:off x="6443348" y="3220974"/>
            <a:ext cx="192957" cy="729234"/>
          </a:xfrm>
          <a:prstGeom prst="rect">
            <a:avLst/>
          </a:prstGeom>
          <a:solidFill>
            <a:srgbClr val="4A90D9"/>
          </a:solidFill>
          <a:ln w="12700">
            <a:solidFill>
              <a:srgbClr val="4A90D9"/>
            </a:solidFill>
            <a:prstDash val="solid"/>
          </a:ln>
        </p:spPr>
        <p:txBody>
          <a:bodyPr/>
          <a:lstStyle/>
          <a:p>
            <a:endParaRPr lang="en-US"/>
          </a:p>
        </p:txBody>
      </p:sp>
      <p:sp>
        <p:nvSpPr>
          <p:cNvPr id="42" name="Shape 40"/>
          <p:cNvSpPr/>
          <p:nvPr/>
        </p:nvSpPr>
        <p:spPr>
          <a:xfrm>
            <a:off x="6672881" y="1961388"/>
            <a:ext cx="192957" cy="1988820"/>
          </a:xfrm>
          <a:prstGeom prst="rect">
            <a:avLst/>
          </a:prstGeom>
          <a:solidFill>
            <a:srgbClr val="FF4444"/>
          </a:solidFill>
          <a:ln w="12700">
            <a:solidFill>
              <a:srgbClr val="FF4444"/>
            </a:solidFill>
            <a:prstDash val="solid"/>
          </a:ln>
        </p:spPr>
        <p:txBody>
          <a:bodyPr/>
          <a:lstStyle/>
          <a:p>
            <a:endParaRPr lang="en-US"/>
          </a:p>
        </p:txBody>
      </p:sp>
      <p:sp>
        <p:nvSpPr>
          <p:cNvPr id="43" name="Text 41"/>
          <p:cNvSpPr/>
          <p:nvPr/>
        </p:nvSpPr>
        <p:spPr>
          <a:xfrm>
            <a:off x="6523334" y="1628319"/>
            <a:ext cx="502920" cy="201168"/>
          </a:xfrm>
          <a:prstGeom prst="rect">
            <a:avLst/>
          </a:prstGeom>
          <a:noFill/>
          <a:ln/>
        </p:spPr>
        <p:txBody>
          <a:bodyPr wrap="square" rtlCol="0" anchor="ctr"/>
          <a:lstStyle/>
          <a:p>
            <a:pPr marL="0" indent="0" algn="ctr">
              <a:buNone/>
            </a:pPr>
            <a:r>
              <a:rPr lang="en-US" sz="1200" dirty="0">
                <a:solidFill>
                  <a:srgbClr val="FF4444"/>
                </a:solidFill>
                <a:latin typeface="Calibri" pitchFamily="34" charset="0"/>
                <a:ea typeface="Calibri" pitchFamily="34" charset="-122"/>
                <a:cs typeface="Calibri" pitchFamily="34" charset="-120"/>
              </a:rPr>
              <a:t>t=28</a:t>
            </a:r>
            <a:endParaRPr lang="en-US" sz="1200" dirty="0"/>
          </a:p>
        </p:txBody>
      </p:sp>
      <p:sp>
        <p:nvSpPr>
          <p:cNvPr id="44" name="Shape 42"/>
          <p:cNvSpPr/>
          <p:nvPr/>
        </p:nvSpPr>
        <p:spPr>
          <a:xfrm>
            <a:off x="6902414" y="2027682"/>
            <a:ext cx="192957" cy="1922526"/>
          </a:xfrm>
          <a:prstGeom prst="rect">
            <a:avLst/>
          </a:prstGeom>
          <a:solidFill>
            <a:srgbClr val="FF4444"/>
          </a:solidFill>
          <a:ln w="12700">
            <a:solidFill>
              <a:srgbClr val="FF4444"/>
            </a:solidFill>
            <a:prstDash val="solid"/>
          </a:ln>
        </p:spPr>
        <p:txBody>
          <a:bodyPr/>
          <a:lstStyle/>
          <a:p>
            <a:endParaRPr lang="en-US"/>
          </a:p>
        </p:txBody>
      </p:sp>
      <p:sp>
        <p:nvSpPr>
          <p:cNvPr id="45" name="Text 43"/>
          <p:cNvSpPr/>
          <p:nvPr/>
        </p:nvSpPr>
        <p:spPr>
          <a:xfrm>
            <a:off x="6810974" y="1780794"/>
            <a:ext cx="502920" cy="201168"/>
          </a:xfrm>
          <a:prstGeom prst="rect">
            <a:avLst/>
          </a:prstGeom>
          <a:noFill/>
          <a:ln/>
        </p:spPr>
        <p:txBody>
          <a:bodyPr wrap="square" rtlCol="0" anchor="ctr"/>
          <a:lstStyle/>
          <a:p>
            <a:pPr marL="0" indent="0" algn="ctr">
              <a:buNone/>
            </a:pPr>
            <a:r>
              <a:rPr lang="en-US" sz="1200" dirty="0">
                <a:solidFill>
                  <a:srgbClr val="FF4444"/>
                </a:solidFill>
                <a:latin typeface="Calibri" pitchFamily="34" charset="0"/>
                <a:ea typeface="Calibri" pitchFamily="34" charset="-122"/>
                <a:cs typeface="Calibri" pitchFamily="34" charset="-120"/>
              </a:rPr>
              <a:t>t=29</a:t>
            </a:r>
            <a:endParaRPr lang="en-US" sz="1200" dirty="0"/>
          </a:p>
        </p:txBody>
      </p:sp>
      <p:sp>
        <p:nvSpPr>
          <p:cNvPr id="46" name="Shape 44"/>
          <p:cNvSpPr/>
          <p:nvPr/>
        </p:nvSpPr>
        <p:spPr>
          <a:xfrm>
            <a:off x="7131947" y="3287268"/>
            <a:ext cx="192957" cy="662940"/>
          </a:xfrm>
          <a:prstGeom prst="rect">
            <a:avLst/>
          </a:prstGeom>
          <a:solidFill>
            <a:srgbClr val="4A90D9"/>
          </a:solidFill>
          <a:ln w="12700">
            <a:solidFill>
              <a:srgbClr val="4A90D9"/>
            </a:solidFill>
            <a:prstDash val="solid"/>
          </a:ln>
        </p:spPr>
        <p:txBody>
          <a:bodyPr/>
          <a:lstStyle/>
          <a:p>
            <a:endParaRPr lang="en-US"/>
          </a:p>
        </p:txBody>
      </p:sp>
      <p:sp>
        <p:nvSpPr>
          <p:cNvPr id="47" name="Shape 45"/>
          <p:cNvSpPr/>
          <p:nvPr/>
        </p:nvSpPr>
        <p:spPr>
          <a:xfrm>
            <a:off x="7361480"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48" name="Shape 46"/>
          <p:cNvSpPr/>
          <p:nvPr/>
        </p:nvSpPr>
        <p:spPr>
          <a:xfrm>
            <a:off x="7591013" y="2226564"/>
            <a:ext cx="192957" cy="1723644"/>
          </a:xfrm>
          <a:prstGeom prst="rect">
            <a:avLst/>
          </a:prstGeom>
          <a:solidFill>
            <a:srgbClr val="FF4444"/>
          </a:solidFill>
          <a:ln w="12700">
            <a:solidFill>
              <a:srgbClr val="FF4444"/>
            </a:solidFill>
            <a:prstDash val="solid"/>
          </a:ln>
        </p:spPr>
        <p:txBody>
          <a:bodyPr/>
          <a:lstStyle/>
          <a:p>
            <a:endParaRPr lang="en-US"/>
          </a:p>
        </p:txBody>
      </p:sp>
      <p:sp>
        <p:nvSpPr>
          <p:cNvPr id="49" name="Text 47"/>
          <p:cNvSpPr/>
          <p:nvPr/>
        </p:nvSpPr>
        <p:spPr>
          <a:xfrm>
            <a:off x="7499573" y="1979676"/>
            <a:ext cx="502920" cy="201168"/>
          </a:xfrm>
          <a:prstGeom prst="rect">
            <a:avLst/>
          </a:prstGeom>
          <a:noFill/>
          <a:ln/>
        </p:spPr>
        <p:txBody>
          <a:bodyPr wrap="square" rtlCol="0" anchor="ctr"/>
          <a:lstStyle/>
          <a:p>
            <a:pPr marL="0" indent="0" algn="ctr">
              <a:buNone/>
            </a:pPr>
            <a:r>
              <a:rPr lang="en-US" sz="1200" dirty="0">
                <a:solidFill>
                  <a:srgbClr val="FF4444"/>
                </a:solidFill>
                <a:latin typeface="Calibri" pitchFamily="34" charset="0"/>
                <a:ea typeface="Calibri" pitchFamily="34" charset="-122"/>
                <a:cs typeface="Calibri" pitchFamily="34" charset="-120"/>
              </a:rPr>
              <a:t>t=32</a:t>
            </a:r>
            <a:endParaRPr lang="en-US" sz="1200" dirty="0"/>
          </a:p>
        </p:txBody>
      </p:sp>
      <p:sp>
        <p:nvSpPr>
          <p:cNvPr id="50" name="Shape 48"/>
          <p:cNvSpPr/>
          <p:nvPr/>
        </p:nvSpPr>
        <p:spPr>
          <a:xfrm>
            <a:off x="7820546" y="3287268"/>
            <a:ext cx="192957" cy="662940"/>
          </a:xfrm>
          <a:prstGeom prst="rect">
            <a:avLst/>
          </a:prstGeom>
          <a:solidFill>
            <a:srgbClr val="4A90D9"/>
          </a:solidFill>
          <a:ln w="12700">
            <a:solidFill>
              <a:srgbClr val="4A90D9"/>
            </a:solidFill>
            <a:prstDash val="solid"/>
          </a:ln>
        </p:spPr>
        <p:txBody>
          <a:bodyPr/>
          <a:lstStyle/>
          <a:p>
            <a:endParaRPr lang="en-US"/>
          </a:p>
        </p:txBody>
      </p:sp>
      <p:sp>
        <p:nvSpPr>
          <p:cNvPr id="51" name="Shape 49"/>
          <p:cNvSpPr/>
          <p:nvPr/>
        </p:nvSpPr>
        <p:spPr>
          <a:xfrm>
            <a:off x="8050079"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52" name="Shape 50"/>
          <p:cNvSpPr/>
          <p:nvPr/>
        </p:nvSpPr>
        <p:spPr>
          <a:xfrm>
            <a:off x="8279612"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53" name="Shape 51"/>
          <p:cNvSpPr/>
          <p:nvPr/>
        </p:nvSpPr>
        <p:spPr>
          <a:xfrm>
            <a:off x="8509145"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54" name="Shape 52"/>
          <p:cNvSpPr/>
          <p:nvPr/>
        </p:nvSpPr>
        <p:spPr>
          <a:xfrm>
            <a:off x="8738678"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55" name="Shape 53"/>
          <p:cNvSpPr/>
          <p:nvPr/>
        </p:nvSpPr>
        <p:spPr>
          <a:xfrm>
            <a:off x="8968211"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56" name="Shape 54"/>
          <p:cNvSpPr/>
          <p:nvPr/>
        </p:nvSpPr>
        <p:spPr>
          <a:xfrm>
            <a:off x="9197744"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57" name="Shape 55"/>
          <p:cNvSpPr/>
          <p:nvPr/>
        </p:nvSpPr>
        <p:spPr>
          <a:xfrm>
            <a:off x="9427277"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58" name="Shape 56"/>
          <p:cNvSpPr/>
          <p:nvPr/>
        </p:nvSpPr>
        <p:spPr>
          <a:xfrm>
            <a:off x="9656810"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59" name="Shape 57"/>
          <p:cNvSpPr/>
          <p:nvPr/>
        </p:nvSpPr>
        <p:spPr>
          <a:xfrm>
            <a:off x="9886344"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60" name="Shape 58"/>
          <p:cNvSpPr/>
          <p:nvPr/>
        </p:nvSpPr>
        <p:spPr>
          <a:xfrm>
            <a:off x="10115877"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61" name="Shape 59"/>
          <p:cNvSpPr/>
          <p:nvPr/>
        </p:nvSpPr>
        <p:spPr>
          <a:xfrm>
            <a:off x="10345410" y="3353562"/>
            <a:ext cx="192957" cy="596646"/>
          </a:xfrm>
          <a:prstGeom prst="rect">
            <a:avLst/>
          </a:prstGeom>
          <a:solidFill>
            <a:srgbClr val="4A90D9"/>
          </a:solidFill>
          <a:ln w="12700">
            <a:solidFill>
              <a:srgbClr val="4A90D9"/>
            </a:solidFill>
            <a:prstDash val="solid"/>
          </a:ln>
        </p:spPr>
        <p:txBody>
          <a:bodyPr/>
          <a:lstStyle/>
          <a:p>
            <a:endParaRPr lang="en-US"/>
          </a:p>
        </p:txBody>
      </p:sp>
      <p:sp>
        <p:nvSpPr>
          <p:cNvPr id="62" name="Shape 60"/>
          <p:cNvSpPr/>
          <p:nvPr/>
        </p:nvSpPr>
        <p:spPr>
          <a:xfrm>
            <a:off x="10574943" y="3685032"/>
            <a:ext cx="192957" cy="265176"/>
          </a:xfrm>
          <a:prstGeom prst="rect">
            <a:avLst/>
          </a:prstGeom>
          <a:solidFill>
            <a:srgbClr val="4A90D9"/>
          </a:solidFill>
          <a:ln w="12700">
            <a:solidFill>
              <a:srgbClr val="4A90D9"/>
            </a:solidFill>
            <a:prstDash val="solid"/>
          </a:ln>
        </p:spPr>
        <p:txBody>
          <a:bodyPr/>
          <a:lstStyle/>
          <a:p>
            <a:endParaRPr lang="en-US"/>
          </a:p>
        </p:txBody>
      </p:sp>
      <p:sp>
        <p:nvSpPr>
          <p:cNvPr id="63" name="Shape 61"/>
          <p:cNvSpPr/>
          <p:nvPr/>
        </p:nvSpPr>
        <p:spPr>
          <a:xfrm>
            <a:off x="10804476" y="3419856"/>
            <a:ext cx="192957" cy="530352"/>
          </a:xfrm>
          <a:prstGeom prst="rect">
            <a:avLst/>
          </a:prstGeom>
          <a:solidFill>
            <a:srgbClr val="4A90D9"/>
          </a:solidFill>
          <a:ln w="12700">
            <a:solidFill>
              <a:srgbClr val="4A90D9"/>
            </a:solidFill>
            <a:prstDash val="solid"/>
          </a:ln>
        </p:spPr>
        <p:txBody>
          <a:bodyPr/>
          <a:lstStyle/>
          <a:p>
            <a:endParaRPr lang="en-US"/>
          </a:p>
        </p:txBody>
      </p:sp>
      <p:sp>
        <p:nvSpPr>
          <p:cNvPr id="64" name="Shape 62"/>
          <p:cNvSpPr/>
          <p:nvPr/>
        </p:nvSpPr>
        <p:spPr>
          <a:xfrm>
            <a:off x="11034009" y="3618738"/>
            <a:ext cx="192957" cy="331470"/>
          </a:xfrm>
          <a:prstGeom prst="rect">
            <a:avLst/>
          </a:prstGeom>
          <a:solidFill>
            <a:srgbClr val="4A90D9"/>
          </a:solidFill>
          <a:ln w="12700">
            <a:solidFill>
              <a:srgbClr val="4A90D9"/>
            </a:solidFill>
            <a:prstDash val="solid"/>
          </a:ln>
        </p:spPr>
        <p:txBody>
          <a:bodyPr/>
          <a:lstStyle/>
          <a:p>
            <a:endParaRPr lang="en-US"/>
          </a:p>
        </p:txBody>
      </p:sp>
      <p:sp>
        <p:nvSpPr>
          <p:cNvPr id="65" name="Shape 63"/>
          <p:cNvSpPr/>
          <p:nvPr/>
        </p:nvSpPr>
        <p:spPr>
          <a:xfrm>
            <a:off x="11263542" y="3486150"/>
            <a:ext cx="192957" cy="464058"/>
          </a:xfrm>
          <a:prstGeom prst="rect">
            <a:avLst/>
          </a:prstGeom>
          <a:solidFill>
            <a:srgbClr val="4A90D9"/>
          </a:solidFill>
          <a:ln w="12700">
            <a:solidFill>
              <a:srgbClr val="4A90D9"/>
            </a:solidFill>
            <a:prstDash val="solid"/>
          </a:ln>
        </p:spPr>
        <p:txBody>
          <a:bodyPr/>
          <a:lstStyle/>
          <a:p>
            <a:endParaRPr lang="en-US"/>
          </a:p>
        </p:txBody>
      </p:sp>
      <p:sp>
        <p:nvSpPr>
          <p:cNvPr id="66" name="Shape 64"/>
          <p:cNvSpPr/>
          <p:nvPr/>
        </p:nvSpPr>
        <p:spPr>
          <a:xfrm>
            <a:off x="11493075" y="3220974"/>
            <a:ext cx="192957" cy="729234"/>
          </a:xfrm>
          <a:prstGeom prst="rect">
            <a:avLst/>
          </a:prstGeom>
          <a:solidFill>
            <a:srgbClr val="4A90D9"/>
          </a:solidFill>
          <a:ln w="12700">
            <a:solidFill>
              <a:srgbClr val="4A90D9"/>
            </a:solidFill>
            <a:prstDash val="solid"/>
          </a:ln>
        </p:spPr>
        <p:txBody>
          <a:bodyPr/>
          <a:lstStyle/>
          <a:p>
            <a:endParaRPr lang="en-US"/>
          </a:p>
        </p:txBody>
      </p:sp>
      <p:sp>
        <p:nvSpPr>
          <p:cNvPr id="67" name="Text 65"/>
          <p:cNvSpPr/>
          <p:nvPr/>
        </p:nvSpPr>
        <p:spPr>
          <a:xfrm>
            <a:off x="457200" y="4059936"/>
            <a:ext cx="11247120" cy="292608"/>
          </a:xfrm>
          <a:prstGeom prst="rect">
            <a:avLst/>
          </a:prstGeom>
          <a:noFill/>
          <a:ln/>
        </p:spPr>
        <p:txBody>
          <a:bodyPr wrap="square" rtlCol="0" anchor="ctr"/>
          <a:lstStyle/>
          <a:p>
            <a:pPr marL="0" indent="0">
              <a:buNone/>
            </a:pPr>
            <a:r>
              <a:rPr lang="en-US" sz="1600" b="1" dirty="0">
                <a:solidFill>
                  <a:srgbClr val="00C9FF"/>
                </a:solidFill>
                <a:latin typeface="Calibri" pitchFamily="34" charset="0"/>
                <a:ea typeface="Calibri" pitchFamily="34" charset="-122"/>
                <a:cs typeface="Calibri" pitchFamily="34" charset="-120"/>
              </a:rPr>
              <a:t>Burst Window Summary</a:t>
            </a:r>
            <a:endParaRPr lang="en-US" sz="1600" dirty="0"/>
          </a:p>
        </p:txBody>
      </p:sp>
      <p:sp>
        <p:nvSpPr>
          <p:cNvPr id="68" name="Shape 66"/>
          <p:cNvSpPr/>
          <p:nvPr/>
        </p:nvSpPr>
        <p:spPr>
          <a:xfrm>
            <a:off x="457200" y="4389120"/>
            <a:ext cx="11247120" cy="301752"/>
          </a:xfrm>
          <a:prstGeom prst="rect">
            <a:avLst/>
          </a:prstGeom>
          <a:solidFill>
            <a:srgbClr val="141E30"/>
          </a:solidFill>
          <a:ln w="2540">
            <a:solidFill>
              <a:srgbClr val="1E293B"/>
            </a:solidFill>
            <a:prstDash val="solid"/>
          </a:ln>
        </p:spPr>
        <p:txBody>
          <a:bodyPr/>
          <a:lstStyle/>
          <a:p>
            <a:endParaRPr lang="en-US"/>
          </a:p>
        </p:txBody>
      </p:sp>
      <p:sp>
        <p:nvSpPr>
          <p:cNvPr id="69" name="Text 67"/>
          <p:cNvSpPr/>
          <p:nvPr/>
        </p:nvSpPr>
        <p:spPr>
          <a:xfrm>
            <a:off x="548640" y="4407408"/>
            <a:ext cx="640080" cy="256032"/>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t=9</a:t>
            </a:r>
            <a:endParaRPr lang="en-US" sz="1200" dirty="0"/>
          </a:p>
        </p:txBody>
      </p:sp>
      <p:sp>
        <p:nvSpPr>
          <p:cNvPr id="70" name="Text 68"/>
          <p:cNvSpPr/>
          <p:nvPr/>
        </p:nvSpPr>
        <p:spPr>
          <a:xfrm>
            <a:off x="1280160" y="4407408"/>
            <a:ext cx="822960" cy="256032"/>
          </a:xfrm>
          <a:prstGeom prst="rect">
            <a:avLst/>
          </a:prstGeom>
          <a:noFill/>
          <a:ln/>
        </p:spPr>
        <p:txBody>
          <a:bodyPr wrap="square" rtlCol="0" anchor="ctr"/>
          <a:lstStyle/>
          <a:p>
            <a:pPr marL="0" indent="0">
              <a:buNone/>
            </a:pPr>
            <a:r>
              <a:rPr lang="en-US" sz="1200" dirty="0">
                <a:solidFill>
                  <a:srgbClr val="FF9900"/>
                </a:solidFill>
                <a:latin typeface="Calibri" pitchFamily="34" charset="0"/>
                <a:ea typeface="Calibri" pitchFamily="34" charset="-122"/>
                <a:cs typeface="Calibri" pitchFamily="34" charset="-120"/>
              </a:rPr>
              <a:t>31.5%</a:t>
            </a:r>
            <a:endParaRPr lang="en-US" sz="1200" dirty="0"/>
          </a:p>
        </p:txBody>
      </p:sp>
      <p:sp>
        <p:nvSpPr>
          <p:cNvPr id="71" name="Text 69"/>
          <p:cNvSpPr/>
          <p:nvPr/>
        </p:nvSpPr>
        <p:spPr>
          <a:xfrm>
            <a:off x="2194560" y="4407408"/>
            <a:ext cx="731520" cy="256032"/>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1.93σ</a:t>
            </a:r>
            <a:endParaRPr lang="en-US" sz="1200" dirty="0"/>
          </a:p>
        </p:txBody>
      </p:sp>
      <p:sp>
        <p:nvSpPr>
          <p:cNvPr id="72" name="Text 70"/>
          <p:cNvSpPr/>
          <p:nvPr/>
        </p:nvSpPr>
        <p:spPr>
          <a:xfrm>
            <a:off x="3017520" y="4407408"/>
            <a:ext cx="8503920" cy="25603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Early burst — signals onset of organised fraud campaign</a:t>
            </a:r>
            <a:endParaRPr lang="en-US" sz="1200" dirty="0"/>
          </a:p>
        </p:txBody>
      </p:sp>
      <p:sp>
        <p:nvSpPr>
          <p:cNvPr id="73" name="Shape 71"/>
          <p:cNvSpPr/>
          <p:nvPr/>
        </p:nvSpPr>
        <p:spPr>
          <a:xfrm>
            <a:off x="457200" y="4718304"/>
            <a:ext cx="11247120" cy="301752"/>
          </a:xfrm>
          <a:prstGeom prst="rect">
            <a:avLst/>
          </a:prstGeom>
          <a:solidFill>
            <a:srgbClr val="0F1825"/>
          </a:solidFill>
          <a:ln w="2540">
            <a:solidFill>
              <a:srgbClr val="1E293B"/>
            </a:solidFill>
            <a:prstDash val="solid"/>
          </a:ln>
        </p:spPr>
        <p:txBody>
          <a:bodyPr/>
          <a:lstStyle/>
          <a:p>
            <a:endParaRPr lang="en-US" sz="1200"/>
          </a:p>
        </p:txBody>
      </p:sp>
      <p:sp>
        <p:nvSpPr>
          <p:cNvPr id="74" name="Text 72"/>
          <p:cNvSpPr/>
          <p:nvPr/>
        </p:nvSpPr>
        <p:spPr>
          <a:xfrm>
            <a:off x="548640" y="4736592"/>
            <a:ext cx="640080" cy="256032"/>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t=13</a:t>
            </a:r>
            <a:endParaRPr lang="en-US" sz="1200" dirty="0"/>
          </a:p>
        </p:txBody>
      </p:sp>
      <p:sp>
        <p:nvSpPr>
          <p:cNvPr id="75" name="Text 73"/>
          <p:cNvSpPr/>
          <p:nvPr/>
        </p:nvSpPr>
        <p:spPr>
          <a:xfrm>
            <a:off x="1280160" y="4736592"/>
            <a:ext cx="822960" cy="256032"/>
          </a:xfrm>
          <a:prstGeom prst="rect">
            <a:avLst/>
          </a:prstGeom>
          <a:noFill/>
          <a:ln/>
        </p:spPr>
        <p:txBody>
          <a:bodyPr wrap="square" rtlCol="0" anchor="ctr"/>
          <a:lstStyle/>
          <a:p>
            <a:pPr marL="0" indent="0">
              <a:buNone/>
            </a:pPr>
            <a:r>
              <a:rPr lang="en-US" sz="1200" dirty="0">
                <a:solidFill>
                  <a:srgbClr val="FF9900"/>
                </a:solidFill>
                <a:latin typeface="Calibri" pitchFamily="34" charset="0"/>
                <a:ea typeface="Calibri" pitchFamily="34" charset="-122"/>
                <a:cs typeface="Calibri" pitchFamily="34" charset="-120"/>
              </a:rPr>
              <a:t>35.2%</a:t>
            </a:r>
            <a:endParaRPr lang="en-US" sz="1200" dirty="0"/>
          </a:p>
        </p:txBody>
      </p:sp>
      <p:sp>
        <p:nvSpPr>
          <p:cNvPr id="76" name="Text 74"/>
          <p:cNvSpPr/>
          <p:nvPr/>
        </p:nvSpPr>
        <p:spPr>
          <a:xfrm>
            <a:off x="2194560" y="4736592"/>
            <a:ext cx="731520" cy="256032"/>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2.57σ</a:t>
            </a:r>
            <a:endParaRPr lang="en-US" sz="1200" dirty="0"/>
          </a:p>
        </p:txBody>
      </p:sp>
      <p:sp>
        <p:nvSpPr>
          <p:cNvPr id="77" name="Text 75"/>
          <p:cNvSpPr/>
          <p:nvPr/>
        </p:nvSpPr>
        <p:spPr>
          <a:xfrm>
            <a:off x="3017520" y="4736592"/>
            <a:ext cx="8503920" cy="25603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HIGHEST — 1 in 3 labelled wallets illicit in this window</a:t>
            </a:r>
            <a:endParaRPr lang="en-US" sz="1200" dirty="0"/>
          </a:p>
        </p:txBody>
      </p:sp>
      <p:sp>
        <p:nvSpPr>
          <p:cNvPr id="78" name="Shape 76"/>
          <p:cNvSpPr/>
          <p:nvPr/>
        </p:nvSpPr>
        <p:spPr>
          <a:xfrm>
            <a:off x="457200" y="5047488"/>
            <a:ext cx="11247120" cy="301752"/>
          </a:xfrm>
          <a:prstGeom prst="rect">
            <a:avLst/>
          </a:prstGeom>
          <a:solidFill>
            <a:srgbClr val="141E30"/>
          </a:solidFill>
          <a:ln w="2540">
            <a:solidFill>
              <a:srgbClr val="1E293B"/>
            </a:solidFill>
            <a:prstDash val="solid"/>
          </a:ln>
        </p:spPr>
        <p:txBody>
          <a:bodyPr/>
          <a:lstStyle/>
          <a:p>
            <a:endParaRPr lang="en-US"/>
          </a:p>
        </p:txBody>
      </p:sp>
      <p:sp>
        <p:nvSpPr>
          <p:cNvPr id="79" name="Text 77"/>
          <p:cNvSpPr/>
          <p:nvPr/>
        </p:nvSpPr>
        <p:spPr>
          <a:xfrm>
            <a:off x="548640" y="5065776"/>
            <a:ext cx="640080" cy="256032"/>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t=20</a:t>
            </a:r>
            <a:endParaRPr lang="en-US" sz="1200" dirty="0"/>
          </a:p>
        </p:txBody>
      </p:sp>
      <p:sp>
        <p:nvSpPr>
          <p:cNvPr id="80" name="Text 78"/>
          <p:cNvSpPr/>
          <p:nvPr/>
        </p:nvSpPr>
        <p:spPr>
          <a:xfrm>
            <a:off x="1280160" y="5065776"/>
            <a:ext cx="822960" cy="256032"/>
          </a:xfrm>
          <a:prstGeom prst="rect">
            <a:avLst/>
          </a:prstGeom>
          <a:noFill/>
          <a:ln/>
        </p:spPr>
        <p:txBody>
          <a:bodyPr wrap="square" rtlCol="0" anchor="ctr"/>
          <a:lstStyle/>
          <a:p>
            <a:pPr marL="0" indent="0">
              <a:buNone/>
            </a:pPr>
            <a:r>
              <a:rPr lang="en-US" sz="1200" dirty="0">
                <a:solidFill>
                  <a:srgbClr val="FF9900"/>
                </a:solidFill>
                <a:latin typeface="Calibri" pitchFamily="34" charset="0"/>
                <a:ea typeface="Calibri" pitchFamily="34" charset="-122"/>
                <a:cs typeface="Calibri" pitchFamily="34" charset="-120"/>
              </a:rPr>
              <a:t>29.1%</a:t>
            </a:r>
            <a:endParaRPr lang="en-US" sz="1200" dirty="0"/>
          </a:p>
        </p:txBody>
      </p:sp>
      <p:sp>
        <p:nvSpPr>
          <p:cNvPr id="81" name="Text 79"/>
          <p:cNvSpPr/>
          <p:nvPr/>
        </p:nvSpPr>
        <p:spPr>
          <a:xfrm>
            <a:off x="2194560" y="5065776"/>
            <a:ext cx="731520" cy="256032"/>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2.09σ</a:t>
            </a:r>
            <a:endParaRPr lang="en-US" sz="1200" dirty="0"/>
          </a:p>
        </p:txBody>
      </p:sp>
      <p:sp>
        <p:nvSpPr>
          <p:cNvPr id="82" name="Text 80"/>
          <p:cNvSpPr/>
          <p:nvPr/>
        </p:nvSpPr>
        <p:spPr>
          <a:xfrm>
            <a:off x="3017520" y="5065776"/>
            <a:ext cx="8503920" cy="25603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of top-10 risk wallets active here</a:t>
            </a:r>
            <a:endParaRPr lang="en-US" sz="1200" dirty="0"/>
          </a:p>
        </p:txBody>
      </p:sp>
      <p:sp>
        <p:nvSpPr>
          <p:cNvPr id="83" name="Shape 81"/>
          <p:cNvSpPr/>
          <p:nvPr/>
        </p:nvSpPr>
        <p:spPr>
          <a:xfrm>
            <a:off x="457200" y="5376672"/>
            <a:ext cx="11247120" cy="301752"/>
          </a:xfrm>
          <a:prstGeom prst="rect">
            <a:avLst/>
          </a:prstGeom>
          <a:solidFill>
            <a:srgbClr val="0F1825"/>
          </a:solidFill>
          <a:ln w="2540">
            <a:solidFill>
              <a:srgbClr val="1E293B"/>
            </a:solidFill>
            <a:prstDash val="solid"/>
          </a:ln>
        </p:spPr>
        <p:txBody>
          <a:bodyPr/>
          <a:lstStyle/>
          <a:p>
            <a:endParaRPr lang="en-US" sz="1200"/>
          </a:p>
        </p:txBody>
      </p:sp>
      <p:sp>
        <p:nvSpPr>
          <p:cNvPr id="84" name="Text 82"/>
          <p:cNvSpPr/>
          <p:nvPr/>
        </p:nvSpPr>
        <p:spPr>
          <a:xfrm>
            <a:off x="548640" y="5394960"/>
            <a:ext cx="640080" cy="256032"/>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t=28</a:t>
            </a:r>
            <a:endParaRPr lang="en-US" sz="1200" dirty="0"/>
          </a:p>
        </p:txBody>
      </p:sp>
      <p:sp>
        <p:nvSpPr>
          <p:cNvPr id="85" name="Text 83"/>
          <p:cNvSpPr/>
          <p:nvPr/>
        </p:nvSpPr>
        <p:spPr>
          <a:xfrm>
            <a:off x="1280160" y="5394960"/>
            <a:ext cx="822960" cy="256032"/>
          </a:xfrm>
          <a:prstGeom prst="rect">
            <a:avLst/>
          </a:prstGeom>
          <a:noFill/>
          <a:ln/>
        </p:spPr>
        <p:txBody>
          <a:bodyPr wrap="square" rtlCol="0" anchor="ctr"/>
          <a:lstStyle/>
          <a:p>
            <a:pPr marL="0" indent="0">
              <a:buNone/>
            </a:pPr>
            <a:r>
              <a:rPr lang="en-US" sz="1200" dirty="0">
                <a:solidFill>
                  <a:srgbClr val="FF9900"/>
                </a:solidFill>
                <a:latin typeface="Calibri" pitchFamily="34" charset="0"/>
                <a:ea typeface="Calibri" pitchFamily="34" charset="-122"/>
                <a:cs typeface="Calibri" pitchFamily="34" charset="-120"/>
              </a:rPr>
              <a:t>30.2%</a:t>
            </a:r>
            <a:endParaRPr lang="en-US" sz="1200" dirty="0"/>
          </a:p>
        </p:txBody>
      </p:sp>
      <p:sp>
        <p:nvSpPr>
          <p:cNvPr id="86" name="Text 84"/>
          <p:cNvSpPr/>
          <p:nvPr/>
        </p:nvSpPr>
        <p:spPr>
          <a:xfrm>
            <a:off x="2194560" y="5394960"/>
            <a:ext cx="731520" cy="256032"/>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1.79σ</a:t>
            </a:r>
            <a:endParaRPr lang="en-US" sz="1200" dirty="0"/>
          </a:p>
        </p:txBody>
      </p:sp>
      <p:sp>
        <p:nvSpPr>
          <p:cNvPr id="87" name="Text 85"/>
          <p:cNvSpPr/>
          <p:nvPr/>
        </p:nvSpPr>
        <p:spPr>
          <a:xfrm>
            <a:off x="3017520" y="5394960"/>
            <a:ext cx="8503920" cy="25603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Precedes peak propagation event at step 29</a:t>
            </a:r>
            <a:endParaRPr lang="en-US" sz="1200" dirty="0"/>
          </a:p>
        </p:txBody>
      </p:sp>
      <p:sp>
        <p:nvSpPr>
          <p:cNvPr id="88" name="Shape 86"/>
          <p:cNvSpPr/>
          <p:nvPr/>
        </p:nvSpPr>
        <p:spPr>
          <a:xfrm>
            <a:off x="457200" y="5705856"/>
            <a:ext cx="11247120" cy="301752"/>
          </a:xfrm>
          <a:prstGeom prst="rect">
            <a:avLst/>
          </a:prstGeom>
          <a:solidFill>
            <a:srgbClr val="141E30"/>
          </a:solidFill>
          <a:ln w="2540">
            <a:solidFill>
              <a:srgbClr val="1E293B"/>
            </a:solidFill>
            <a:prstDash val="solid"/>
          </a:ln>
        </p:spPr>
        <p:txBody>
          <a:bodyPr/>
          <a:lstStyle/>
          <a:p>
            <a:endParaRPr lang="en-US"/>
          </a:p>
        </p:txBody>
      </p:sp>
      <p:sp>
        <p:nvSpPr>
          <p:cNvPr id="89" name="Text 87"/>
          <p:cNvSpPr/>
          <p:nvPr/>
        </p:nvSpPr>
        <p:spPr>
          <a:xfrm>
            <a:off x="548640" y="5724144"/>
            <a:ext cx="640080" cy="256032"/>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t=29</a:t>
            </a:r>
            <a:endParaRPr lang="en-US" sz="1200" dirty="0"/>
          </a:p>
        </p:txBody>
      </p:sp>
      <p:sp>
        <p:nvSpPr>
          <p:cNvPr id="90" name="Text 88"/>
          <p:cNvSpPr/>
          <p:nvPr/>
        </p:nvSpPr>
        <p:spPr>
          <a:xfrm>
            <a:off x="1280160" y="5724144"/>
            <a:ext cx="822960" cy="256032"/>
          </a:xfrm>
          <a:prstGeom prst="rect">
            <a:avLst/>
          </a:prstGeom>
          <a:noFill/>
          <a:ln/>
        </p:spPr>
        <p:txBody>
          <a:bodyPr wrap="square" rtlCol="0" anchor="ctr"/>
          <a:lstStyle/>
          <a:p>
            <a:pPr marL="0" indent="0">
              <a:buNone/>
            </a:pPr>
            <a:r>
              <a:rPr lang="en-US" sz="1200" dirty="0">
                <a:solidFill>
                  <a:srgbClr val="FF9900"/>
                </a:solidFill>
                <a:latin typeface="Calibri" pitchFamily="34" charset="0"/>
                <a:ea typeface="Calibri" pitchFamily="34" charset="-122"/>
                <a:cs typeface="Calibri" pitchFamily="34" charset="-120"/>
              </a:rPr>
              <a:t>28.9%</a:t>
            </a:r>
            <a:endParaRPr lang="en-US" sz="1200" dirty="0"/>
          </a:p>
        </p:txBody>
      </p:sp>
      <p:sp>
        <p:nvSpPr>
          <p:cNvPr id="91" name="Text 89"/>
          <p:cNvSpPr/>
          <p:nvPr/>
        </p:nvSpPr>
        <p:spPr>
          <a:xfrm>
            <a:off x="2194560" y="5724144"/>
            <a:ext cx="731520" cy="256032"/>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1.87σ</a:t>
            </a:r>
            <a:endParaRPr lang="en-US" sz="1200" dirty="0"/>
          </a:p>
        </p:txBody>
      </p:sp>
      <p:sp>
        <p:nvSpPr>
          <p:cNvPr id="92" name="Text 90"/>
          <p:cNvSpPr/>
          <p:nvPr/>
        </p:nvSpPr>
        <p:spPr>
          <a:xfrm>
            <a:off x="3017520" y="5724144"/>
            <a:ext cx="8503920" cy="25603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84.11% propagation — highest fraud spread in dataset</a:t>
            </a:r>
            <a:endParaRPr lang="en-US" sz="1200" dirty="0"/>
          </a:p>
        </p:txBody>
      </p:sp>
      <p:sp>
        <p:nvSpPr>
          <p:cNvPr id="93" name="Shape 91"/>
          <p:cNvSpPr/>
          <p:nvPr/>
        </p:nvSpPr>
        <p:spPr>
          <a:xfrm>
            <a:off x="457200" y="6035040"/>
            <a:ext cx="11247120" cy="301752"/>
          </a:xfrm>
          <a:prstGeom prst="rect">
            <a:avLst/>
          </a:prstGeom>
          <a:solidFill>
            <a:srgbClr val="0F1825"/>
          </a:solidFill>
          <a:ln w="2540">
            <a:solidFill>
              <a:srgbClr val="1E293B"/>
            </a:solidFill>
            <a:prstDash val="solid"/>
          </a:ln>
        </p:spPr>
        <p:txBody>
          <a:bodyPr/>
          <a:lstStyle/>
          <a:p>
            <a:endParaRPr lang="en-US"/>
          </a:p>
        </p:txBody>
      </p:sp>
      <p:sp>
        <p:nvSpPr>
          <p:cNvPr id="94" name="Text 92"/>
          <p:cNvSpPr/>
          <p:nvPr/>
        </p:nvSpPr>
        <p:spPr>
          <a:xfrm>
            <a:off x="548640" y="6053328"/>
            <a:ext cx="640080" cy="256032"/>
          </a:xfrm>
          <a:prstGeom prst="rect">
            <a:avLst/>
          </a:prstGeom>
          <a:noFill/>
          <a:ln/>
        </p:spPr>
        <p:txBody>
          <a:bodyPr wrap="square" rtlCol="0" anchor="ctr"/>
          <a:lstStyle/>
          <a:p>
            <a:pPr marL="0" indent="0">
              <a:buNone/>
            </a:pPr>
            <a:r>
              <a:rPr lang="en-US" sz="1200" b="1" dirty="0">
                <a:solidFill>
                  <a:srgbClr val="FF4444"/>
                </a:solidFill>
                <a:latin typeface="Calibri" pitchFamily="34" charset="0"/>
                <a:ea typeface="Calibri" pitchFamily="34" charset="-122"/>
                <a:cs typeface="Calibri" pitchFamily="34" charset="-120"/>
              </a:rPr>
              <a:t>t=32</a:t>
            </a:r>
            <a:endParaRPr lang="en-US" sz="1200" dirty="0"/>
          </a:p>
        </p:txBody>
      </p:sp>
      <p:sp>
        <p:nvSpPr>
          <p:cNvPr id="95" name="Text 93"/>
          <p:cNvSpPr/>
          <p:nvPr/>
        </p:nvSpPr>
        <p:spPr>
          <a:xfrm>
            <a:off x="1280160" y="6053328"/>
            <a:ext cx="822960" cy="256032"/>
          </a:xfrm>
          <a:prstGeom prst="rect">
            <a:avLst/>
          </a:prstGeom>
          <a:noFill/>
          <a:ln/>
        </p:spPr>
        <p:txBody>
          <a:bodyPr wrap="square" rtlCol="0" anchor="ctr"/>
          <a:lstStyle/>
          <a:p>
            <a:pPr marL="0" indent="0">
              <a:buNone/>
            </a:pPr>
            <a:r>
              <a:rPr lang="en-US" sz="1200" dirty="0">
                <a:solidFill>
                  <a:srgbClr val="FF9900"/>
                </a:solidFill>
                <a:latin typeface="Calibri" pitchFamily="34" charset="0"/>
                <a:ea typeface="Calibri" pitchFamily="34" charset="-122"/>
                <a:cs typeface="Calibri" pitchFamily="34" charset="-120"/>
              </a:rPr>
              <a:t>25.8%</a:t>
            </a:r>
            <a:endParaRPr lang="en-US" sz="1200" dirty="0"/>
          </a:p>
        </p:txBody>
      </p:sp>
      <p:sp>
        <p:nvSpPr>
          <p:cNvPr id="96" name="Text 94"/>
          <p:cNvSpPr/>
          <p:nvPr/>
        </p:nvSpPr>
        <p:spPr>
          <a:xfrm>
            <a:off x="2194560" y="6053328"/>
            <a:ext cx="731520" cy="256032"/>
          </a:xfrm>
          <a:prstGeom prst="rect">
            <a:avLst/>
          </a:prstGeom>
          <a:noFill/>
          <a:ln/>
        </p:spPr>
        <p:txBody>
          <a:bodyPr wrap="square" rtlCol="0" anchor="ctr"/>
          <a:lstStyle/>
          <a:p>
            <a:pPr marL="0" indent="0">
              <a:buNone/>
            </a:pPr>
            <a:r>
              <a:rPr lang="en-US" sz="1200" dirty="0">
                <a:solidFill>
                  <a:srgbClr val="FFD700"/>
                </a:solidFill>
                <a:latin typeface="Calibri" pitchFamily="34" charset="0"/>
                <a:ea typeface="Calibri" pitchFamily="34" charset="-122"/>
                <a:cs typeface="Calibri" pitchFamily="34" charset="-120"/>
              </a:rPr>
              <a:t>1.52σ</a:t>
            </a:r>
            <a:endParaRPr lang="en-US" sz="1200" dirty="0"/>
          </a:p>
        </p:txBody>
      </p:sp>
      <p:sp>
        <p:nvSpPr>
          <p:cNvPr id="97" name="Text 95"/>
          <p:cNvSpPr/>
          <p:nvPr/>
        </p:nvSpPr>
        <p:spPr>
          <a:xfrm>
            <a:off x="3017520" y="6053328"/>
            <a:ext cx="8503920" cy="25603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342 illicit nodes — highest absolute count of any time step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Fraud Propagation Analysis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2036</a:t>
            </a:r>
            <a:endParaRPr lang="en-US" sz="800" dirty="0"/>
          </a:p>
        </p:txBody>
      </p:sp>
      <p:sp>
        <p:nvSpPr>
          <p:cNvPr id="6" name="Text 4"/>
          <p:cNvSpPr/>
          <p:nvPr/>
        </p:nvSpPr>
        <p:spPr>
          <a:xfrm>
            <a:off x="457200" y="868680"/>
            <a:ext cx="11247120" cy="320040"/>
          </a:xfrm>
          <a:prstGeom prst="rect">
            <a:avLst/>
          </a:prstGeom>
          <a:noFill/>
          <a:ln/>
        </p:spPr>
        <p:txBody>
          <a:bodyPr wrap="square"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For each time step T: what proportion of wallets that received funds from illicit sources at T were themselves illicit at T+1?</a:t>
            </a:r>
            <a:endParaRPr lang="en-US" sz="1400" dirty="0"/>
          </a:p>
        </p:txBody>
      </p:sp>
      <p:sp>
        <p:nvSpPr>
          <p:cNvPr id="7" name="Shape 5"/>
          <p:cNvSpPr/>
          <p:nvPr/>
        </p:nvSpPr>
        <p:spPr>
          <a:xfrm>
            <a:off x="457200" y="1209252"/>
            <a:ext cx="3657600" cy="2103120"/>
          </a:xfrm>
          <a:prstGeom prst="roundRect">
            <a:avLst>
              <a:gd name="adj" fmla="val 3200"/>
            </a:avLst>
          </a:prstGeom>
          <a:solidFill>
            <a:srgbClr val="1A2235"/>
          </a:solidFill>
          <a:ln w="6350">
            <a:solidFill>
              <a:srgbClr val="1E293B"/>
            </a:solidFill>
            <a:prstDash val="solid"/>
          </a:ln>
        </p:spPr>
        <p:txBody>
          <a:bodyPr/>
          <a:lstStyle/>
          <a:p>
            <a:endParaRPr lang="en-US"/>
          </a:p>
        </p:txBody>
      </p:sp>
      <p:sp>
        <p:nvSpPr>
          <p:cNvPr id="8" name="Text 6"/>
          <p:cNvSpPr/>
          <p:nvPr/>
        </p:nvSpPr>
        <p:spPr>
          <a:xfrm>
            <a:off x="457200" y="1307592"/>
            <a:ext cx="3657600" cy="612648"/>
          </a:xfrm>
          <a:prstGeom prst="rect">
            <a:avLst/>
          </a:prstGeom>
          <a:noFill/>
          <a:ln/>
        </p:spPr>
        <p:txBody>
          <a:bodyPr wrap="square" rtlCol="0" anchor="ctr"/>
          <a:lstStyle/>
          <a:p>
            <a:pPr marL="0" indent="0" algn="ctr">
              <a:buNone/>
            </a:pPr>
            <a:r>
              <a:rPr lang="en-US" sz="3000" b="1" dirty="0">
                <a:solidFill>
                  <a:srgbClr val="FF9900"/>
                </a:solidFill>
                <a:latin typeface="Calibri" pitchFamily="34" charset="0"/>
                <a:ea typeface="Calibri" pitchFamily="34" charset="-122"/>
                <a:cs typeface="Calibri" pitchFamily="34" charset="-120"/>
              </a:rPr>
              <a:t>35.57%</a:t>
            </a:r>
            <a:endParaRPr lang="en-US" sz="3000" dirty="0"/>
          </a:p>
        </p:txBody>
      </p:sp>
      <p:sp>
        <p:nvSpPr>
          <p:cNvPr id="9" name="Text 7"/>
          <p:cNvSpPr/>
          <p:nvPr/>
        </p:nvSpPr>
        <p:spPr>
          <a:xfrm>
            <a:off x="548640" y="1901952"/>
            <a:ext cx="3474720" cy="384048"/>
          </a:xfrm>
          <a:prstGeom prst="rect">
            <a:avLst/>
          </a:prstGeom>
          <a:noFill/>
          <a:ln/>
        </p:spPr>
        <p:txBody>
          <a:bodyPr wrap="square" rtlCol="0" anchor="ctr"/>
          <a:lstStyle/>
          <a:p>
            <a:pPr marL="0" indent="0" algn="ctr">
              <a:buNone/>
            </a:pPr>
            <a:r>
              <a:rPr lang="en-US" sz="1400" b="1" dirty="0">
                <a:solidFill>
                  <a:srgbClr val="FF9900"/>
                </a:solidFill>
                <a:latin typeface="Calibri" pitchFamily="34" charset="0"/>
                <a:ea typeface="Calibri" pitchFamily="34" charset="-122"/>
                <a:cs typeface="Calibri" pitchFamily="34" charset="-120"/>
              </a:rPr>
              <a:t>Mean Propagation Rate</a:t>
            </a:r>
            <a:endParaRPr lang="en-US" sz="1400" dirty="0"/>
          </a:p>
        </p:txBody>
      </p:sp>
      <p:sp>
        <p:nvSpPr>
          <p:cNvPr id="10" name="Text 8"/>
          <p:cNvSpPr/>
          <p:nvPr/>
        </p:nvSpPr>
        <p:spPr>
          <a:xfrm>
            <a:off x="548640" y="2331720"/>
            <a:ext cx="3474720" cy="7772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3.5× the base illicit rate of ~10%.</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Fraud is deliberately routed. It is not random.</a:t>
            </a:r>
            <a:endParaRPr lang="en-US" sz="1400" dirty="0"/>
          </a:p>
        </p:txBody>
      </p:sp>
      <p:sp>
        <p:nvSpPr>
          <p:cNvPr id="11" name="Shape 9"/>
          <p:cNvSpPr/>
          <p:nvPr/>
        </p:nvSpPr>
        <p:spPr>
          <a:xfrm>
            <a:off x="4389120" y="1188720"/>
            <a:ext cx="3657600" cy="2103120"/>
          </a:xfrm>
          <a:prstGeom prst="roundRect">
            <a:avLst>
              <a:gd name="adj" fmla="val 3200"/>
            </a:avLst>
          </a:prstGeom>
          <a:solidFill>
            <a:srgbClr val="1A2235"/>
          </a:solidFill>
          <a:ln w="6350">
            <a:solidFill>
              <a:srgbClr val="1E293B"/>
            </a:solidFill>
            <a:prstDash val="solid"/>
          </a:ln>
        </p:spPr>
        <p:txBody>
          <a:bodyPr/>
          <a:lstStyle/>
          <a:p>
            <a:endParaRPr lang="en-US" sz="1400"/>
          </a:p>
        </p:txBody>
      </p:sp>
      <p:sp>
        <p:nvSpPr>
          <p:cNvPr id="12" name="Text 10"/>
          <p:cNvSpPr/>
          <p:nvPr/>
        </p:nvSpPr>
        <p:spPr>
          <a:xfrm>
            <a:off x="4389120" y="1168058"/>
            <a:ext cx="3657600" cy="752181"/>
          </a:xfrm>
          <a:prstGeom prst="rect">
            <a:avLst/>
          </a:prstGeom>
          <a:noFill/>
          <a:ln/>
        </p:spPr>
        <p:txBody>
          <a:bodyPr wrap="square" rtlCol="0" anchor="ctr"/>
          <a:lstStyle/>
          <a:p>
            <a:pPr marL="0" indent="0" algn="ctr">
              <a:buNone/>
            </a:pPr>
            <a:r>
              <a:rPr lang="en-US" sz="3000" b="1" dirty="0">
                <a:solidFill>
                  <a:srgbClr val="FF4444"/>
                </a:solidFill>
                <a:latin typeface="Calibri" pitchFamily="34" charset="0"/>
                <a:ea typeface="Calibri" pitchFamily="34" charset="-122"/>
                <a:cs typeface="Calibri" pitchFamily="34" charset="-120"/>
              </a:rPr>
              <a:t>84.11%</a:t>
            </a:r>
            <a:endParaRPr lang="en-US" sz="3000" dirty="0"/>
          </a:p>
        </p:txBody>
      </p:sp>
      <p:sp>
        <p:nvSpPr>
          <p:cNvPr id="13" name="Text 11"/>
          <p:cNvSpPr/>
          <p:nvPr/>
        </p:nvSpPr>
        <p:spPr>
          <a:xfrm>
            <a:off x="4480560" y="1901952"/>
            <a:ext cx="3474720" cy="384048"/>
          </a:xfrm>
          <a:prstGeom prst="rect">
            <a:avLst/>
          </a:prstGeom>
          <a:noFill/>
          <a:ln/>
        </p:spPr>
        <p:txBody>
          <a:bodyPr wrap="square" rtlCol="0" anchor="ctr"/>
          <a:lstStyle/>
          <a:p>
            <a:pPr marL="0" indent="0" algn="ctr">
              <a:buNone/>
            </a:pPr>
            <a:r>
              <a:rPr lang="en-US" sz="1400" b="1" dirty="0">
                <a:solidFill>
                  <a:srgbClr val="FF4444"/>
                </a:solidFill>
                <a:latin typeface="Calibri" pitchFamily="34" charset="0"/>
                <a:ea typeface="Calibri" pitchFamily="34" charset="-122"/>
                <a:cs typeface="Calibri" pitchFamily="34" charset="-120"/>
              </a:rPr>
              <a:t>Peak at Time Step 29</a:t>
            </a:r>
            <a:endParaRPr lang="en-US" sz="1400" dirty="0"/>
          </a:p>
        </p:txBody>
      </p:sp>
      <p:sp>
        <p:nvSpPr>
          <p:cNvPr id="14" name="Text 12"/>
          <p:cNvSpPr/>
          <p:nvPr/>
        </p:nvSpPr>
        <p:spPr>
          <a:xfrm>
            <a:off x="4480560" y="2331720"/>
            <a:ext cx="3474720" cy="7772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84 in 100 exposed wallets became illicit.</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Strongest fraud spread in the dataset.</a:t>
            </a:r>
            <a:endParaRPr lang="en-US" sz="1400" dirty="0"/>
          </a:p>
        </p:txBody>
      </p:sp>
      <p:sp>
        <p:nvSpPr>
          <p:cNvPr id="15" name="Shape 13"/>
          <p:cNvSpPr/>
          <p:nvPr/>
        </p:nvSpPr>
        <p:spPr>
          <a:xfrm>
            <a:off x="8321040" y="1188720"/>
            <a:ext cx="3657600" cy="2103120"/>
          </a:xfrm>
          <a:prstGeom prst="roundRect">
            <a:avLst>
              <a:gd name="adj" fmla="val 3200"/>
            </a:avLst>
          </a:prstGeom>
          <a:solidFill>
            <a:srgbClr val="1A2235"/>
          </a:solidFill>
          <a:ln w="6350">
            <a:solidFill>
              <a:srgbClr val="1E293B"/>
            </a:solidFill>
            <a:prstDash val="solid"/>
          </a:ln>
        </p:spPr>
        <p:txBody>
          <a:bodyPr/>
          <a:lstStyle/>
          <a:p>
            <a:endParaRPr lang="en-US"/>
          </a:p>
        </p:txBody>
      </p:sp>
      <p:sp>
        <p:nvSpPr>
          <p:cNvPr id="16" name="Text 14"/>
          <p:cNvSpPr/>
          <p:nvPr/>
        </p:nvSpPr>
        <p:spPr>
          <a:xfrm>
            <a:off x="8321040" y="1051560"/>
            <a:ext cx="3657600" cy="868680"/>
          </a:xfrm>
          <a:prstGeom prst="rect">
            <a:avLst/>
          </a:prstGeom>
          <a:noFill/>
          <a:ln/>
        </p:spPr>
        <p:txBody>
          <a:bodyPr wrap="square" rtlCol="0" anchor="ctr"/>
          <a:lstStyle/>
          <a:p>
            <a:pPr marL="0" indent="0" algn="ctr">
              <a:buNone/>
            </a:pPr>
            <a:r>
              <a:rPr lang="en-US" sz="3000" b="1" dirty="0">
                <a:solidFill>
                  <a:srgbClr val="FFD700"/>
                </a:solidFill>
                <a:latin typeface="Calibri" pitchFamily="34" charset="0"/>
                <a:ea typeface="Calibri" pitchFamily="34" charset="-122"/>
                <a:cs typeface="Calibri" pitchFamily="34" charset="-120"/>
              </a:rPr>
              <a:t>48/48</a:t>
            </a:r>
            <a:endParaRPr lang="en-US" sz="3000" dirty="0"/>
          </a:p>
        </p:txBody>
      </p:sp>
      <p:sp>
        <p:nvSpPr>
          <p:cNvPr id="17" name="Text 15"/>
          <p:cNvSpPr/>
          <p:nvPr/>
        </p:nvSpPr>
        <p:spPr>
          <a:xfrm>
            <a:off x="8412480" y="1901952"/>
            <a:ext cx="3474720" cy="384048"/>
          </a:xfrm>
          <a:prstGeom prst="rect">
            <a:avLst/>
          </a:prstGeom>
          <a:noFill/>
          <a:ln/>
        </p:spPr>
        <p:txBody>
          <a:bodyPr wrap="square" rtlCol="0" anchor="ctr"/>
          <a:lstStyle/>
          <a:p>
            <a:pPr marL="0" indent="0" algn="ctr">
              <a:buNone/>
            </a:pPr>
            <a:r>
              <a:rPr lang="en-US" sz="1400" b="1" dirty="0">
                <a:solidFill>
                  <a:srgbClr val="FFD700"/>
                </a:solidFill>
                <a:latin typeface="Calibri" pitchFamily="34" charset="0"/>
                <a:ea typeface="Calibri" pitchFamily="34" charset="-122"/>
                <a:cs typeface="Calibri" pitchFamily="34" charset="-120"/>
              </a:rPr>
              <a:t>Time Steps Show Propagation</a:t>
            </a:r>
            <a:endParaRPr lang="en-US" sz="1400" dirty="0"/>
          </a:p>
        </p:txBody>
      </p:sp>
      <p:sp>
        <p:nvSpPr>
          <p:cNvPr id="18" name="Text 16"/>
          <p:cNvSpPr/>
          <p:nvPr/>
        </p:nvSpPr>
        <p:spPr>
          <a:xfrm>
            <a:off x="8412480" y="2331720"/>
            <a:ext cx="3474720" cy="867558"/>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Every consecutive time step pair has propagation.</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Fraud is systemic. It is not an isolated incidents.</a:t>
            </a:r>
            <a:endParaRPr lang="en-US" sz="1400" dirty="0"/>
          </a:p>
        </p:txBody>
      </p:sp>
      <p:sp>
        <p:nvSpPr>
          <p:cNvPr id="19" name="Shape 17"/>
          <p:cNvSpPr/>
          <p:nvPr/>
        </p:nvSpPr>
        <p:spPr>
          <a:xfrm>
            <a:off x="457200" y="3474719"/>
            <a:ext cx="11521440" cy="2658661"/>
          </a:xfrm>
          <a:prstGeom prst="roundRect">
            <a:avLst>
              <a:gd name="adj" fmla="val 4211"/>
            </a:avLst>
          </a:prstGeom>
          <a:solidFill>
            <a:srgbClr val="1A2235"/>
          </a:solidFill>
          <a:ln w="6350">
            <a:solidFill>
              <a:srgbClr val="1E293B"/>
            </a:solidFill>
            <a:prstDash val="solid"/>
          </a:ln>
        </p:spPr>
        <p:txBody>
          <a:bodyPr/>
          <a:lstStyle/>
          <a:p>
            <a:endParaRPr lang="en-US"/>
          </a:p>
        </p:txBody>
      </p:sp>
      <p:sp>
        <p:nvSpPr>
          <p:cNvPr id="20" name="Text 18"/>
          <p:cNvSpPr/>
          <p:nvPr/>
        </p:nvSpPr>
        <p:spPr>
          <a:xfrm>
            <a:off x="640080" y="3566160"/>
            <a:ext cx="10881360" cy="320040"/>
          </a:xfrm>
          <a:prstGeom prst="rect">
            <a:avLst/>
          </a:prstGeom>
          <a:noFill/>
          <a:ln/>
        </p:spPr>
        <p:txBody>
          <a:bodyPr wrap="square" rtlCol="0" anchor="ctr"/>
          <a:lstStyle/>
          <a:p>
            <a:pPr marL="0" indent="0">
              <a:buNone/>
            </a:pPr>
            <a:r>
              <a:rPr lang="en-US" sz="1600" b="1" dirty="0">
                <a:solidFill>
                  <a:srgbClr val="00C9FF"/>
                </a:solidFill>
                <a:latin typeface="Calibri" pitchFamily="34" charset="0"/>
                <a:ea typeface="Calibri" pitchFamily="34" charset="-122"/>
                <a:cs typeface="Calibri" pitchFamily="34" charset="-120"/>
              </a:rPr>
              <a:t>What This Means for Compliance</a:t>
            </a:r>
            <a:endParaRPr lang="en-US" sz="1600" dirty="0"/>
          </a:p>
        </p:txBody>
      </p:sp>
      <p:sp>
        <p:nvSpPr>
          <p:cNvPr id="21" name="Text 19"/>
          <p:cNvSpPr/>
          <p:nvPr/>
        </p:nvSpPr>
        <p:spPr>
          <a:xfrm>
            <a:off x="640080" y="4049972"/>
            <a:ext cx="10881360" cy="329184"/>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A mean propagation rate of 35.57% is 3.5× the base rate and it is not consistent with random co-occurrence. Fraud is being deliberately routed through chains of connected wallets.</a:t>
            </a:r>
            <a:endParaRPr lang="en-US" sz="1400" dirty="0"/>
          </a:p>
        </p:txBody>
      </p:sp>
      <p:sp>
        <p:nvSpPr>
          <p:cNvPr id="22" name="Text 20"/>
          <p:cNvSpPr/>
          <p:nvPr/>
        </p:nvSpPr>
        <p:spPr>
          <a:xfrm>
            <a:off x="640080" y="4742543"/>
            <a:ext cx="10881360" cy="329184"/>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The 84% peak at step 29 is consistent with layering behaviour in money laundering, because funds passed rapidly through disposable wallets to obscure their origin.</a:t>
            </a:r>
            <a:endParaRPr lang="en-US" sz="1400" dirty="0"/>
          </a:p>
        </p:txBody>
      </p:sp>
      <p:sp>
        <p:nvSpPr>
          <p:cNvPr id="23" name="Text 21"/>
          <p:cNvSpPr/>
          <p:nvPr/>
        </p:nvSpPr>
        <p:spPr>
          <a:xfrm>
            <a:off x="640080" y="5438609"/>
            <a:ext cx="10881360" cy="329184"/>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All downstream wallets receiving funds from illicit sources in steps 28–29 should be flagged for chain-of-funds tracing regardless of their own GNN score.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Compliance Findings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7" name="Shape 5"/>
          <p:cNvSpPr/>
          <p:nvPr/>
        </p:nvSpPr>
        <p:spPr>
          <a:xfrm>
            <a:off x="640080" y="1097280"/>
            <a:ext cx="502920" cy="502920"/>
          </a:xfrm>
          <a:prstGeom prst="ellipse">
            <a:avLst/>
          </a:prstGeom>
          <a:solidFill>
            <a:srgbClr val="FF4444"/>
          </a:solidFill>
          <a:ln w="12700">
            <a:solidFill>
              <a:srgbClr val="FF4444"/>
            </a:solidFill>
            <a:prstDash val="solid"/>
          </a:ln>
        </p:spPr>
        <p:txBody>
          <a:bodyPr/>
          <a:lstStyle/>
          <a:p>
            <a:endParaRPr lang="en-US"/>
          </a:p>
        </p:txBody>
      </p:sp>
      <p:sp>
        <p:nvSpPr>
          <p:cNvPr id="8" name="Text 6"/>
          <p:cNvSpPr/>
          <p:nvPr/>
        </p:nvSpPr>
        <p:spPr>
          <a:xfrm>
            <a:off x="640080" y="109728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61872" y="1124712"/>
            <a:ext cx="4663440" cy="420624"/>
          </a:xfrm>
          <a:prstGeom prst="rect">
            <a:avLst/>
          </a:prstGeom>
          <a:noFill/>
          <a:ln/>
        </p:spPr>
        <p:txBody>
          <a:bodyPr wrap="square" rtlCol="0" anchor="ctr"/>
          <a:lstStyle/>
          <a:p>
            <a:pPr marL="0" indent="0">
              <a:buNone/>
            </a:pPr>
            <a:r>
              <a:rPr lang="en-US" sz="1400" b="1" dirty="0">
                <a:solidFill>
                  <a:srgbClr val="FF4444"/>
                </a:solidFill>
                <a:latin typeface="Calibri" pitchFamily="34" charset="0"/>
                <a:ea typeface="Calibri" pitchFamily="34" charset="-122"/>
                <a:cs typeface="Calibri" pitchFamily="34" charset="-120"/>
              </a:rPr>
              <a:t>Fraud is Organised, Not Random</a:t>
            </a:r>
            <a:endParaRPr lang="en-US" sz="1400" dirty="0"/>
          </a:p>
        </p:txBody>
      </p:sp>
      <p:sp>
        <p:nvSpPr>
          <p:cNvPr id="10" name="Text 8"/>
          <p:cNvSpPr/>
          <p:nvPr/>
        </p:nvSpPr>
        <p:spPr>
          <a:xfrm>
            <a:off x="640080" y="1714414"/>
            <a:ext cx="5257800" cy="1627632"/>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Illicit node features are near-perfectly correlated they are consistent with automated fraud scripts or coordinated criminal operations. The pattern is structurally organised, not random individual actors making independent decisions.</a:t>
            </a:r>
            <a:endParaRPr lang="en-US" sz="1400" dirty="0"/>
          </a:p>
        </p:txBody>
      </p:sp>
      <p:sp>
        <p:nvSpPr>
          <p:cNvPr id="11" name="Shape 9"/>
          <p:cNvSpPr/>
          <p:nvPr/>
        </p:nvSpPr>
        <p:spPr>
          <a:xfrm>
            <a:off x="6355080" y="96012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2" name="Shape 10"/>
          <p:cNvSpPr/>
          <p:nvPr/>
        </p:nvSpPr>
        <p:spPr>
          <a:xfrm>
            <a:off x="6537960" y="1097280"/>
            <a:ext cx="502920" cy="502920"/>
          </a:xfrm>
          <a:prstGeom prst="ellipse">
            <a:avLst/>
          </a:prstGeom>
          <a:solidFill>
            <a:srgbClr val="FF9900"/>
          </a:solidFill>
          <a:ln w="12700">
            <a:solidFill>
              <a:srgbClr val="FF9900"/>
            </a:solidFill>
            <a:prstDash val="solid"/>
          </a:ln>
        </p:spPr>
        <p:txBody>
          <a:bodyPr/>
          <a:lstStyle/>
          <a:p>
            <a:endParaRPr lang="en-US"/>
          </a:p>
        </p:txBody>
      </p:sp>
      <p:sp>
        <p:nvSpPr>
          <p:cNvPr id="13" name="Text 11"/>
          <p:cNvSpPr/>
          <p:nvPr/>
        </p:nvSpPr>
        <p:spPr>
          <a:xfrm>
            <a:off x="6537960" y="109728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159752" y="1124712"/>
            <a:ext cx="4663440" cy="420624"/>
          </a:xfrm>
          <a:prstGeom prst="rect">
            <a:avLst/>
          </a:prstGeom>
          <a:noFill/>
          <a:ln/>
        </p:spPr>
        <p:txBody>
          <a:bodyPr wrap="square" rtlCol="0" anchor="ctr"/>
          <a:lstStyle/>
          <a:p>
            <a:pPr marL="0" indent="0">
              <a:buNone/>
            </a:pPr>
            <a:r>
              <a:rPr lang="en-US" sz="1400" b="1" dirty="0">
                <a:solidFill>
                  <a:srgbClr val="FF9900"/>
                </a:solidFill>
                <a:latin typeface="Calibri" pitchFamily="34" charset="0"/>
                <a:ea typeface="Calibri" pitchFamily="34" charset="-122"/>
                <a:cs typeface="Calibri" pitchFamily="34" charset="-120"/>
              </a:rPr>
              <a:t>Original Labels Understate Exposure by 20×</a:t>
            </a:r>
            <a:endParaRPr lang="en-US" sz="1400" dirty="0"/>
          </a:p>
        </p:txBody>
      </p:sp>
      <p:sp>
        <p:nvSpPr>
          <p:cNvPr id="15" name="Text 13"/>
          <p:cNvSpPr/>
          <p:nvPr/>
        </p:nvSpPr>
        <p:spPr>
          <a:xfrm>
            <a:off x="6537960" y="1728216"/>
            <a:ext cx="5257800" cy="1627632"/>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4,545 confirmed illicit wallets represent just 4.9% of the 92,779-node at-risk pool identified by the GNN. Compliance decisions based on labels alone would miss 94.7% of detectable suspicious activity.</a:t>
            </a:r>
            <a:endParaRPr lang="en-US" sz="1400" dirty="0"/>
          </a:p>
        </p:txBody>
      </p:sp>
      <p:sp>
        <p:nvSpPr>
          <p:cNvPr id="16" name="Shape 14"/>
          <p:cNvSpPr/>
          <p:nvPr/>
        </p:nvSpPr>
        <p:spPr>
          <a:xfrm>
            <a:off x="457200" y="356616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7" name="Shape 15"/>
          <p:cNvSpPr/>
          <p:nvPr/>
        </p:nvSpPr>
        <p:spPr>
          <a:xfrm>
            <a:off x="640080" y="3703320"/>
            <a:ext cx="502920" cy="502920"/>
          </a:xfrm>
          <a:prstGeom prst="ellipse">
            <a:avLst/>
          </a:prstGeom>
          <a:solidFill>
            <a:srgbClr val="FFD700"/>
          </a:solidFill>
          <a:ln w="12700">
            <a:solidFill>
              <a:srgbClr val="FFD700"/>
            </a:solidFill>
            <a:prstDash val="solid"/>
          </a:ln>
        </p:spPr>
        <p:txBody>
          <a:bodyPr/>
          <a:lstStyle/>
          <a:p>
            <a:endParaRPr lang="en-US"/>
          </a:p>
        </p:txBody>
      </p:sp>
      <p:sp>
        <p:nvSpPr>
          <p:cNvPr id="18" name="Text 16"/>
          <p:cNvSpPr/>
          <p:nvPr/>
        </p:nvSpPr>
        <p:spPr>
          <a:xfrm>
            <a:off x="640080" y="370332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261872" y="3730752"/>
            <a:ext cx="4663440" cy="420624"/>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Six High-Risk Windows Require Immediate Review</a:t>
            </a:r>
            <a:endParaRPr lang="en-US" sz="1400" dirty="0"/>
          </a:p>
        </p:txBody>
      </p:sp>
      <p:sp>
        <p:nvSpPr>
          <p:cNvPr id="20" name="Text 18"/>
          <p:cNvSpPr/>
          <p:nvPr/>
        </p:nvSpPr>
        <p:spPr>
          <a:xfrm>
            <a:off x="640080" y="4323732"/>
            <a:ext cx="5257800" cy="1627632"/>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Steps 9, 13, 20, 28, 29, 32 are statistically anomalous. Step 13 recorded a 35.2% illicit rate, that is 1 in 3 labelled wallets fraudulent. These are the highest-priority targets for enhanced due diligence.</a:t>
            </a:r>
            <a:endParaRPr lang="en-US" sz="1400" dirty="0"/>
          </a:p>
        </p:txBody>
      </p:sp>
      <p:sp>
        <p:nvSpPr>
          <p:cNvPr id="21" name="Shape 19"/>
          <p:cNvSpPr/>
          <p:nvPr/>
        </p:nvSpPr>
        <p:spPr>
          <a:xfrm>
            <a:off x="6355080" y="356616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22" name="Shape 20"/>
          <p:cNvSpPr/>
          <p:nvPr/>
        </p:nvSpPr>
        <p:spPr>
          <a:xfrm>
            <a:off x="6537960" y="3703320"/>
            <a:ext cx="502920" cy="502920"/>
          </a:xfrm>
          <a:prstGeom prst="ellipse">
            <a:avLst/>
          </a:prstGeom>
          <a:solidFill>
            <a:srgbClr val="8B949E"/>
          </a:solidFill>
          <a:ln w="12700">
            <a:solidFill>
              <a:srgbClr val="8B949E"/>
            </a:solidFill>
            <a:prstDash val="solid"/>
          </a:ln>
        </p:spPr>
        <p:txBody>
          <a:bodyPr/>
          <a:lstStyle/>
          <a:p>
            <a:endParaRPr lang="en-US"/>
          </a:p>
        </p:txBody>
      </p:sp>
      <p:sp>
        <p:nvSpPr>
          <p:cNvPr id="23" name="Text 21"/>
          <p:cNvSpPr/>
          <p:nvPr/>
        </p:nvSpPr>
        <p:spPr>
          <a:xfrm>
            <a:off x="6537960" y="370332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159752" y="3730752"/>
            <a:ext cx="4663440" cy="420624"/>
          </a:xfrm>
          <a:prstGeom prst="rect">
            <a:avLst/>
          </a:prstGeom>
          <a:noFill/>
          <a:ln/>
        </p:spPr>
        <p:txBody>
          <a:bodyPr wrap="square" rtlCol="0" anchor="ctr"/>
          <a:lstStyle/>
          <a:p>
            <a:pPr marL="0" indent="0">
              <a:buNone/>
            </a:pPr>
            <a:r>
              <a:rPr lang="en-US" sz="1400" b="1" dirty="0">
                <a:solidFill>
                  <a:srgbClr val="8B949E"/>
                </a:solidFill>
                <a:latin typeface="Calibri" pitchFamily="34" charset="0"/>
                <a:ea typeface="Calibri" pitchFamily="34" charset="-122"/>
                <a:cs typeface="Calibri" pitchFamily="34" charset="-120"/>
              </a:rPr>
              <a:t>77% of the Network Remains Unclassified</a:t>
            </a:r>
            <a:endParaRPr lang="en-US" sz="1400" dirty="0"/>
          </a:p>
        </p:txBody>
      </p:sp>
      <p:sp>
        <p:nvSpPr>
          <p:cNvPr id="25" name="Text 23"/>
          <p:cNvSpPr/>
          <p:nvPr/>
        </p:nvSpPr>
        <p:spPr>
          <a:xfrm>
            <a:off x="6537960" y="4370832"/>
            <a:ext cx="5257800" cy="1627632"/>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157,205 wallets carry no ground-truth label. The 88,234 GNN-predicted high-risk wallets should be treated as a lower bound and  not the full picture until external blockchain intelligence cross-referencing is completed.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Recommendations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11247120" cy="1783080"/>
          </a:xfrm>
          <a:prstGeom prst="roundRect">
            <a:avLst>
              <a:gd name="adj" fmla="val 4103"/>
            </a:avLst>
          </a:prstGeom>
          <a:solidFill>
            <a:srgbClr val="1A2235"/>
          </a:solidFill>
          <a:ln w="6350">
            <a:solidFill>
              <a:srgbClr val="1E293B"/>
            </a:solidFill>
            <a:prstDash val="solid"/>
          </a:ln>
        </p:spPr>
        <p:txBody>
          <a:bodyPr/>
          <a:lstStyle/>
          <a:p>
            <a:endParaRPr lang="en-US"/>
          </a:p>
        </p:txBody>
      </p:sp>
      <p:sp>
        <p:nvSpPr>
          <p:cNvPr id="7" name="Shape 5"/>
          <p:cNvSpPr/>
          <p:nvPr/>
        </p:nvSpPr>
        <p:spPr>
          <a:xfrm>
            <a:off x="594360" y="1143000"/>
            <a:ext cx="502920" cy="502920"/>
          </a:xfrm>
          <a:prstGeom prst="ellipse">
            <a:avLst/>
          </a:prstGeom>
          <a:solidFill>
            <a:srgbClr val="FF4444"/>
          </a:solidFill>
          <a:ln w="12700">
            <a:solidFill>
              <a:srgbClr val="FF4444"/>
            </a:solidFill>
            <a:prstDash val="solid"/>
          </a:ln>
        </p:spPr>
        <p:txBody>
          <a:bodyPr/>
          <a:lstStyle/>
          <a:p>
            <a:endParaRPr lang="en-US"/>
          </a:p>
        </p:txBody>
      </p:sp>
      <p:sp>
        <p:nvSpPr>
          <p:cNvPr id="8" name="Text 6"/>
          <p:cNvSpPr/>
          <p:nvPr/>
        </p:nvSpPr>
        <p:spPr>
          <a:xfrm>
            <a:off x="594360" y="114300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207008" y="1069848"/>
            <a:ext cx="7772400" cy="384048"/>
          </a:xfrm>
          <a:prstGeom prst="rect">
            <a:avLst/>
          </a:prstGeom>
          <a:noFill/>
          <a:ln/>
        </p:spPr>
        <p:txBody>
          <a:bodyPr wrap="square" rtlCol="0" anchor="ctr"/>
          <a:lstStyle/>
          <a:p>
            <a:pPr marL="0" indent="0">
              <a:buNone/>
            </a:pPr>
            <a:r>
              <a:rPr lang="en-US" sz="1400" b="1" dirty="0">
                <a:solidFill>
                  <a:srgbClr val="FF4444"/>
                </a:solidFill>
                <a:latin typeface="Calibri" pitchFamily="34" charset="0"/>
                <a:ea typeface="Calibri" pitchFamily="34" charset="-122"/>
                <a:cs typeface="Calibri" pitchFamily="34" charset="-120"/>
              </a:rPr>
              <a:t>Immediate SAR Assessment: Top 5 GNN-Flagged Wallets</a:t>
            </a:r>
            <a:endParaRPr lang="en-US" sz="1400" dirty="0"/>
          </a:p>
        </p:txBody>
      </p:sp>
      <p:sp>
        <p:nvSpPr>
          <p:cNvPr id="10" name="Shape 8"/>
          <p:cNvSpPr/>
          <p:nvPr/>
        </p:nvSpPr>
        <p:spPr>
          <a:xfrm>
            <a:off x="9052560" y="1051560"/>
            <a:ext cx="2468880" cy="347472"/>
          </a:xfrm>
          <a:prstGeom prst="roundRect">
            <a:avLst>
              <a:gd name="adj" fmla="val 10526"/>
            </a:avLst>
          </a:prstGeom>
          <a:solidFill>
            <a:srgbClr val="0F1825"/>
          </a:solidFill>
          <a:ln w="10160">
            <a:solidFill>
              <a:srgbClr val="FF4444"/>
            </a:solidFill>
            <a:prstDash val="solid"/>
          </a:ln>
        </p:spPr>
        <p:txBody>
          <a:bodyPr/>
          <a:lstStyle/>
          <a:p>
            <a:endParaRPr lang="en-US"/>
          </a:p>
        </p:txBody>
      </p:sp>
      <p:sp>
        <p:nvSpPr>
          <p:cNvPr id="11" name="Text 9"/>
          <p:cNvSpPr/>
          <p:nvPr/>
        </p:nvSpPr>
        <p:spPr>
          <a:xfrm>
            <a:off x="9098280" y="1069848"/>
            <a:ext cx="2377440" cy="164592"/>
          </a:xfrm>
          <a:prstGeom prst="rect">
            <a:avLst/>
          </a:prstGeom>
          <a:noFill/>
          <a:ln/>
        </p:spPr>
        <p:txBody>
          <a:bodyPr wrap="square" rtlCol="0" anchor="ctr"/>
          <a:lstStyle/>
          <a:p>
            <a:pPr marL="0" indent="0" algn="ctr">
              <a:buNone/>
            </a:pPr>
            <a:r>
              <a:rPr lang="en-US" sz="1200" b="1" dirty="0">
                <a:solidFill>
                  <a:srgbClr val="FF4444"/>
                </a:solidFill>
                <a:latin typeface="Calibri" pitchFamily="34" charset="0"/>
                <a:ea typeface="Calibri" pitchFamily="34" charset="-122"/>
                <a:cs typeface="Calibri" pitchFamily="34" charset="-120"/>
              </a:rPr>
              <a:t>Head of Investigations</a:t>
            </a:r>
            <a:endParaRPr lang="en-US" sz="1200" dirty="0"/>
          </a:p>
        </p:txBody>
      </p:sp>
      <p:sp>
        <p:nvSpPr>
          <p:cNvPr id="12" name="Text 10"/>
          <p:cNvSpPr/>
          <p:nvPr/>
        </p:nvSpPr>
        <p:spPr>
          <a:xfrm>
            <a:off x="9098280" y="1216152"/>
            <a:ext cx="2377440" cy="164592"/>
          </a:xfrm>
          <a:prstGeom prst="rect">
            <a:avLst/>
          </a:prstGeom>
          <a:noFill/>
          <a:ln/>
        </p:spPr>
        <p:txBody>
          <a:bodyPr wrap="square"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Deadline: 10 working days</a:t>
            </a:r>
            <a:endParaRPr lang="en-US" sz="1200" dirty="0"/>
          </a:p>
        </p:txBody>
      </p:sp>
      <p:sp>
        <p:nvSpPr>
          <p:cNvPr id="13" name="Text 11"/>
          <p:cNvSpPr/>
          <p:nvPr/>
        </p:nvSpPr>
        <p:spPr>
          <a:xfrm>
            <a:off x="1207008" y="1545336"/>
            <a:ext cx="10332720" cy="1115568"/>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Wallets 97,869,259 · 378,429,614 · 210,915,044 · 99,916,860 · 97,810,198 each carry GNN fraud probability above 99.99%. Obtain full transaction histories, identify all counterparties, and assess SAR obligation. If no legitimate business purpose is established, file SAR and consider account restriction.</a:t>
            </a:r>
            <a:endParaRPr lang="en-US" sz="1400" dirty="0"/>
          </a:p>
        </p:txBody>
      </p:sp>
      <p:sp>
        <p:nvSpPr>
          <p:cNvPr id="14" name="Shape 12"/>
          <p:cNvSpPr/>
          <p:nvPr/>
        </p:nvSpPr>
        <p:spPr>
          <a:xfrm>
            <a:off x="457200" y="2880360"/>
            <a:ext cx="11247120" cy="1783080"/>
          </a:xfrm>
          <a:prstGeom prst="roundRect">
            <a:avLst>
              <a:gd name="adj" fmla="val 4103"/>
            </a:avLst>
          </a:prstGeom>
          <a:solidFill>
            <a:srgbClr val="1A2235"/>
          </a:solidFill>
          <a:ln w="6350">
            <a:solidFill>
              <a:srgbClr val="1E293B"/>
            </a:solidFill>
            <a:prstDash val="solid"/>
          </a:ln>
        </p:spPr>
        <p:txBody>
          <a:bodyPr/>
          <a:lstStyle/>
          <a:p>
            <a:endParaRPr lang="en-US"/>
          </a:p>
        </p:txBody>
      </p:sp>
      <p:sp>
        <p:nvSpPr>
          <p:cNvPr id="15" name="Shape 13"/>
          <p:cNvSpPr/>
          <p:nvPr/>
        </p:nvSpPr>
        <p:spPr>
          <a:xfrm>
            <a:off x="594360" y="3063240"/>
            <a:ext cx="502920" cy="502920"/>
          </a:xfrm>
          <a:prstGeom prst="ellipse">
            <a:avLst/>
          </a:prstGeom>
          <a:solidFill>
            <a:srgbClr val="FF9900"/>
          </a:solidFill>
          <a:ln w="12700">
            <a:solidFill>
              <a:srgbClr val="FF9900"/>
            </a:solidFill>
            <a:prstDash val="solid"/>
          </a:ln>
        </p:spPr>
        <p:txBody>
          <a:bodyPr/>
          <a:lstStyle/>
          <a:p>
            <a:endParaRPr lang="en-US"/>
          </a:p>
        </p:txBody>
      </p:sp>
      <p:sp>
        <p:nvSpPr>
          <p:cNvPr id="16" name="Text 14"/>
          <p:cNvSpPr/>
          <p:nvPr/>
        </p:nvSpPr>
        <p:spPr>
          <a:xfrm>
            <a:off x="594360" y="306324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02</a:t>
            </a:r>
            <a:endParaRPr lang="en-US" sz="1200" dirty="0"/>
          </a:p>
        </p:txBody>
      </p:sp>
      <p:sp>
        <p:nvSpPr>
          <p:cNvPr id="17" name="Text 15"/>
          <p:cNvSpPr/>
          <p:nvPr/>
        </p:nvSpPr>
        <p:spPr>
          <a:xfrm>
            <a:off x="1207008" y="2990088"/>
            <a:ext cx="7772400" cy="384048"/>
          </a:xfrm>
          <a:prstGeom prst="rect">
            <a:avLst/>
          </a:prstGeom>
          <a:noFill/>
          <a:ln/>
        </p:spPr>
        <p:txBody>
          <a:bodyPr wrap="square" rtlCol="0" anchor="ctr"/>
          <a:lstStyle/>
          <a:p>
            <a:pPr marL="0" indent="0">
              <a:buNone/>
            </a:pPr>
            <a:r>
              <a:rPr lang="en-US" sz="1400" b="1" dirty="0">
                <a:solidFill>
                  <a:srgbClr val="FF9900"/>
                </a:solidFill>
                <a:latin typeface="Calibri" pitchFamily="34" charset="0"/>
                <a:ea typeface="Calibri" pitchFamily="34" charset="-122"/>
                <a:cs typeface="Calibri" pitchFamily="34" charset="-120"/>
              </a:rPr>
              <a:t>Enhanced Monitoring: All 6 Burst Window Transactions</a:t>
            </a:r>
            <a:endParaRPr lang="en-US" sz="1400" dirty="0"/>
          </a:p>
        </p:txBody>
      </p:sp>
      <p:sp>
        <p:nvSpPr>
          <p:cNvPr id="18" name="Shape 16"/>
          <p:cNvSpPr/>
          <p:nvPr/>
        </p:nvSpPr>
        <p:spPr>
          <a:xfrm>
            <a:off x="9052560" y="2971800"/>
            <a:ext cx="2468880" cy="347472"/>
          </a:xfrm>
          <a:prstGeom prst="roundRect">
            <a:avLst>
              <a:gd name="adj" fmla="val 10526"/>
            </a:avLst>
          </a:prstGeom>
          <a:solidFill>
            <a:srgbClr val="0F1825"/>
          </a:solidFill>
          <a:ln w="10160">
            <a:solidFill>
              <a:srgbClr val="FF9900"/>
            </a:solidFill>
            <a:prstDash val="solid"/>
          </a:ln>
        </p:spPr>
        <p:txBody>
          <a:bodyPr/>
          <a:lstStyle/>
          <a:p>
            <a:endParaRPr lang="en-US"/>
          </a:p>
        </p:txBody>
      </p:sp>
      <p:sp>
        <p:nvSpPr>
          <p:cNvPr id="19" name="Text 17"/>
          <p:cNvSpPr/>
          <p:nvPr/>
        </p:nvSpPr>
        <p:spPr>
          <a:xfrm>
            <a:off x="9098280" y="2990088"/>
            <a:ext cx="2377440" cy="164592"/>
          </a:xfrm>
          <a:prstGeom prst="rect">
            <a:avLst/>
          </a:prstGeom>
          <a:noFill/>
          <a:ln/>
        </p:spPr>
        <p:txBody>
          <a:bodyPr wrap="square" rtlCol="0" anchor="ctr"/>
          <a:lstStyle/>
          <a:p>
            <a:pPr marL="0" indent="0" algn="ctr">
              <a:buNone/>
            </a:pPr>
            <a:r>
              <a:rPr lang="en-US" sz="1200" b="1" dirty="0">
                <a:solidFill>
                  <a:srgbClr val="FF9900"/>
                </a:solidFill>
                <a:latin typeface="Calibri" pitchFamily="34" charset="0"/>
                <a:ea typeface="Calibri" pitchFamily="34" charset="-122"/>
                <a:cs typeface="Calibri" pitchFamily="34" charset="-120"/>
              </a:rPr>
              <a:t>Head of Compliance Monitoring</a:t>
            </a:r>
            <a:endParaRPr lang="en-US" sz="1200" dirty="0"/>
          </a:p>
        </p:txBody>
      </p:sp>
      <p:sp>
        <p:nvSpPr>
          <p:cNvPr id="20" name="Text 18"/>
          <p:cNvSpPr/>
          <p:nvPr/>
        </p:nvSpPr>
        <p:spPr>
          <a:xfrm>
            <a:off x="9098280" y="3136392"/>
            <a:ext cx="2377440" cy="164592"/>
          </a:xfrm>
          <a:prstGeom prst="rect">
            <a:avLst/>
          </a:prstGeom>
          <a:noFill/>
          <a:ln/>
        </p:spPr>
        <p:txBody>
          <a:bodyPr wrap="square"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Deadline: 20 working days</a:t>
            </a:r>
            <a:endParaRPr lang="en-US" sz="1200" dirty="0"/>
          </a:p>
        </p:txBody>
      </p:sp>
      <p:sp>
        <p:nvSpPr>
          <p:cNvPr id="21" name="Text 19"/>
          <p:cNvSpPr/>
          <p:nvPr/>
        </p:nvSpPr>
        <p:spPr>
          <a:xfrm>
            <a:off x="1207008" y="3465576"/>
            <a:ext cx="10332720" cy="1115568"/>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Apply Level 2 enhanced due diligence to all wallets active in steps 9, 13, 20, 28, 29, and 32. Priority: chain-of-funds tracing for all downstream wallets receiving funds from step 28–29 activity given the 84.11% propagation rate. Estimated scope: 12,000–15,000 wallets.</a:t>
            </a:r>
            <a:endParaRPr lang="en-US" sz="1400" dirty="0"/>
          </a:p>
        </p:txBody>
      </p:sp>
      <p:sp>
        <p:nvSpPr>
          <p:cNvPr id="22" name="Shape 20"/>
          <p:cNvSpPr/>
          <p:nvPr/>
        </p:nvSpPr>
        <p:spPr>
          <a:xfrm>
            <a:off x="457200" y="4800600"/>
            <a:ext cx="11247120" cy="1548442"/>
          </a:xfrm>
          <a:prstGeom prst="roundRect">
            <a:avLst>
              <a:gd name="adj" fmla="val 4103"/>
            </a:avLst>
          </a:prstGeom>
          <a:solidFill>
            <a:srgbClr val="1A2235"/>
          </a:solidFill>
          <a:ln w="6350">
            <a:solidFill>
              <a:srgbClr val="1E293B"/>
            </a:solidFill>
            <a:prstDash val="solid"/>
          </a:ln>
        </p:spPr>
        <p:txBody>
          <a:bodyPr/>
          <a:lstStyle/>
          <a:p>
            <a:endParaRPr lang="en-US"/>
          </a:p>
        </p:txBody>
      </p:sp>
      <p:sp>
        <p:nvSpPr>
          <p:cNvPr id="23" name="Shape 21"/>
          <p:cNvSpPr/>
          <p:nvPr/>
        </p:nvSpPr>
        <p:spPr>
          <a:xfrm>
            <a:off x="594360" y="4983480"/>
            <a:ext cx="502920" cy="502920"/>
          </a:xfrm>
          <a:prstGeom prst="ellipse">
            <a:avLst/>
          </a:prstGeom>
          <a:solidFill>
            <a:srgbClr val="FFD700"/>
          </a:solidFill>
          <a:ln w="12700">
            <a:solidFill>
              <a:srgbClr val="FFD700"/>
            </a:solidFill>
            <a:prstDash val="solid"/>
          </a:ln>
        </p:spPr>
        <p:txBody>
          <a:bodyPr/>
          <a:lstStyle/>
          <a:p>
            <a:endParaRPr lang="en-US"/>
          </a:p>
        </p:txBody>
      </p:sp>
      <p:sp>
        <p:nvSpPr>
          <p:cNvPr id="24" name="Text 22"/>
          <p:cNvSpPr/>
          <p:nvPr/>
        </p:nvSpPr>
        <p:spPr>
          <a:xfrm>
            <a:off x="594360" y="4983480"/>
            <a:ext cx="502920" cy="502920"/>
          </a:xfrm>
          <a:prstGeom prst="rect">
            <a:avLst/>
          </a:prstGeom>
          <a:noFill/>
          <a:ln/>
        </p:spPr>
        <p:txBody>
          <a:bodyPr wrap="square" rtlCol="0" anchor="ctr"/>
          <a:lstStyle/>
          <a:p>
            <a:pPr marL="0" indent="0" algn="ctr">
              <a:buNone/>
            </a:pPr>
            <a:r>
              <a:rPr lang="en-US" sz="1200" b="1" dirty="0">
                <a:solidFill>
                  <a:srgbClr val="0A0E1A"/>
                </a:solidFill>
                <a:latin typeface="Calibri" pitchFamily="34" charset="0"/>
                <a:ea typeface="Calibri" pitchFamily="34" charset="-122"/>
                <a:cs typeface="Calibri" pitchFamily="34" charset="-120"/>
              </a:rPr>
              <a:t>03</a:t>
            </a:r>
            <a:endParaRPr lang="en-US" sz="1200" dirty="0"/>
          </a:p>
        </p:txBody>
      </p:sp>
      <p:sp>
        <p:nvSpPr>
          <p:cNvPr id="25" name="Text 23"/>
          <p:cNvSpPr/>
          <p:nvPr/>
        </p:nvSpPr>
        <p:spPr>
          <a:xfrm>
            <a:off x="1207008" y="4910328"/>
            <a:ext cx="7772400" cy="384048"/>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External Classification: 157,205 Unknown Wallets</a:t>
            </a:r>
            <a:endParaRPr lang="en-US" sz="1400" dirty="0"/>
          </a:p>
        </p:txBody>
      </p:sp>
      <p:sp>
        <p:nvSpPr>
          <p:cNvPr id="26" name="Shape 24"/>
          <p:cNvSpPr/>
          <p:nvPr/>
        </p:nvSpPr>
        <p:spPr>
          <a:xfrm>
            <a:off x="9052560" y="4892040"/>
            <a:ext cx="2468880" cy="347472"/>
          </a:xfrm>
          <a:prstGeom prst="roundRect">
            <a:avLst>
              <a:gd name="adj" fmla="val 10526"/>
            </a:avLst>
          </a:prstGeom>
          <a:solidFill>
            <a:srgbClr val="0F1825"/>
          </a:solidFill>
          <a:ln w="10160">
            <a:solidFill>
              <a:srgbClr val="FFD700"/>
            </a:solidFill>
            <a:prstDash val="solid"/>
          </a:ln>
        </p:spPr>
        <p:txBody>
          <a:bodyPr/>
          <a:lstStyle/>
          <a:p>
            <a:endParaRPr lang="en-US"/>
          </a:p>
        </p:txBody>
      </p:sp>
      <p:sp>
        <p:nvSpPr>
          <p:cNvPr id="27" name="Text 25"/>
          <p:cNvSpPr/>
          <p:nvPr/>
        </p:nvSpPr>
        <p:spPr>
          <a:xfrm>
            <a:off x="9098280" y="4910328"/>
            <a:ext cx="2377440" cy="164592"/>
          </a:xfrm>
          <a:prstGeom prst="rect">
            <a:avLst/>
          </a:prstGeom>
          <a:noFill/>
          <a:ln/>
        </p:spPr>
        <p:txBody>
          <a:bodyPr wrap="square" rtlCol="0" anchor="ctr"/>
          <a:lstStyle/>
          <a:p>
            <a:pPr marL="0" indent="0" algn="ctr">
              <a:buNone/>
            </a:pPr>
            <a:r>
              <a:rPr lang="en-US" sz="1200" b="1" dirty="0">
                <a:solidFill>
                  <a:srgbClr val="FFD700"/>
                </a:solidFill>
                <a:latin typeface="Calibri" pitchFamily="34" charset="0"/>
                <a:ea typeface="Calibri" pitchFamily="34" charset="-122"/>
                <a:cs typeface="Calibri" pitchFamily="34" charset="-120"/>
              </a:rPr>
              <a:t>Head of Data &amp; Analytics</a:t>
            </a:r>
            <a:endParaRPr lang="en-US" sz="1200" dirty="0"/>
          </a:p>
        </p:txBody>
      </p:sp>
      <p:sp>
        <p:nvSpPr>
          <p:cNvPr id="28" name="Text 26"/>
          <p:cNvSpPr/>
          <p:nvPr/>
        </p:nvSpPr>
        <p:spPr>
          <a:xfrm>
            <a:off x="9098280" y="5056632"/>
            <a:ext cx="2377440" cy="164592"/>
          </a:xfrm>
          <a:prstGeom prst="rect">
            <a:avLst/>
          </a:prstGeom>
          <a:noFill/>
          <a:ln/>
        </p:spPr>
        <p:txBody>
          <a:bodyPr wrap="square" rtlCol="0" anchor="ctr"/>
          <a:lstStyle/>
          <a:p>
            <a:pPr marL="0" indent="0" algn="ctr">
              <a:buNone/>
            </a:pPr>
            <a:r>
              <a:rPr lang="en-US" sz="1200" dirty="0">
                <a:solidFill>
                  <a:srgbClr val="8B949E"/>
                </a:solidFill>
                <a:latin typeface="Calibri" pitchFamily="34" charset="0"/>
                <a:ea typeface="Calibri" pitchFamily="34" charset="-122"/>
                <a:cs typeface="Calibri" pitchFamily="34" charset="-120"/>
              </a:rPr>
              <a:t>Deadline: 30 calendar days</a:t>
            </a:r>
            <a:endParaRPr lang="en-US" sz="1200" dirty="0"/>
          </a:p>
        </p:txBody>
      </p:sp>
      <p:sp>
        <p:nvSpPr>
          <p:cNvPr id="29" name="Text 27"/>
          <p:cNvSpPr/>
          <p:nvPr/>
        </p:nvSpPr>
        <p:spPr>
          <a:xfrm>
            <a:off x="1207008" y="5349240"/>
            <a:ext cx="10332720" cy="1115568"/>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Commission cross-reference against Chainalysis, Elliptic, or TRM Labs. Priority: 12,436 unknown wallets active in burst windows. Treat all unknowns with GNN probability above 0.7 (~34,000 wallets) as elevated-risk. Feed verified labels back into GNN for continuous improvement.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Text 1"/>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Data Limitations</a:t>
            </a:r>
            <a:endParaRPr lang="en-US" sz="3200" dirty="0"/>
          </a:p>
        </p:txBody>
      </p:sp>
      <p:sp>
        <p:nvSpPr>
          <p:cNvPr id="4" name="Shape 2"/>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5" name="Text 3"/>
          <p:cNvSpPr/>
          <p:nvPr/>
        </p:nvSpPr>
        <p:spPr>
          <a:xfrm>
            <a:off x="457200" y="6537960"/>
            <a:ext cx="11247120" cy="228600"/>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Fraud Detection Project  |  2026</a:t>
            </a:r>
            <a:endParaRPr lang="en-US" sz="800" dirty="0"/>
          </a:p>
        </p:txBody>
      </p:sp>
      <p:sp>
        <p:nvSpPr>
          <p:cNvPr id="6" name="Shape 4"/>
          <p:cNvSpPr/>
          <p:nvPr/>
        </p:nvSpPr>
        <p:spPr>
          <a:xfrm>
            <a:off x="457200" y="96012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7" name="Shape 5"/>
          <p:cNvSpPr/>
          <p:nvPr/>
        </p:nvSpPr>
        <p:spPr>
          <a:xfrm>
            <a:off x="640080" y="1097280"/>
            <a:ext cx="1371600" cy="320040"/>
          </a:xfrm>
          <a:prstGeom prst="roundRect">
            <a:avLst>
              <a:gd name="adj" fmla="val 11429"/>
            </a:avLst>
          </a:prstGeom>
          <a:solidFill>
            <a:srgbClr val="FF4444"/>
          </a:solidFill>
          <a:ln w="12700">
            <a:solidFill>
              <a:srgbClr val="FF4444"/>
            </a:solidFill>
            <a:prstDash val="solid"/>
          </a:ln>
        </p:spPr>
        <p:txBody>
          <a:bodyPr/>
          <a:lstStyle/>
          <a:p>
            <a:endParaRPr lang="en-US"/>
          </a:p>
        </p:txBody>
      </p:sp>
      <p:sp>
        <p:nvSpPr>
          <p:cNvPr id="8" name="Text 6"/>
          <p:cNvSpPr/>
          <p:nvPr/>
        </p:nvSpPr>
        <p:spPr>
          <a:xfrm>
            <a:off x="640080" y="1097280"/>
            <a:ext cx="1371600" cy="320040"/>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CRITICAL</a:t>
            </a:r>
            <a:endParaRPr lang="en-US" sz="1400" dirty="0"/>
          </a:p>
        </p:txBody>
      </p:sp>
      <p:sp>
        <p:nvSpPr>
          <p:cNvPr id="9" name="Text 7"/>
          <p:cNvSpPr/>
          <p:nvPr/>
        </p:nvSpPr>
        <p:spPr>
          <a:xfrm>
            <a:off x="640080" y="1481328"/>
            <a:ext cx="5257800" cy="384048"/>
          </a:xfrm>
          <a:prstGeom prst="rect">
            <a:avLst/>
          </a:prstGeom>
          <a:noFill/>
          <a:ln/>
        </p:spPr>
        <p:txBody>
          <a:bodyPr wrap="square" rtlCol="0" anchor="ctr"/>
          <a:lstStyle/>
          <a:p>
            <a:pPr marL="0" indent="0">
              <a:buNone/>
            </a:pPr>
            <a:r>
              <a:rPr lang="en-US" sz="1400" b="1" dirty="0">
                <a:solidFill>
                  <a:srgbClr val="FF4444"/>
                </a:solidFill>
                <a:latin typeface="Calibri" pitchFamily="34" charset="0"/>
                <a:ea typeface="Calibri" pitchFamily="34" charset="-122"/>
                <a:cs typeface="Calibri" pitchFamily="34" charset="-120"/>
              </a:rPr>
              <a:t>77% of the Network is Unlabelled</a:t>
            </a:r>
            <a:endParaRPr lang="en-US" sz="1400" dirty="0"/>
          </a:p>
        </p:txBody>
      </p:sp>
      <p:sp>
        <p:nvSpPr>
          <p:cNvPr id="10" name="Text 8"/>
          <p:cNvSpPr/>
          <p:nvPr/>
        </p:nvSpPr>
        <p:spPr>
          <a:xfrm>
            <a:off x="640080" y="1892808"/>
            <a:ext cx="5257800" cy="137160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GNN predictions are probabilistic they are not confirmed classifications. With 91% recall, ~9% of genuinely illicit wallets may be missed. The 92,779-node at-risk pool is a lower bound on true exposure, not a ceiling. This limitation will not be fully resolved until Recommendation 3 is implemented.</a:t>
            </a:r>
            <a:endParaRPr lang="en-US" sz="1400" dirty="0"/>
          </a:p>
        </p:txBody>
      </p:sp>
      <p:sp>
        <p:nvSpPr>
          <p:cNvPr id="11" name="Shape 9"/>
          <p:cNvSpPr/>
          <p:nvPr/>
        </p:nvSpPr>
        <p:spPr>
          <a:xfrm>
            <a:off x="6355080" y="96012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2" name="Shape 10"/>
          <p:cNvSpPr/>
          <p:nvPr/>
        </p:nvSpPr>
        <p:spPr>
          <a:xfrm>
            <a:off x="6537960" y="1097280"/>
            <a:ext cx="1371600" cy="320040"/>
          </a:xfrm>
          <a:prstGeom prst="roundRect">
            <a:avLst>
              <a:gd name="adj" fmla="val 11429"/>
            </a:avLst>
          </a:prstGeom>
          <a:solidFill>
            <a:srgbClr val="FF9900"/>
          </a:solidFill>
          <a:ln w="12700">
            <a:solidFill>
              <a:srgbClr val="FF9900"/>
            </a:solidFill>
            <a:prstDash val="solid"/>
          </a:ln>
        </p:spPr>
        <p:txBody>
          <a:bodyPr/>
          <a:lstStyle/>
          <a:p>
            <a:endParaRPr lang="en-US"/>
          </a:p>
        </p:txBody>
      </p:sp>
      <p:sp>
        <p:nvSpPr>
          <p:cNvPr id="13" name="Text 11"/>
          <p:cNvSpPr/>
          <p:nvPr/>
        </p:nvSpPr>
        <p:spPr>
          <a:xfrm>
            <a:off x="6537960" y="1097280"/>
            <a:ext cx="1371600" cy="320040"/>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SIGNIFICANT</a:t>
            </a:r>
            <a:endParaRPr lang="en-US" sz="1400" dirty="0"/>
          </a:p>
        </p:txBody>
      </p:sp>
      <p:sp>
        <p:nvSpPr>
          <p:cNvPr id="14" name="Text 12"/>
          <p:cNvSpPr/>
          <p:nvPr/>
        </p:nvSpPr>
        <p:spPr>
          <a:xfrm>
            <a:off x="6537960" y="1481328"/>
            <a:ext cx="5257800" cy="384048"/>
          </a:xfrm>
          <a:prstGeom prst="rect">
            <a:avLst/>
          </a:prstGeom>
          <a:noFill/>
          <a:ln/>
        </p:spPr>
        <p:txBody>
          <a:bodyPr wrap="square" rtlCol="0" anchor="ctr"/>
          <a:lstStyle/>
          <a:p>
            <a:pPr marL="0" indent="0">
              <a:buNone/>
            </a:pPr>
            <a:r>
              <a:rPr lang="en-US" sz="1400" b="1" dirty="0">
                <a:solidFill>
                  <a:srgbClr val="FF9900"/>
                </a:solidFill>
                <a:latin typeface="Calibri" pitchFamily="34" charset="0"/>
                <a:ea typeface="Calibri" pitchFamily="34" charset="-122"/>
                <a:cs typeface="Calibri" pitchFamily="34" charset="-120"/>
              </a:rPr>
              <a:t>Temporal Scope (2013–2014) Data Only</a:t>
            </a:r>
            <a:endParaRPr lang="en-US" sz="1400" dirty="0"/>
          </a:p>
        </p:txBody>
      </p:sp>
      <p:sp>
        <p:nvSpPr>
          <p:cNvPr id="15" name="Text 13"/>
          <p:cNvSpPr/>
          <p:nvPr/>
        </p:nvSpPr>
        <p:spPr>
          <a:xfrm>
            <a:off x="6537960" y="1892808"/>
            <a:ext cx="5257800" cy="137160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Bitcoin fraud methodologies have evolved substantially since 2013–2014. Privacy coins, cross-chain bridges, and decentralised exchanges have changed how illicit activity is structured. Model metrics (AUC 0.957, Recall 0.910) reflect historical data and should not be assumed to transfer to current activity without retraining.</a:t>
            </a:r>
            <a:endParaRPr lang="en-US" sz="1400" dirty="0"/>
          </a:p>
        </p:txBody>
      </p:sp>
      <p:sp>
        <p:nvSpPr>
          <p:cNvPr id="16" name="Shape 14"/>
          <p:cNvSpPr/>
          <p:nvPr/>
        </p:nvSpPr>
        <p:spPr>
          <a:xfrm>
            <a:off x="457200" y="356616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17" name="Shape 15"/>
          <p:cNvSpPr/>
          <p:nvPr/>
        </p:nvSpPr>
        <p:spPr>
          <a:xfrm>
            <a:off x="640080" y="3703320"/>
            <a:ext cx="1371600" cy="320040"/>
          </a:xfrm>
          <a:prstGeom prst="roundRect">
            <a:avLst>
              <a:gd name="adj" fmla="val 11429"/>
            </a:avLst>
          </a:prstGeom>
          <a:solidFill>
            <a:srgbClr val="FFD700"/>
          </a:solidFill>
          <a:ln w="12700">
            <a:solidFill>
              <a:srgbClr val="FFD700"/>
            </a:solidFill>
            <a:prstDash val="solid"/>
          </a:ln>
        </p:spPr>
        <p:txBody>
          <a:bodyPr/>
          <a:lstStyle/>
          <a:p>
            <a:endParaRPr lang="en-US"/>
          </a:p>
        </p:txBody>
      </p:sp>
      <p:sp>
        <p:nvSpPr>
          <p:cNvPr id="18" name="Text 16"/>
          <p:cNvSpPr/>
          <p:nvPr/>
        </p:nvSpPr>
        <p:spPr>
          <a:xfrm>
            <a:off x="640080" y="3703320"/>
            <a:ext cx="1371600" cy="320040"/>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MODERATE</a:t>
            </a:r>
            <a:endParaRPr lang="en-US" sz="1400" dirty="0"/>
          </a:p>
        </p:txBody>
      </p:sp>
      <p:sp>
        <p:nvSpPr>
          <p:cNvPr id="19" name="Text 17"/>
          <p:cNvSpPr/>
          <p:nvPr/>
        </p:nvSpPr>
        <p:spPr>
          <a:xfrm>
            <a:off x="640080" y="4087368"/>
            <a:ext cx="5257800" cy="384048"/>
          </a:xfrm>
          <a:prstGeom prst="rect">
            <a:avLst/>
          </a:prstGeom>
          <a:noFill/>
          <a:ln/>
        </p:spPr>
        <p:txBody>
          <a:bodyPr wrap="square" rtlCol="0" anchor="ctr"/>
          <a:lstStyle/>
          <a:p>
            <a:pPr marL="0" indent="0">
              <a:buNone/>
            </a:pPr>
            <a:r>
              <a:rPr lang="en-US" sz="1400" b="1" dirty="0">
                <a:solidFill>
                  <a:srgbClr val="FFD700"/>
                </a:solidFill>
                <a:latin typeface="Calibri" pitchFamily="34" charset="0"/>
                <a:ea typeface="Calibri" pitchFamily="34" charset="-122"/>
                <a:cs typeface="Calibri" pitchFamily="34" charset="-120"/>
              </a:rPr>
              <a:t>Feature Opacity: 166 Anonymised Variables</a:t>
            </a:r>
            <a:endParaRPr lang="en-US" sz="1400" dirty="0"/>
          </a:p>
        </p:txBody>
      </p:sp>
      <p:sp>
        <p:nvSpPr>
          <p:cNvPr id="20" name="Text 18"/>
          <p:cNvSpPr/>
          <p:nvPr/>
        </p:nvSpPr>
        <p:spPr>
          <a:xfrm>
            <a:off x="640080" y="4498848"/>
            <a:ext cx="5257800" cy="137160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Elliptic node features are anonymized; their precise financial interpretations are not disclosed. While structural evidence remains transparent, the contribution of the original 166 features to individual predictions cannot be decoded into plain-language terms. Relevant for regulatory explainability requirements.</a:t>
            </a:r>
            <a:endParaRPr lang="en-US" sz="1400" dirty="0"/>
          </a:p>
        </p:txBody>
      </p:sp>
      <p:sp>
        <p:nvSpPr>
          <p:cNvPr id="21" name="Shape 19"/>
          <p:cNvSpPr/>
          <p:nvPr/>
        </p:nvSpPr>
        <p:spPr>
          <a:xfrm>
            <a:off x="6355080" y="3566160"/>
            <a:ext cx="5623560" cy="2423160"/>
          </a:xfrm>
          <a:prstGeom prst="roundRect">
            <a:avLst>
              <a:gd name="adj" fmla="val 3019"/>
            </a:avLst>
          </a:prstGeom>
          <a:solidFill>
            <a:srgbClr val="1A2235"/>
          </a:solidFill>
          <a:ln w="6350">
            <a:solidFill>
              <a:srgbClr val="1E293B"/>
            </a:solidFill>
            <a:prstDash val="solid"/>
          </a:ln>
        </p:spPr>
        <p:txBody>
          <a:bodyPr/>
          <a:lstStyle/>
          <a:p>
            <a:endParaRPr lang="en-US"/>
          </a:p>
        </p:txBody>
      </p:sp>
      <p:sp>
        <p:nvSpPr>
          <p:cNvPr id="22" name="Shape 20"/>
          <p:cNvSpPr/>
          <p:nvPr/>
        </p:nvSpPr>
        <p:spPr>
          <a:xfrm>
            <a:off x="6537960" y="3703320"/>
            <a:ext cx="1371600" cy="320040"/>
          </a:xfrm>
          <a:prstGeom prst="roundRect">
            <a:avLst>
              <a:gd name="adj" fmla="val 11429"/>
            </a:avLst>
          </a:prstGeom>
          <a:solidFill>
            <a:srgbClr val="8B949E"/>
          </a:solidFill>
          <a:ln w="12700">
            <a:solidFill>
              <a:srgbClr val="8B949E"/>
            </a:solidFill>
            <a:prstDash val="solid"/>
          </a:ln>
        </p:spPr>
        <p:txBody>
          <a:bodyPr/>
          <a:lstStyle/>
          <a:p>
            <a:endParaRPr lang="en-US"/>
          </a:p>
        </p:txBody>
      </p:sp>
      <p:sp>
        <p:nvSpPr>
          <p:cNvPr id="23" name="Text 21"/>
          <p:cNvSpPr/>
          <p:nvPr/>
        </p:nvSpPr>
        <p:spPr>
          <a:xfrm>
            <a:off x="6537960" y="3703320"/>
            <a:ext cx="1371600" cy="320040"/>
          </a:xfrm>
          <a:prstGeom prst="rect">
            <a:avLst/>
          </a:prstGeom>
          <a:noFill/>
          <a:ln/>
        </p:spPr>
        <p:txBody>
          <a:bodyPr wrap="square" rtlCol="0" anchor="ctr"/>
          <a:lstStyle/>
          <a:p>
            <a:pPr marL="0" indent="0" algn="ctr">
              <a:buNone/>
            </a:pPr>
            <a:r>
              <a:rPr lang="en-US" sz="1400" b="1" dirty="0">
                <a:solidFill>
                  <a:srgbClr val="0A0E1A"/>
                </a:solidFill>
                <a:latin typeface="Calibri" pitchFamily="34" charset="0"/>
                <a:ea typeface="Calibri" pitchFamily="34" charset="-122"/>
                <a:cs typeface="Calibri" pitchFamily="34" charset="-120"/>
              </a:rPr>
              <a:t>MODERATE</a:t>
            </a:r>
            <a:endParaRPr lang="en-US" sz="1400" dirty="0"/>
          </a:p>
        </p:txBody>
      </p:sp>
      <p:sp>
        <p:nvSpPr>
          <p:cNvPr id="24" name="Text 22"/>
          <p:cNvSpPr/>
          <p:nvPr/>
        </p:nvSpPr>
        <p:spPr>
          <a:xfrm>
            <a:off x="6537960" y="4087368"/>
            <a:ext cx="5257800" cy="384048"/>
          </a:xfrm>
          <a:prstGeom prst="rect">
            <a:avLst/>
          </a:prstGeom>
          <a:noFill/>
          <a:ln/>
        </p:spPr>
        <p:txBody>
          <a:bodyPr wrap="square" rtlCol="0" anchor="ctr"/>
          <a:lstStyle/>
          <a:p>
            <a:pPr marL="0" indent="0">
              <a:buNone/>
            </a:pPr>
            <a:r>
              <a:rPr lang="en-US" sz="1400" b="1" dirty="0">
                <a:solidFill>
                  <a:srgbClr val="8B949E"/>
                </a:solidFill>
                <a:latin typeface="Calibri" pitchFamily="34" charset="0"/>
                <a:ea typeface="Calibri" pitchFamily="34" charset="-122"/>
                <a:cs typeface="Calibri" pitchFamily="34" charset="-120"/>
              </a:rPr>
              <a:t>Early Warning, 48.6% Error Relative to Mean</a:t>
            </a:r>
            <a:endParaRPr lang="en-US" sz="1400" dirty="0"/>
          </a:p>
        </p:txBody>
      </p:sp>
      <p:sp>
        <p:nvSpPr>
          <p:cNvPr id="25" name="Text 23"/>
          <p:cNvSpPr/>
          <p:nvPr/>
        </p:nvSpPr>
        <p:spPr>
          <a:xfrm>
            <a:off x="6537960" y="4498848"/>
            <a:ext cx="5257800" cy="137160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The autoregressive early warning model achieves MAE 0.058 against a mean illicit rate of 0.120. It captures general trends but does not anticipate sharp burst spikes, which appear triggered by external coordination factors not present in the transaction time series alone.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a:p>
        </p:txBody>
      </p:sp>
      <p:sp>
        <p:nvSpPr>
          <p:cNvPr id="3" name="Shape 1"/>
          <p:cNvSpPr/>
          <p:nvPr/>
        </p:nvSpPr>
        <p:spPr>
          <a:xfrm>
            <a:off x="8686800" y="-1371600"/>
            <a:ext cx="5486400" cy="5486400"/>
          </a:xfrm>
          <a:prstGeom prst="ellipse">
            <a:avLst/>
          </a:prstGeom>
          <a:solidFill>
            <a:srgbClr val="0D1830"/>
          </a:solidFill>
          <a:ln w="12700">
            <a:solidFill>
              <a:srgbClr val="0D1830"/>
            </a:solidFill>
            <a:prstDash val="solid"/>
          </a:ln>
        </p:spPr>
        <p:txBody>
          <a:bodyPr/>
          <a:lstStyle/>
          <a:p>
            <a:endParaRPr lang="en-US"/>
          </a:p>
        </p:txBody>
      </p:sp>
      <p:sp>
        <p:nvSpPr>
          <p:cNvPr id="4" name="Text 2"/>
          <p:cNvSpPr/>
          <p:nvPr/>
        </p:nvSpPr>
        <p:spPr>
          <a:xfrm>
            <a:off x="457200" y="256032"/>
            <a:ext cx="11247120" cy="548640"/>
          </a:xfrm>
          <a:prstGeom prst="rect">
            <a:avLst/>
          </a:prstGeom>
          <a:noFill/>
          <a:ln/>
        </p:spPr>
        <p:txBody>
          <a:bodyPr wrap="square" rtlCol="0" anchor="ctr"/>
          <a:lstStyle/>
          <a:p>
            <a:pPr marL="0" indent="0">
              <a:buNone/>
            </a:pPr>
            <a:r>
              <a:rPr lang="en-US" sz="3200" b="1" dirty="0">
                <a:solidFill>
                  <a:srgbClr val="00C9FF"/>
                </a:solidFill>
                <a:latin typeface="Calibri" pitchFamily="34" charset="0"/>
                <a:ea typeface="Calibri" pitchFamily="34" charset="-122"/>
                <a:cs typeface="Calibri" pitchFamily="34" charset="-120"/>
              </a:rPr>
              <a:t>Summary</a:t>
            </a:r>
            <a:endParaRPr lang="en-US" sz="3200" dirty="0"/>
          </a:p>
        </p:txBody>
      </p:sp>
      <p:sp>
        <p:nvSpPr>
          <p:cNvPr id="5" name="Shape 3"/>
          <p:cNvSpPr/>
          <p:nvPr/>
        </p:nvSpPr>
        <p:spPr>
          <a:xfrm>
            <a:off x="457200" y="804672"/>
            <a:ext cx="11247120" cy="0"/>
          </a:xfrm>
          <a:prstGeom prst="line">
            <a:avLst/>
          </a:prstGeom>
          <a:noFill/>
          <a:ln w="15240">
            <a:solidFill>
              <a:srgbClr val="00C9FF"/>
            </a:solidFill>
            <a:prstDash val="solid"/>
          </a:ln>
        </p:spPr>
        <p:txBody>
          <a:bodyPr/>
          <a:lstStyle/>
          <a:p>
            <a:endParaRPr lang="en-US"/>
          </a:p>
        </p:txBody>
      </p:sp>
      <p:sp>
        <p:nvSpPr>
          <p:cNvPr id="6" name="Shape 4"/>
          <p:cNvSpPr/>
          <p:nvPr/>
        </p:nvSpPr>
        <p:spPr>
          <a:xfrm>
            <a:off x="457200" y="9601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7" name="Text 5"/>
          <p:cNvSpPr/>
          <p:nvPr/>
        </p:nvSpPr>
        <p:spPr>
          <a:xfrm>
            <a:off x="457200" y="1014984"/>
            <a:ext cx="2743200" cy="640080"/>
          </a:xfrm>
          <a:prstGeom prst="rect">
            <a:avLst/>
          </a:prstGeom>
          <a:noFill/>
          <a:ln/>
        </p:spPr>
        <p:txBody>
          <a:bodyPr wrap="square" rtlCol="0" anchor="ctr"/>
          <a:lstStyle/>
          <a:p>
            <a:pPr marL="0" indent="0" algn="ctr">
              <a:buNone/>
            </a:pPr>
            <a:r>
              <a:rPr lang="en-US" sz="2200" b="1" dirty="0">
                <a:solidFill>
                  <a:srgbClr val="00C9A7"/>
                </a:solidFill>
                <a:latin typeface="Calibri" pitchFamily="34" charset="0"/>
                <a:ea typeface="Calibri" pitchFamily="34" charset="-122"/>
                <a:cs typeface="Calibri" pitchFamily="34" charset="-120"/>
              </a:rPr>
              <a:t>0.957</a:t>
            </a:r>
            <a:endParaRPr lang="en-US" sz="2200" dirty="0"/>
          </a:p>
        </p:txBody>
      </p:sp>
      <p:sp>
        <p:nvSpPr>
          <p:cNvPr id="8" name="Text 6"/>
          <p:cNvSpPr/>
          <p:nvPr/>
        </p:nvSpPr>
        <p:spPr>
          <a:xfrm>
            <a:off x="548640" y="17099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AUC-ROC</a:t>
            </a:r>
            <a:endParaRPr lang="en-US" sz="1400" dirty="0"/>
          </a:p>
        </p:txBody>
      </p:sp>
      <p:sp>
        <p:nvSpPr>
          <p:cNvPr id="9" name="Shape 7"/>
          <p:cNvSpPr/>
          <p:nvPr/>
        </p:nvSpPr>
        <p:spPr>
          <a:xfrm>
            <a:off x="3383280" y="9601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0" name="Text 8"/>
          <p:cNvSpPr/>
          <p:nvPr/>
        </p:nvSpPr>
        <p:spPr>
          <a:xfrm>
            <a:off x="3383280" y="1014984"/>
            <a:ext cx="2743200" cy="640080"/>
          </a:xfrm>
          <a:prstGeom prst="rect">
            <a:avLst/>
          </a:prstGeom>
          <a:noFill/>
          <a:ln/>
        </p:spPr>
        <p:txBody>
          <a:bodyPr wrap="square" rtlCol="0" anchor="ctr"/>
          <a:lstStyle/>
          <a:p>
            <a:pPr marL="0" indent="0" algn="ctr">
              <a:buNone/>
            </a:pPr>
            <a:r>
              <a:rPr lang="en-US" sz="2200" b="1" dirty="0">
                <a:solidFill>
                  <a:srgbClr val="FF4444"/>
                </a:solidFill>
                <a:latin typeface="Calibri" pitchFamily="34" charset="0"/>
                <a:ea typeface="Calibri" pitchFamily="34" charset="-122"/>
                <a:cs typeface="Calibri" pitchFamily="34" charset="-120"/>
              </a:rPr>
              <a:t>0.910</a:t>
            </a:r>
            <a:endParaRPr lang="en-US" sz="2200" dirty="0"/>
          </a:p>
        </p:txBody>
      </p:sp>
      <p:sp>
        <p:nvSpPr>
          <p:cNvPr id="11" name="Text 9"/>
          <p:cNvSpPr/>
          <p:nvPr/>
        </p:nvSpPr>
        <p:spPr>
          <a:xfrm>
            <a:off x="3474720" y="17099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Recall</a:t>
            </a:r>
            <a:endParaRPr lang="en-US" sz="1400" dirty="0"/>
          </a:p>
        </p:txBody>
      </p:sp>
      <p:sp>
        <p:nvSpPr>
          <p:cNvPr id="12" name="Shape 10"/>
          <p:cNvSpPr/>
          <p:nvPr/>
        </p:nvSpPr>
        <p:spPr>
          <a:xfrm>
            <a:off x="6309360" y="9601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3" name="Text 11"/>
          <p:cNvSpPr/>
          <p:nvPr/>
        </p:nvSpPr>
        <p:spPr>
          <a:xfrm>
            <a:off x="6309360" y="1014984"/>
            <a:ext cx="2743200" cy="640080"/>
          </a:xfrm>
          <a:prstGeom prst="rect">
            <a:avLst/>
          </a:prstGeom>
          <a:noFill/>
          <a:ln/>
        </p:spPr>
        <p:txBody>
          <a:bodyPr wrap="square" rtlCol="0" anchor="ctr"/>
          <a:lstStyle/>
          <a:p>
            <a:pPr marL="0" indent="0" algn="ctr">
              <a:buNone/>
            </a:pPr>
            <a:r>
              <a:rPr lang="en-US" sz="2200" b="1" dirty="0">
                <a:solidFill>
                  <a:srgbClr val="FFD700"/>
                </a:solidFill>
                <a:latin typeface="Calibri" pitchFamily="34" charset="0"/>
                <a:ea typeface="Calibri" pitchFamily="34" charset="-122"/>
                <a:cs typeface="Calibri" pitchFamily="34" charset="-120"/>
              </a:rPr>
              <a:t>0.838</a:t>
            </a:r>
            <a:endParaRPr lang="en-US" sz="2200" dirty="0"/>
          </a:p>
        </p:txBody>
      </p:sp>
      <p:sp>
        <p:nvSpPr>
          <p:cNvPr id="14" name="Text 12"/>
          <p:cNvSpPr/>
          <p:nvPr/>
        </p:nvSpPr>
        <p:spPr>
          <a:xfrm>
            <a:off x="6400800" y="17099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Avg Precision</a:t>
            </a:r>
            <a:endParaRPr lang="en-US" sz="1400" dirty="0"/>
          </a:p>
        </p:txBody>
      </p:sp>
      <p:sp>
        <p:nvSpPr>
          <p:cNvPr id="15" name="Shape 13"/>
          <p:cNvSpPr/>
          <p:nvPr/>
        </p:nvSpPr>
        <p:spPr>
          <a:xfrm>
            <a:off x="9235440" y="9601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6" name="Text 14"/>
          <p:cNvSpPr/>
          <p:nvPr/>
        </p:nvSpPr>
        <p:spPr>
          <a:xfrm>
            <a:off x="9235440" y="1014984"/>
            <a:ext cx="2743200" cy="640080"/>
          </a:xfrm>
          <a:prstGeom prst="rect">
            <a:avLst/>
          </a:prstGeom>
          <a:noFill/>
          <a:ln/>
        </p:spPr>
        <p:txBody>
          <a:bodyPr wrap="square" rtlCol="0" anchor="ctr"/>
          <a:lstStyle/>
          <a:p>
            <a:pPr marL="0" indent="0" algn="ctr">
              <a:buNone/>
            </a:pPr>
            <a:r>
              <a:rPr lang="en-US" sz="2200" b="1" dirty="0">
                <a:solidFill>
                  <a:srgbClr val="00C9FF"/>
                </a:solidFill>
                <a:latin typeface="Calibri" pitchFamily="34" charset="0"/>
                <a:ea typeface="Calibri" pitchFamily="34" charset="-122"/>
                <a:cs typeface="Calibri" pitchFamily="34" charset="-120"/>
              </a:rPr>
              <a:t>157,205</a:t>
            </a:r>
            <a:endParaRPr lang="en-US" sz="2200" dirty="0"/>
          </a:p>
        </p:txBody>
      </p:sp>
      <p:sp>
        <p:nvSpPr>
          <p:cNvPr id="17" name="Text 15"/>
          <p:cNvSpPr/>
          <p:nvPr/>
        </p:nvSpPr>
        <p:spPr>
          <a:xfrm>
            <a:off x="9326880" y="17099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Wallets Labelled</a:t>
            </a:r>
            <a:endParaRPr lang="en-US" sz="1400" dirty="0"/>
          </a:p>
        </p:txBody>
      </p:sp>
      <p:sp>
        <p:nvSpPr>
          <p:cNvPr id="18" name="Shape 16"/>
          <p:cNvSpPr/>
          <p:nvPr/>
        </p:nvSpPr>
        <p:spPr>
          <a:xfrm>
            <a:off x="457200" y="23317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19" name="Text 17"/>
          <p:cNvSpPr/>
          <p:nvPr/>
        </p:nvSpPr>
        <p:spPr>
          <a:xfrm>
            <a:off x="457200" y="2386584"/>
            <a:ext cx="2743200" cy="640080"/>
          </a:xfrm>
          <a:prstGeom prst="rect">
            <a:avLst/>
          </a:prstGeom>
          <a:noFill/>
          <a:ln/>
        </p:spPr>
        <p:txBody>
          <a:bodyPr wrap="square" rtlCol="0" anchor="ctr"/>
          <a:lstStyle/>
          <a:p>
            <a:pPr marL="0" indent="0" algn="ctr">
              <a:buNone/>
            </a:pPr>
            <a:r>
              <a:rPr lang="en-US" sz="2200" b="1" dirty="0">
                <a:solidFill>
                  <a:srgbClr val="FF9900"/>
                </a:solidFill>
                <a:latin typeface="Calibri" pitchFamily="34" charset="0"/>
                <a:ea typeface="Calibri" pitchFamily="34" charset="-122"/>
                <a:cs typeface="Calibri" pitchFamily="34" charset="-120"/>
              </a:rPr>
              <a:t>88,234</a:t>
            </a:r>
            <a:endParaRPr lang="en-US" sz="2200" dirty="0"/>
          </a:p>
        </p:txBody>
      </p:sp>
      <p:sp>
        <p:nvSpPr>
          <p:cNvPr id="20" name="Text 18"/>
          <p:cNvSpPr/>
          <p:nvPr/>
        </p:nvSpPr>
        <p:spPr>
          <a:xfrm>
            <a:off x="548640" y="30815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Predicted High-Risk</a:t>
            </a:r>
            <a:endParaRPr lang="en-US" sz="1400" dirty="0"/>
          </a:p>
        </p:txBody>
      </p:sp>
      <p:sp>
        <p:nvSpPr>
          <p:cNvPr id="21" name="Shape 19"/>
          <p:cNvSpPr/>
          <p:nvPr/>
        </p:nvSpPr>
        <p:spPr>
          <a:xfrm>
            <a:off x="3383280" y="23317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22" name="Text 20"/>
          <p:cNvSpPr/>
          <p:nvPr/>
        </p:nvSpPr>
        <p:spPr>
          <a:xfrm>
            <a:off x="3383280" y="2386584"/>
            <a:ext cx="2743200" cy="640080"/>
          </a:xfrm>
          <a:prstGeom prst="rect">
            <a:avLst/>
          </a:prstGeom>
          <a:noFill/>
          <a:ln/>
        </p:spPr>
        <p:txBody>
          <a:bodyPr wrap="square" rtlCol="0" anchor="ctr"/>
          <a:lstStyle/>
          <a:p>
            <a:pPr marL="0" indent="0" algn="ctr">
              <a:buNone/>
            </a:pPr>
            <a:r>
              <a:rPr lang="en-US" sz="2200" b="1" dirty="0">
                <a:solidFill>
                  <a:srgbClr val="FF4444"/>
                </a:solidFill>
                <a:latin typeface="Calibri" pitchFamily="34" charset="0"/>
                <a:ea typeface="Calibri" pitchFamily="34" charset="-122"/>
                <a:cs typeface="Calibri" pitchFamily="34" charset="-120"/>
              </a:rPr>
              <a:t>1,971%</a:t>
            </a:r>
            <a:endParaRPr lang="en-US" sz="2200" dirty="0"/>
          </a:p>
        </p:txBody>
      </p:sp>
      <p:sp>
        <p:nvSpPr>
          <p:cNvPr id="23" name="Text 21"/>
          <p:cNvSpPr/>
          <p:nvPr/>
        </p:nvSpPr>
        <p:spPr>
          <a:xfrm>
            <a:off x="3474720" y="30815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Detection Increase</a:t>
            </a:r>
            <a:endParaRPr lang="en-US" sz="1400" dirty="0"/>
          </a:p>
        </p:txBody>
      </p:sp>
      <p:sp>
        <p:nvSpPr>
          <p:cNvPr id="24" name="Shape 22"/>
          <p:cNvSpPr/>
          <p:nvPr/>
        </p:nvSpPr>
        <p:spPr>
          <a:xfrm>
            <a:off x="6309360" y="23317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25" name="Text 23"/>
          <p:cNvSpPr/>
          <p:nvPr/>
        </p:nvSpPr>
        <p:spPr>
          <a:xfrm>
            <a:off x="6309360" y="2386584"/>
            <a:ext cx="2743200" cy="640080"/>
          </a:xfrm>
          <a:prstGeom prst="rect">
            <a:avLst/>
          </a:prstGeom>
          <a:noFill/>
          <a:ln/>
        </p:spPr>
        <p:txBody>
          <a:bodyPr wrap="square" rtlCol="0" anchor="ctr"/>
          <a:lstStyle/>
          <a:p>
            <a:pPr marL="0" indent="0" algn="ctr">
              <a:buNone/>
            </a:pPr>
            <a:r>
              <a:rPr lang="en-US" sz="2200" b="1" dirty="0">
                <a:solidFill>
                  <a:srgbClr val="FFD700"/>
                </a:solidFill>
                <a:latin typeface="Calibri" pitchFamily="34" charset="0"/>
                <a:ea typeface="Calibri" pitchFamily="34" charset="-122"/>
                <a:cs typeface="Calibri" pitchFamily="34" charset="-120"/>
              </a:rPr>
              <a:t>6 steps</a:t>
            </a:r>
            <a:endParaRPr lang="en-US" sz="2200" dirty="0"/>
          </a:p>
        </p:txBody>
      </p:sp>
      <p:sp>
        <p:nvSpPr>
          <p:cNvPr id="26" name="Text 24"/>
          <p:cNvSpPr/>
          <p:nvPr/>
        </p:nvSpPr>
        <p:spPr>
          <a:xfrm>
            <a:off x="6400800" y="30815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Burst Windows</a:t>
            </a:r>
            <a:endParaRPr lang="en-US" sz="1400" dirty="0"/>
          </a:p>
        </p:txBody>
      </p:sp>
      <p:sp>
        <p:nvSpPr>
          <p:cNvPr id="27" name="Shape 25"/>
          <p:cNvSpPr/>
          <p:nvPr/>
        </p:nvSpPr>
        <p:spPr>
          <a:xfrm>
            <a:off x="9235440" y="2331720"/>
            <a:ext cx="2743200" cy="1188720"/>
          </a:xfrm>
          <a:prstGeom prst="roundRect">
            <a:avLst>
              <a:gd name="adj" fmla="val 6154"/>
            </a:avLst>
          </a:prstGeom>
          <a:solidFill>
            <a:srgbClr val="1A2235"/>
          </a:solidFill>
          <a:ln w="6350">
            <a:solidFill>
              <a:srgbClr val="1E293B"/>
            </a:solidFill>
            <a:prstDash val="solid"/>
          </a:ln>
        </p:spPr>
        <p:txBody>
          <a:bodyPr/>
          <a:lstStyle/>
          <a:p>
            <a:endParaRPr lang="en-US"/>
          </a:p>
        </p:txBody>
      </p:sp>
      <p:sp>
        <p:nvSpPr>
          <p:cNvPr id="28" name="Text 26"/>
          <p:cNvSpPr/>
          <p:nvPr/>
        </p:nvSpPr>
        <p:spPr>
          <a:xfrm>
            <a:off x="9235440" y="2386584"/>
            <a:ext cx="2743200" cy="640080"/>
          </a:xfrm>
          <a:prstGeom prst="rect">
            <a:avLst/>
          </a:prstGeom>
          <a:noFill/>
          <a:ln/>
        </p:spPr>
        <p:txBody>
          <a:bodyPr wrap="square" rtlCol="0" anchor="ctr"/>
          <a:lstStyle/>
          <a:p>
            <a:pPr marL="0" indent="0" algn="ctr">
              <a:buNone/>
            </a:pPr>
            <a:r>
              <a:rPr lang="en-US" sz="2200" b="1" dirty="0">
                <a:solidFill>
                  <a:srgbClr val="FF9900"/>
                </a:solidFill>
                <a:latin typeface="Calibri" pitchFamily="34" charset="0"/>
                <a:ea typeface="Calibri" pitchFamily="34" charset="-122"/>
                <a:cs typeface="Calibri" pitchFamily="34" charset="-120"/>
              </a:rPr>
              <a:t>84.11%</a:t>
            </a:r>
            <a:endParaRPr lang="en-US" sz="2200" dirty="0"/>
          </a:p>
        </p:txBody>
      </p:sp>
      <p:sp>
        <p:nvSpPr>
          <p:cNvPr id="29" name="Text 27"/>
          <p:cNvSpPr/>
          <p:nvPr/>
        </p:nvSpPr>
        <p:spPr>
          <a:xfrm>
            <a:off x="9326880" y="3081528"/>
            <a:ext cx="2560320" cy="347472"/>
          </a:xfrm>
          <a:prstGeom prst="rect">
            <a:avLst/>
          </a:prstGeom>
          <a:noFill/>
          <a:ln/>
        </p:spPr>
        <p:txBody>
          <a:bodyPr wrap="square" rtlCol="0" anchor="ctr"/>
          <a:lstStyle/>
          <a:p>
            <a:pPr marL="0" indent="0" algn="ctr">
              <a:buNone/>
            </a:pPr>
            <a:r>
              <a:rPr lang="en-US" sz="1400" dirty="0">
                <a:solidFill>
                  <a:srgbClr val="8B949E"/>
                </a:solidFill>
                <a:latin typeface="Calibri" pitchFamily="34" charset="0"/>
                <a:ea typeface="Calibri" pitchFamily="34" charset="-122"/>
                <a:cs typeface="Calibri" pitchFamily="34" charset="-120"/>
              </a:rPr>
              <a:t>Peak Propagation</a:t>
            </a:r>
            <a:endParaRPr lang="en-US" sz="1400" dirty="0"/>
          </a:p>
        </p:txBody>
      </p:sp>
      <p:sp>
        <p:nvSpPr>
          <p:cNvPr id="30" name="Shape 28"/>
          <p:cNvSpPr/>
          <p:nvPr/>
        </p:nvSpPr>
        <p:spPr>
          <a:xfrm>
            <a:off x="457200" y="3831337"/>
            <a:ext cx="7223760" cy="2470920"/>
          </a:xfrm>
          <a:prstGeom prst="roundRect">
            <a:avLst>
              <a:gd name="adj" fmla="val 2759"/>
            </a:avLst>
          </a:prstGeom>
          <a:solidFill>
            <a:srgbClr val="1A2235"/>
          </a:solidFill>
          <a:ln w="6350">
            <a:solidFill>
              <a:srgbClr val="1E293B"/>
            </a:solidFill>
            <a:prstDash val="solid"/>
          </a:ln>
        </p:spPr>
        <p:txBody>
          <a:bodyPr/>
          <a:lstStyle/>
          <a:p>
            <a:endParaRPr lang="en-US" sz="1200"/>
          </a:p>
        </p:txBody>
      </p:sp>
      <p:sp>
        <p:nvSpPr>
          <p:cNvPr id="31" name="Text 29"/>
          <p:cNvSpPr/>
          <p:nvPr/>
        </p:nvSpPr>
        <p:spPr>
          <a:xfrm>
            <a:off x="640080" y="3931920"/>
            <a:ext cx="6858000" cy="320040"/>
          </a:xfrm>
          <a:prstGeom prst="rect">
            <a:avLst/>
          </a:prstGeom>
          <a:noFill/>
          <a:ln/>
        </p:spPr>
        <p:txBody>
          <a:bodyPr wrap="square" rtlCol="0" anchor="ctr"/>
          <a:lstStyle/>
          <a:p>
            <a:pPr marL="0" indent="0">
              <a:buNone/>
            </a:pPr>
            <a:r>
              <a:rPr lang="en-US" sz="1400" b="1" dirty="0">
                <a:solidFill>
                  <a:srgbClr val="00C9FF"/>
                </a:solidFill>
                <a:latin typeface="Calibri" pitchFamily="34" charset="0"/>
                <a:ea typeface="Calibri" pitchFamily="34" charset="-122"/>
                <a:cs typeface="Calibri" pitchFamily="34" charset="-120"/>
              </a:rPr>
              <a:t>Original Research Contributions</a:t>
            </a:r>
            <a:endParaRPr lang="en-US" sz="1400" dirty="0"/>
          </a:p>
        </p:txBody>
      </p:sp>
      <p:sp>
        <p:nvSpPr>
          <p:cNvPr id="32" name="Text 30"/>
          <p:cNvSpPr/>
          <p:nvPr/>
        </p:nvSpPr>
        <p:spPr>
          <a:xfrm>
            <a:off x="640080" y="4334257"/>
            <a:ext cx="68580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Graph-aware feature engineering; 16 new features across 3 families on the Elliptic feature vector</a:t>
            </a:r>
            <a:endParaRPr lang="en-US" sz="1200" dirty="0"/>
          </a:p>
        </p:txBody>
      </p:sp>
      <p:sp>
        <p:nvSpPr>
          <p:cNvPr id="33" name="Text 31"/>
          <p:cNvSpPr/>
          <p:nvPr/>
        </p:nvSpPr>
        <p:spPr>
          <a:xfrm>
            <a:off x="640080" y="4736593"/>
            <a:ext cx="68580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Fraud probability scores for 157,205 previously-unclassified Bitcoin wallets</a:t>
            </a:r>
            <a:endParaRPr lang="en-US" sz="1200" dirty="0"/>
          </a:p>
        </p:txBody>
      </p:sp>
      <p:sp>
        <p:nvSpPr>
          <p:cNvPr id="34" name="Text 32"/>
          <p:cNvSpPr/>
          <p:nvPr/>
        </p:nvSpPr>
        <p:spPr>
          <a:xfrm>
            <a:off x="640080" y="5138929"/>
            <a:ext cx="68580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Temporal burst detection using z-score anomaly analysis across 49 time steps</a:t>
            </a:r>
            <a:endParaRPr lang="en-US" sz="1200" dirty="0"/>
          </a:p>
        </p:txBody>
      </p:sp>
      <p:sp>
        <p:nvSpPr>
          <p:cNvPr id="35" name="Text 33"/>
          <p:cNvSpPr/>
          <p:nvPr/>
        </p:nvSpPr>
        <p:spPr>
          <a:xfrm>
            <a:off x="640080" y="5541265"/>
            <a:ext cx="68580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Propagation analysis quantifying how illicit activity spreads across consecutive time steps</a:t>
            </a:r>
            <a:endParaRPr lang="en-US" sz="1200" dirty="0"/>
          </a:p>
        </p:txBody>
      </p:sp>
      <p:sp>
        <p:nvSpPr>
          <p:cNvPr id="36" name="Text 34"/>
          <p:cNvSpPr/>
          <p:nvPr/>
        </p:nvSpPr>
        <p:spPr>
          <a:xfrm>
            <a:off x="640080" y="5943601"/>
            <a:ext cx="68580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Interactive self-contained HTML risk dashboard and three-page compliance report</a:t>
            </a:r>
            <a:endParaRPr lang="en-US" sz="1200" dirty="0"/>
          </a:p>
        </p:txBody>
      </p:sp>
      <p:sp>
        <p:nvSpPr>
          <p:cNvPr id="37" name="Shape 35"/>
          <p:cNvSpPr/>
          <p:nvPr/>
        </p:nvSpPr>
        <p:spPr>
          <a:xfrm>
            <a:off x="7863840" y="3840480"/>
            <a:ext cx="4114800" cy="2478021"/>
          </a:xfrm>
          <a:prstGeom prst="roundRect">
            <a:avLst>
              <a:gd name="adj" fmla="val 2759"/>
            </a:avLst>
          </a:prstGeom>
          <a:solidFill>
            <a:srgbClr val="1A2235"/>
          </a:solidFill>
          <a:ln w="6350">
            <a:solidFill>
              <a:srgbClr val="1E293B"/>
            </a:solidFill>
            <a:prstDash val="solid"/>
          </a:ln>
        </p:spPr>
        <p:txBody>
          <a:bodyPr/>
          <a:lstStyle/>
          <a:p>
            <a:endParaRPr lang="en-US"/>
          </a:p>
        </p:txBody>
      </p:sp>
      <p:sp>
        <p:nvSpPr>
          <p:cNvPr id="38" name="Text 36"/>
          <p:cNvSpPr/>
          <p:nvPr/>
        </p:nvSpPr>
        <p:spPr>
          <a:xfrm>
            <a:off x="8046720" y="3931920"/>
            <a:ext cx="3474720" cy="320040"/>
          </a:xfrm>
          <a:prstGeom prst="rect">
            <a:avLst/>
          </a:prstGeom>
          <a:noFill/>
          <a:ln/>
        </p:spPr>
        <p:txBody>
          <a:bodyPr wrap="square" rtlCol="0" anchor="ctr"/>
          <a:lstStyle/>
          <a:p>
            <a:pPr marL="0" indent="0">
              <a:buNone/>
            </a:pPr>
            <a:r>
              <a:rPr lang="en-US" sz="1400" b="1" dirty="0">
                <a:solidFill>
                  <a:srgbClr val="00C9FF"/>
                </a:solidFill>
                <a:latin typeface="Calibri" pitchFamily="34" charset="0"/>
                <a:ea typeface="Calibri" pitchFamily="34" charset="-122"/>
                <a:cs typeface="Calibri" pitchFamily="34" charset="-120"/>
              </a:rPr>
              <a:t>References</a:t>
            </a:r>
            <a:endParaRPr lang="en-US" sz="1400" dirty="0"/>
          </a:p>
        </p:txBody>
      </p:sp>
      <p:sp>
        <p:nvSpPr>
          <p:cNvPr id="39" name="Text 37"/>
          <p:cNvSpPr/>
          <p:nvPr/>
        </p:nvSpPr>
        <p:spPr>
          <a:xfrm>
            <a:off x="8046720" y="4235624"/>
            <a:ext cx="3840480" cy="530352"/>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Hamilton et al. (2017). Inductive Representation Learning on Large Graphs. NeurIPS.</a:t>
            </a:r>
            <a:endParaRPr lang="en-US" sz="1200" dirty="0"/>
          </a:p>
        </p:txBody>
      </p:sp>
      <p:sp>
        <p:nvSpPr>
          <p:cNvPr id="40" name="Text 38"/>
          <p:cNvSpPr/>
          <p:nvPr/>
        </p:nvSpPr>
        <p:spPr>
          <a:xfrm>
            <a:off x="8046720" y="4738543"/>
            <a:ext cx="3840480" cy="530352"/>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Weber et al. (2019). Anti-Money Laundering in Bitcoin. KDD Workshop.</a:t>
            </a:r>
            <a:endParaRPr lang="en-US" sz="1200" dirty="0"/>
          </a:p>
        </p:txBody>
      </p:sp>
      <p:sp>
        <p:nvSpPr>
          <p:cNvPr id="41" name="Text 39"/>
          <p:cNvSpPr/>
          <p:nvPr/>
        </p:nvSpPr>
        <p:spPr>
          <a:xfrm>
            <a:off x="8046720" y="5241462"/>
            <a:ext cx="3840480" cy="530352"/>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Kipf &amp; Welling (2017). Semi-Supervised Classification with GCNs. ICLR.</a:t>
            </a:r>
            <a:endParaRPr lang="en-US" sz="1200" dirty="0"/>
          </a:p>
        </p:txBody>
      </p:sp>
      <p:sp>
        <p:nvSpPr>
          <p:cNvPr id="42" name="Text 40"/>
          <p:cNvSpPr/>
          <p:nvPr/>
        </p:nvSpPr>
        <p:spPr>
          <a:xfrm>
            <a:off x="8077200" y="5781050"/>
            <a:ext cx="3474720" cy="530352"/>
          </a:xfrm>
          <a:prstGeom prst="rect">
            <a:avLst/>
          </a:prstGeom>
          <a:noFill/>
          <a:ln/>
        </p:spPr>
        <p:txBody>
          <a:bodyPr wrap="square" rtlCol="0" anchor="ctr"/>
          <a:lstStyle/>
          <a:p>
            <a:pPr marL="0" indent="0">
              <a:buNone/>
            </a:pPr>
            <a:r>
              <a:rPr lang="en-US" sz="1200" i="1" dirty="0">
                <a:solidFill>
                  <a:srgbClr val="8B949E"/>
                </a:solidFill>
                <a:latin typeface="Calibri" pitchFamily="34" charset="0"/>
                <a:ea typeface="Calibri" pitchFamily="34" charset="-122"/>
                <a:cs typeface="Calibri" pitchFamily="34" charset="-120"/>
              </a:rPr>
              <a:t>Elliptic (2019). Elliptic Bitcoin Dataset. Kaggle.</a:t>
            </a:r>
            <a:endParaRPr lang="en-US" sz="1200" dirty="0"/>
          </a:p>
        </p:txBody>
      </p:sp>
      <p:sp>
        <p:nvSpPr>
          <p:cNvPr id="43" name="Shape 41"/>
          <p:cNvSpPr/>
          <p:nvPr/>
        </p:nvSpPr>
        <p:spPr>
          <a:xfrm>
            <a:off x="457200" y="6473952"/>
            <a:ext cx="11247120" cy="228600"/>
          </a:xfrm>
          <a:prstGeom prst="rect">
            <a:avLst/>
          </a:prstGeom>
          <a:solidFill>
            <a:srgbClr val="0D1830"/>
          </a:solidFill>
          <a:ln w="12700">
            <a:solidFill>
              <a:srgbClr val="0D1830"/>
            </a:solidFill>
            <a:prstDash val="solid"/>
          </a:ln>
        </p:spPr>
        <p:txBody>
          <a:bodyPr/>
          <a:lstStyle/>
          <a:p>
            <a:endParaRPr lang="en-US"/>
          </a:p>
        </p:txBody>
      </p:sp>
      <p:sp>
        <p:nvSpPr>
          <p:cNvPr id="44" name="Text 42"/>
          <p:cNvSpPr/>
          <p:nvPr/>
        </p:nvSpPr>
        <p:spPr>
          <a:xfrm>
            <a:off x="457200" y="6492240"/>
            <a:ext cx="11247120" cy="201168"/>
          </a:xfrm>
          <a:prstGeom prst="rect">
            <a:avLst/>
          </a:prstGeom>
          <a:noFill/>
          <a:ln/>
        </p:spPr>
        <p:txBody>
          <a:bodyPr wrap="square" rtlCol="0" anchor="ctr"/>
          <a:lstStyle/>
          <a:p>
            <a:pPr marL="0" indent="0" algn="ctr">
              <a:buNone/>
            </a:pPr>
            <a:r>
              <a:rPr lang="en-US" sz="800" dirty="0">
                <a:solidFill>
                  <a:srgbClr val="3A4A5A"/>
                </a:solidFill>
                <a:latin typeface="Calibri" pitchFamily="34" charset="0"/>
                <a:ea typeface="Calibri" pitchFamily="34" charset="-122"/>
                <a:cs typeface="Calibri" pitchFamily="34" charset="-120"/>
              </a:rPr>
              <a:t>Opeyemi Mercy Lawan  ·  Bitcoin Transaction Network Fraud Detection Project  ·  2026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A799-E733-E70A-9354-F82E92737F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7A90E9-089C-EA94-9D28-157D2FC54CFD}"/>
              </a:ext>
            </a:extLst>
          </p:cNvPr>
          <p:cNvSpPr/>
          <p:nvPr/>
        </p:nvSpPr>
        <p:spPr>
          <a:xfrm>
            <a:off x="0" y="0"/>
            <a:ext cx="12161520" cy="6858000"/>
          </a:xfrm>
          <a:prstGeom prst="rect">
            <a:avLst/>
          </a:prstGeom>
          <a:solidFill>
            <a:srgbClr val="0A0E1A"/>
          </a:solidFill>
          <a:ln w="12700">
            <a:solidFill>
              <a:srgbClr val="0A0E1A"/>
            </a:solidFill>
            <a:prstDash val="solid"/>
          </a:ln>
        </p:spPr>
        <p:txBody>
          <a:bodyPr/>
          <a:lstStyle/>
          <a:p>
            <a:endParaRPr lang="en-US" dirty="0"/>
          </a:p>
        </p:txBody>
      </p:sp>
      <p:sp>
        <p:nvSpPr>
          <p:cNvPr id="3" name="Shape 1">
            <a:extLst>
              <a:ext uri="{FF2B5EF4-FFF2-40B4-BE49-F238E27FC236}">
                <a16:creationId xmlns:a16="http://schemas.microsoft.com/office/drawing/2014/main" id="{F9F18115-37EA-91FD-8365-E269BF6634CF}"/>
              </a:ext>
            </a:extLst>
          </p:cNvPr>
          <p:cNvSpPr/>
          <p:nvPr/>
        </p:nvSpPr>
        <p:spPr>
          <a:xfrm>
            <a:off x="8961120" y="-1097280"/>
            <a:ext cx="5029200" cy="5029200"/>
          </a:xfrm>
          <a:prstGeom prst="ellipse">
            <a:avLst/>
          </a:prstGeom>
          <a:solidFill>
            <a:srgbClr val="0D1830"/>
          </a:solidFill>
          <a:ln w="12700">
            <a:solidFill>
              <a:srgbClr val="0D1830"/>
            </a:solidFill>
            <a:prstDash val="solid"/>
          </a:ln>
        </p:spPr>
        <p:txBody>
          <a:bodyPr/>
          <a:lstStyle/>
          <a:p>
            <a:endParaRPr lang="en-US"/>
          </a:p>
        </p:txBody>
      </p:sp>
      <p:sp>
        <p:nvSpPr>
          <p:cNvPr id="4" name="Shape 2">
            <a:extLst>
              <a:ext uri="{FF2B5EF4-FFF2-40B4-BE49-F238E27FC236}">
                <a16:creationId xmlns:a16="http://schemas.microsoft.com/office/drawing/2014/main" id="{20DDDDDE-CFFB-599C-8A27-89A18F46830A}"/>
              </a:ext>
            </a:extLst>
          </p:cNvPr>
          <p:cNvSpPr/>
          <p:nvPr/>
        </p:nvSpPr>
        <p:spPr>
          <a:xfrm>
            <a:off x="9509760" y="-548640"/>
            <a:ext cx="3840480" cy="3840480"/>
          </a:xfrm>
          <a:prstGeom prst="ellipse">
            <a:avLst/>
          </a:prstGeom>
          <a:solidFill>
            <a:srgbClr val="0F1F3A"/>
          </a:solidFill>
          <a:ln w="12700">
            <a:solidFill>
              <a:srgbClr val="0F1F3A"/>
            </a:solidFill>
            <a:prstDash val="solid"/>
          </a:ln>
        </p:spPr>
        <p:txBody>
          <a:bodyPr/>
          <a:lstStyle/>
          <a:p>
            <a:endParaRPr lang="en-US"/>
          </a:p>
        </p:txBody>
      </p:sp>
      <p:sp>
        <p:nvSpPr>
          <p:cNvPr id="7" name="Text 5">
            <a:extLst>
              <a:ext uri="{FF2B5EF4-FFF2-40B4-BE49-F238E27FC236}">
                <a16:creationId xmlns:a16="http://schemas.microsoft.com/office/drawing/2014/main" id="{B16506D6-8961-0071-EE3E-8A84A400DC7A}"/>
              </a:ext>
            </a:extLst>
          </p:cNvPr>
          <p:cNvSpPr/>
          <p:nvPr/>
        </p:nvSpPr>
        <p:spPr>
          <a:xfrm>
            <a:off x="3599008" y="2819104"/>
            <a:ext cx="8229600" cy="822960"/>
          </a:xfrm>
          <a:prstGeom prst="rect">
            <a:avLst/>
          </a:prstGeom>
          <a:noFill/>
          <a:ln/>
        </p:spPr>
        <p:txBody>
          <a:bodyPr wrap="square" rtlCol="0" anchor="ctr"/>
          <a:lstStyle/>
          <a:p>
            <a:pPr marL="0" indent="0">
              <a:buNone/>
            </a:pPr>
            <a:r>
              <a:rPr lang="en-US" sz="7200" b="1" dirty="0">
                <a:solidFill>
                  <a:srgbClr val="FFFFFF"/>
                </a:solidFill>
                <a:latin typeface="Calibri" pitchFamily="34" charset="0"/>
                <a:ea typeface="Calibri" pitchFamily="34" charset="-122"/>
                <a:cs typeface="Calibri" pitchFamily="34" charset="-120"/>
              </a:rPr>
              <a:t>Thank you</a:t>
            </a:r>
            <a:endParaRPr lang="en-US" sz="7200" dirty="0"/>
          </a:p>
        </p:txBody>
      </p:sp>
      <p:sp>
        <p:nvSpPr>
          <p:cNvPr id="9" name="Text 7">
            <a:extLst>
              <a:ext uri="{FF2B5EF4-FFF2-40B4-BE49-F238E27FC236}">
                <a16:creationId xmlns:a16="http://schemas.microsoft.com/office/drawing/2014/main" id="{D70F305D-CDF7-61DE-441C-0DC48F06F00B}"/>
              </a:ext>
            </a:extLst>
          </p:cNvPr>
          <p:cNvSpPr/>
          <p:nvPr/>
        </p:nvSpPr>
        <p:spPr>
          <a:xfrm>
            <a:off x="457200" y="3611880"/>
            <a:ext cx="8229600" cy="640080"/>
          </a:xfrm>
          <a:prstGeom prst="rect">
            <a:avLst/>
          </a:prstGeom>
          <a:noFill/>
          <a:ln/>
        </p:spPr>
        <p:txBody>
          <a:bodyPr wrap="square" rtlCol="0" anchor="ctr"/>
          <a:lstStyle/>
          <a:p>
            <a:pPr marL="0" indent="0">
              <a:buNone/>
            </a:pPr>
            <a:endParaRPr lang="en-US" sz="1400" dirty="0"/>
          </a:p>
        </p:txBody>
      </p:sp>
      <p:sp>
        <p:nvSpPr>
          <p:cNvPr id="22" name="Text 20">
            <a:extLst>
              <a:ext uri="{FF2B5EF4-FFF2-40B4-BE49-F238E27FC236}">
                <a16:creationId xmlns:a16="http://schemas.microsoft.com/office/drawing/2014/main" id="{2E46912B-EA34-65D5-70C3-FCA27308BDCB}"/>
              </a:ext>
            </a:extLst>
          </p:cNvPr>
          <p:cNvSpPr/>
          <p:nvPr/>
        </p:nvSpPr>
        <p:spPr>
          <a:xfrm>
            <a:off x="164236" y="6172200"/>
            <a:ext cx="6502893" cy="274320"/>
          </a:xfrm>
          <a:prstGeom prst="rect">
            <a:avLst/>
          </a:prstGeom>
          <a:noFill/>
          <a:ln/>
        </p:spPr>
        <p:txBody>
          <a:bodyPr wrap="square" rtlCol="0" anchor="ctr"/>
          <a:lstStyle/>
          <a:p>
            <a:pPr marL="0" indent="0">
              <a:buNone/>
            </a:pPr>
            <a:r>
              <a:rPr lang="en-US" sz="1400" dirty="0">
                <a:solidFill>
                  <a:schemeClr val="bg1">
                    <a:lumMod val="75000"/>
                  </a:schemeClr>
                </a:solidFill>
                <a:latin typeface="Calibri" pitchFamily="34" charset="0"/>
                <a:ea typeface="Calibri" pitchFamily="34" charset="-122"/>
                <a:cs typeface="Calibri" pitchFamily="34" charset="-120"/>
              </a:rPr>
              <a:t>Email: </a:t>
            </a:r>
            <a:r>
              <a:rPr lang="en-US" sz="1400" dirty="0">
                <a:solidFill>
                  <a:schemeClr val="bg1">
                    <a:lumMod val="75000"/>
                  </a:schemeClr>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Messilawan2008@gmail.com</a:t>
            </a:r>
            <a:endParaRPr lang="en-US" sz="1400" dirty="0">
              <a:solidFill>
                <a:schemeClr val="bg1">
                  <a:lumMod val="75000"/>
                </a:schemeClr>
              </a:solidFill>
              <a:latin typeface="Calibri" pitchFamily="34" charset="0"/>
              <a:ea typeface="Calibri" pitchFamily="34" charset="-122"/>
              <a:cs typeface="Calibri" pitchFamily="34" charset="-120"/>
            </a:endParaRPr>
          </a:p>
          <a:p>
            <a:r>
              <a:rPr lang="en-US" sz="1400" dirty="0">
                <a:solidFill>
                  <a:schemeClr val="bg1">
                    <a:lumMod val="75000"/>
                  </a:schemeClr>
                </a:solidFill>
                <a:latin typeface="Calibri" pitchFamily="34" charset="0"/>
                <a:ea typeface="Calibri" pitchFamily="34" charset="-122"/>
                <a:cs typeface="Calibri" pitchFamily="34" charset="-120"/>
              </a:rPr>
              <a:t>LinkedIn: </a:t>
            </a:r>
            <a:r>
              <a:rPr lang="en-US" sz="1400" dirty="0">
                <a:solidFill>
                  <a:schemeClr val="bg1">
                    <a:lumMod val="75000"/>
                  </a:schemeClr>
                </a:solidFill>
                <a:hlinkClick r:id="rId4">
                  <a:extLst>
                    <a:ext uri="{A12FA001-AC4F-418D-AE19-62706E023703}">
                      <ahyp:hlinkClr xmlns:ahyp="http://schemas.microsoft.com/office/drawing/2018/hyperlinkcolor" val="tx"/>
                    </a:ext>
                  </a:extLst>
                </a:hlinkClick>
              </a:rPr>
              <a:t>https://www.linkedin.com/in/mercy-lawan-mba-81a048276/</a:t>
            </a:r>
            <a:endParaRPr lang="en-US" sz="1400" dirty="0">
              <a:solidFill>
                <a:schemeClr val="bg1">
                  <a:lumMod val="75000"/>
                </a:schemeClr>
              </a:solidFill>
            </a:endParaRPr>
          </a:p>
        </p:txBody>
      </p:sp>
    </p:spTree>
    <p:extLst>
      <p:ext uri="{BB962C8B-B14F-4D97-AF65-F5344CB8AC3E}">
        <p14:creationId xmlns:p14="http://schemas.microsoft.com/office/powerpoint/2010/main" val="4011070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2491</Words>
  <Application>Microsoft Office PowerPoint</Application>
  <PresentationFormat>Widescreen</PresentationFormat>
  <Paragraphs>395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Sugarland Sports Center</cp:lastModifiedBy>
  <cp:revision>2</cp:revision>
  <dcterms:created xsi:type="dcterms:W3CDTF">2026-08-21T21:30:02Z</dcterms:created>
  <dcterms:modified xsi:type="dcterms:W3CDTF">2026-08-24T15:16:25Z</dcterms:modified>
</cp:coreProperties>
</file>